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notesMasterIdLst>
    <p:notesMasterId r:id="rId2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시작하자마자 인스턴스 Start부터 시키세요. 부팅에 2~3분, 접속 복구에 5분이 걸리니 복습 퀴즈와 데모를 그동안 진행합니다. 칠판 첫 줄에 콘솔에서 인스턴스 시작하고 새 퍼블릭 IP를 적으라고 써두세요.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오늘은 프로젝트 착수 회차라고 시작할 때 선언하세요. 실습 B에서 팀, 도메인, 데이터, 문제 정의 네 가지가 확정됩니다. 팀은 오늘 이후로 바꿀 수 없다는 것도 미리 말해두세요.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먼저 물어보세요. 정확도를 5%p 올려야 하는데 하루가 주어졌다면 뭘 하겠냐고요. 대부분 모델 얘기를 합니다. 실무에서 답은 거의 항상 데이터라고 말하고 시작하세요.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대여 건수가 -1인 행이 0건인지 측정 실패인지 물어보세요. 둘은 완전히 다릅니다. 기온 999를 그대로 학습시키면 모델이 기온 999도일 때 대여량이 폭증한다고 배운다는 예가 학생들에게 잘 먹힙니다.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원본 CSV를 열어서 이상한 행 몇 개를 지우고 저장한 뒤 3주가 지나면 뭘 지웠는지 절대 기억나지 않는다는 이야기를 해주세요. processed 폴더는 통째로 지워도 스크립트를 다시 돌리면 나와야 정상입니다. 못 만든다면 사람 손이 숨어 있는 겁니다.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따릉이 데이터로 뭔가 재밌는 걸 해보겠다는 문장은 주제가 아니라고 못을 박으세요. 이 상태로는 모델을 만들 수도, 잘했는지 판단할 수도 없습니다. 입력에 미래 정보를 넣는 실수는 4주차에 데이터 누수라는 이름으로 다시 다룬다고 예고하세요.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불량이 1%인 공정에서 전부 정상이라고 찍는 모델의 정확도가 99%라는 예를 반드시 들어주세요. 아무것도 안 하는 모델이 99점을 받습니다. 지표는 여러 개를 봐도 되지만 판정용 주 지표는 하나여야 한다고 정리하세요.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이 문장을 칠판에 적어두고 수업 내내 지우지 마세요. 실습 B에서 순회할 때 각 팀에게 이 문장을 소리 내어 읽게 하면 빈칸이 어디인지 바로 드러납니다.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공공데이터포털에 올라와 있으니 괜찮지 않냐는 질문이 반드시 나옵니다. 공개된 데이터라도 이용약관이 있고 개인 식별 컬럼은 지우거나 익명화해야 한다고 답하세요. 애매하면 진행하지 말고 물어보라고 하세요.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주피터 셀을 위에서부터 스무 번 클릭하는 게 아니라 명령 한 줄로 다시 돌린다는 점이 핵심입니다. 50분이 지나면 스크립트가 오류 없이 끝나고 processed에 파일이 생긴 것까지만 확인하고 넘어갑니다. 데이터 카드는 과제로 돌립니다.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가상환경을 켜는 두 줄은 접속할 때마다 매번 쳐야 한다고 다시 상기시키세요. 지난주에 배웠지만 오늘 인스턴스를 새로 켠 학생 절반이 잊어버립니다. 프롬프트 앞의 표시를 눈으로 확인하게 하세요.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describe 결과를 다 같이 보면서 temp_c 의 최댓값이 뭐냐고 물어보세요. 999가 나옵니다. 서울 기온이 999도인 날이 있었냐고 되물으면 학생들이 스스로 답을 찾습니다. rental_count 의 최솟값 -1도 같은 방식으로 짚어주세요.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두 번 돌려 같은 결과가 나오는 게 당연해 보이지만 주피터에서 셀 순서를 바꿔가며 작업하면 절대 이렇게 안 된다고 말해주세요. 이게 오늘 실습 A의 진짜 목표입니다.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결측은 평균으로 채우면 되지 않냐는 질문이 나오면 왜 비었는지를 먼저 봐야 한다고 답하세요. 센서 고장이면 채워도 되지만 그날 운영을 안 해서 빈 거면 0이 맞습니다. 판단 근거를 카드에 적는 게 오늘 과제입니다.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마지막 행은 원본 덮어쓰기 사고입니다. 발견하면 강사 버킷에서 원본을 다시 받게 하고, 왜 raw를 성역이라고 했는지 그 자리에서 다시 짚어주세요.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솔직하게 난이도를 말해주세요. A는 시간 순서를 지켜 나눠야 하고 미래 정보를 입력에 넣는 실수가 흔합니다. C는 대형 언어모델을 직접 학습하면 안 되고 TF-IDF와 로지스틱회귀로 분류한 뒤 요약만 API를 부르는 구조라고 못을 박으세요.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자유주제 승인은 오늘 실습 B 시간 안에 대면으로 받게 하세요. 이미지 딥러닝은 학습 시간과 비용 때문에 원칙적으로 비권장이고, 하려면 특징 추출만 쓰는 조건으로 승인합니다.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오늘 내는 건 완성본이 아니라 초안입니다. 빈칸이 있어도 제출하게 하세요. 최종본은 4주차 M1이고 10점입니다. 순회할 때는 각 팀에게 그 입력값을 예측하는 순간에 진짜로 알 수 있냐고 반드시 물어보세요.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이런 걸 하면 재밌겠다는 45분 뒤에 버리고 이 링크의 이 파일로 하겠다만 남긴다고 말하세요. 검색에 시간 쓰지 말고 사전 검증 목록에서 고르라고 하세요. 매년 가장 많은 실패 원인이 데이터를 못 구해서입니다.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오늘 작성한 문제정의서 초안이 4주차 M1의 골격입니다. 그리고 오늘 확보한 데이터가 12주 내내 쓰는 데이터라는 점을 강조하세요. 오늘 잘못 고르면 5주차쯤 갈아엎게 되고 그게 매년 실패의 1번 원인입니다.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팀 태그를 실제 팀 번호로 바꿨는지 S3와 EC2 양쪽에서 확인시키세요. 학기 내내 비용 추적에 씁니다. 그리고 5주차 첫 시간에 팀별 3분 발표가 있다는 것도 지금 예고해두면 준비를 시작합니다.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332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-1371600"/>
            <a:ext cx="4754880" cy="4754880"/>
          </a:xfrm>
          <a:prstGeom prst="ellipse">
            <a:avLst/>
          </a:prstGeom>
          <a:solidFill>
            <a:srgbClr val="1D4E5B"/>
          </a:solidFill>
          <a:ln/>
        </p:spPr>
      </p:sp>
      <p:sp>
        <p:nvSpPr>
          <p:cNvPr id="3" name="Shape 1"/>
          <p:cNvSpPr/>
          <p:nvPr/>
        </p:nvSpPr>
        <p:spPr>
          <a:xfrm>
            <a:off x="10698480" y="4206240"/>
            <a:ext cx="2834640" cy="283464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4" name="Text 2"/>
          <p:cNvSpPr/>
          <p:nvPr/>
        </p:nvSpPr>
        <p:spPr>
          <a:xfrm>
            <a:off x="566928" y="1234440"/>
            <a:ext cx="5486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8400" b="1" dirty="0">
                <a:solidFill>
                  <a:srgbClr val="02C39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03</a:t>
            </a:r>
            <a:pPr indent="0" marL="0">
              <a:buNone/>
            </a:pPr>
            <a:r>
              <a:rPr lang="en-US" sz="2200" dirty="0">
                <a:solidFill>
                  <a:srgbClr val="6FD9B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주차</a:t>
            </a:r>
            <a:endParaRPr lang="en-US" sz="8400" dirty="0"/>
          </a:p>
        </p:txBody>
      </p:sp>
      <p:sp>
        <p:nvSpPr>
          <p:cNvPr id="5" name="Text 3"/>
          <p:cNvSpPr/>
          <p:nvPr/>
        </p:nvSpPr>
        <p:spPr>
          <a:xfrm>
            <a:off x="566928" y="2697480"/>
            <a:ext cx="8595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데이터 파이프라인과 문제 정의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566928" y="4160520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8C6C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다시 돌릴 수 있는 전처리 스크립트를 만들고, 팀 주제를 ML 문제로 정의할 수 있다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66928" y="5230368"/>
            <a:ext cx="8412480" cy="18288"/>
          </a:xfrm>
          <a:prstGeom prst="rect">
            <a:avLst/>
          </a:prstGeom>
          <a:solidFill>
            <a:srgbClr val="2E5A66"/>
          </a:solidFill>
          <a:ln/>
        </p:spPr>
      </p:sp>
      <p:sp>
        <p:nvSpPr>
          <p:cNvPr id="8" name="Text 6"/>
          <p:cNvSpPr/>
          <p:nvPr/>
        </p:nvSpPr>
        <p:spPr>
          <a:xfrm>
            <a:off x="566928" y="5394960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FA3A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클라우드 MLOps · 연성대학교 · 230분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66928" y="5724144"/>
            <a:ext cx="10058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E939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NCS  2001070301_19v1.1   2001070301_19v1.2   2001070303_19v1.3   2001070304_19v1.1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1105783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3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오늘의 흐름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66928" y="987552"/>
            <a:ext cx="1105783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230분 · 오늘부터 팀 프로젝트가 시작됩니다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66928" y="1481328"/>
            <a:ext cx="11057839" cy="530352"/>
          </a:xfrm>
          <a:prstGeom prst="roundRect">
            <a:avLst>
              <a:gd name="adj" fmla="val 8621"/>
            </a:avLst>
          </a:prstGeom>
          <a:solidFill>
            <a:srgbClr val="F7FAFB"/>
          </a:solidFill>
          <a:ln w="9525">
            <a:solidFill>
              <a:srgbClr val="C9DAD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1481328"/>
            <a:ext cx="7680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C2B3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복습 + 결과물 데모 (인스턴스 Start 동시)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9887407" y="1481328"/>
            <a:ext cx="1508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10분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66928" y="2084832"/>
            <a:ext cx="11057839" cy="530352"/>
          </a:xfrm>
          <a:prstGeom prst="roundRect">
            <a:avLst>
              <a:gd name="adj" fmla="val 8621"/>
            </a:avLst>
          </a:prstGeom>
          <a:solidFill>
            <a:srgbClr val="F7FAFB"/>
          </a:solidFill>
          <a:ln w="9525">
            <a:solidFill>
              <a:srgbClr val="C9DAD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68096" y="2084832"/>
            <a:ext cx="7680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C2B3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이론 — 데이터 품질 · 저장 규칙 · ML 문제 · 데이터 카드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9887407" y="2084832"/>
            <a:ext cx="1508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45분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66928" y="2688336"/>
            <a:ext cx="11057839" cy="530352"/>
          </a:xfrm>
          <a:prstGeom prst="roundRect">
            <a:avLst>
              <a:gd name="adj" fmla="val 8621"/>
            </a:avLst>
          </a:prstGeom>
          <a:solidFill>
            <a:srgbClr val="F7FAFB"/>
          </a:solidFill>
          <a:ln w="9525">
            <a:solidFill>
              <a:srgbClr val="C9DAD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68096" y="2688336"/>
            <a:ext cx="7680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C2B3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휴식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9887407" y="2688336"/>
            <a:ext cx="1508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10분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566928" y="3291840"/>
            <a:ext cx="11057839" cy="530352"/>
          </a:xfrm>
          <a:prstGeom prst="roundRect">
            <a:avLst>
              <a:gd name="adj" fmla="val 8621"/>
            </a:avLst>
          </a:prstGeom>
          <a:solidFill>
            <a:srgbClr val="EDF5F6"/>
          </a:solidFill>
          <a:ln w="15875">
            <a:solidFill>
              <a:srgbClr val="02809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68096" y="3291840"/>
            <a:ext cx="7680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33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실습 A — 전처리 스크립트 1개 완성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9887407" y="3291840"/>
            <a:ext cx="1508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0280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50분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566928" y="3895344"/>
            <a:ext cx="11057839" cy="530352"/>
          </a:xfrm>
          <a:prstGeom prst="roundRect">
            <a:avLst>
              <a:gd name="adj" fmla="val 8621"/>
            </a:avLst>
          </a:prstGeom>
          <a:solidFill>
            <a:srgbClr val="F7FAFB"/>
          </a:solidFill>
          <a:ln w="9525">
            <a:solidFill>
              <a:srgbClr val="C9DAD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68096" y="3895344"/>
            <a:ext cx="7680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C2B3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휴식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9887407" y="3895344"/>
            <a:ext cx="1508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10분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566928" y="4498848"/>
            <a:ext cx="11057839" cy="530352"/>
          </a:xfrm>
          <a:prstGeom prst="roundRect">
            <a:avLst>
              <a:gd name="adj" fmla="val 8621"/>
            </a:avLst>
          </a:prstGeom>
          <a:solidFill>
            <a:srgbClr val="EDF5F6"/>
          </a:solidFill>
          <a:ln w="15875">
            <a:solidFill>
              <a:srgbClr val="02809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68096" y="4498848"/>
            <a:ext cx="7680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33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실습 B — 팀 확정 · 도메인 · 데이터 · 문제정의서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9887407" y="4498848"/>
            <a:ext cx="1508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0280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85분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566928" y="5102352"/>
            <a:ext cx="11057839" cy="530352"/>
          </a:xfrm>
          <a:prstGeom prst="roundRect">
            <a:avLst>
              <a:gd name="adj" fmla="val 8621"/>
            </a:avLst>
          </a:prstGeom>
          <a:solidFill>
            <a:srgbClr val="F7FAFB"/>
          </a:solidFill>
          <a:ln w="9525">
            <a:solidFill>
              <a:srgbClr val="C9DAD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68096" y="5102352"/>
            <a:ext cx="7680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C2B3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체크포인트 제출 + 다음 주 예고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9887407" y="5102352"/>
            <a:ext cx="1508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15분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566928" y="5705856"/>
            <a:ext cx="11057839" cy="530352"/>
          </a:xfrm>
          <a:prstGeom prst="roundRect">
            <a:avLst>
              <a:gd name="adj" fmla="val 8621"/>
            </a:avLst>
          </a:prstGeom>
          <a:solidFill>
            <a:srgbClr val="F7FAFB"/>
          </a:solidFill>
          <a:ln w="9525">
            <a:solidFill>
              <a:srgbClr val="C9DAD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68096" y="5705856"/>
            <a:ext cx="7680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C2B3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리소스 정리 타임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9887407" y="5705856"/>
            <a:ext cx="1508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5분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566928" y="643737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클라우드 MLOps · 3주차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0710367" y="643737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332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487168"/>
            <a:ext cx="1005840" cy="100584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2487168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33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892808" y="2432304"/>
            <a:ext cx="8686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이론 — 데이터가 먼저다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1892808" y="3163824"/>
            <a:ext cx="8686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FC2C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45분 · 오늘 이론이 M1 문제정의서의 뼈대입니다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332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88720" y="1920240"/>
            <a:ext cx="9814255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정확도 92%가 나와도</a:t>
            </a:r>
            <a:endParaRPr lang="en-US" sz="3800" dirty="0"/>
          </a:p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 92%가 뭘 뜻하는지 모릅니다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1188720" y="4846320"/>
            <a:ext cx="98142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2C39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데이터를 안 보고 모델부터 돌리면 생기는 일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1105783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3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모델보다 데이터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66928" y="987552"/>
            <a:ext cx="1105783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성능을 가르는 건 대개 데이터 품질입니다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66928" y="1536192"/>
            <a:ext cx="310896" cy="31089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5" name="Text 3"/>
          <p:cNvSpPr/>
          <p:nvPr/>
        </p:nvSpPr>
        <p:spPr>
          <a:xfrm>
            <a:off x="566928" y="153619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24128" y="1499616"/>
            <a:ext cx="5956347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33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모델을 바꾸면 잘해야 1~2%p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1024128" y="1883664"/>
            <a:ext cx="5956347" cy="4809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결측이 -1로 채워진 걸 발견해 고치면 10%p가 오른다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66928" y="2474366"/>
            <a:ext cx="310896" cy="31089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9" name="Text 7"/>
          <p:cNvSpPr/>
          <p:nvPr/>
        </p:nvSpPr>
        <p:spPr>
          <a:xfrm>
            <a:off x="566928" y="247436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024128" y="2437790"/>
            <a:ext cx="5956347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33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함정 1 — 의미 있는 이상값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1024128" y="2821838"/>
            <a:ext cx="5956347" cy="4809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기온 999는 센서 고장 표시다. 그대로 학습하면 안 된다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66928" y="3412541"/>
            <a:ext cx="310896" cy="31089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3" name="Text 11"/>
          <p:cNvSpPr/>
          <p:nvPr/>
        </p:nvSpPr>
        <p:spPr>
          <a:xfrm>
            <a:off x="566928" y="3412541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024128" y="3375965"/>
            <a:ext cx="5956347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33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함정 2 — 결측의 의미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1024128" y="3760013"/>
            <a:ext cx="5956347" cy="4809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0인가 미측정인가. 둘은 완전히 다르다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66928" y="4350715"/>
            <a:ext cx="310896" cy="31089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7" name="Text 15"/>
          <p:cNvSpPr/>
          <p:nvPr/>
        </p:nvSpPr>
        <p:spPr>
          <a:xfrm>
            <a:off x="566928" y="4350715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024128" y="4314139"/>
            <a:ext cx="5956347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33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함정 3 — 단위·시간대 불일치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1024128" y="4698187"/>
            <a:ext cx="5956347" cy="4809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같은 컬럼인데 단위가 섞여 들어온 경우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566928" y="5288890"/>
            <a:ext cx="310896" cy="31089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1" name="Text 19"/>
          <p:cNvSpPr/>
          <p:nvPr/>
        </p:nvSpPr>
        <p:spPr>
          <a:xfrm>
            <a:off x="566928" y="528889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024128" y="5252314"/>
            <a:ext cx="5956347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33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 과목의 평가 기준</a:t>
            </a:r>
            <a:endParaRPr lang="en-US" sz="1550" dirty="0"/>
          </a:p>
        </p:txBody>
      </p:sp>
      <p:sp>
        <p:nvSpPr>
          <p:cNvPr id="23" name="Text 21"/>
          <p:cNvSpPr/>
          <p:nvPr/>
        </p:nvSpPr>
        <p:spPr>
          <a:xfrm>
            <a:off x="1024128" y="5636362"/>
            <a:ext cx="5956347" cy="4809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정확도가 아니라 재현성과 설명 가능성이다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7300515" y="2647188"/>
            <a:ext cx="4324252" cy="2313432"/>
          </a:xfrm>
          <a:prstGeom prst="roundRect">
            <a:avLst>
              <a:gd name="adj" fmla="val 3162"/>
            </a:avLst>
          </a:prstGeom>
          <a:solidFill>
            <a:srgbClr val="EDF5F6"/>
          </a:solidFill>
          <a:ln w="12700">
            <a:solidFill>
              <a:srgbClr val="C9DAD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574835" y="2866644"/>
            <a:ext cx="37756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280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새 데이터를 만나면</a:t>
            </a:r>
            <a:endParaRPr lang="en-US" sz="1450" dirty="0"/>
          </a:p>
        </p:txBody>
      </p:sp>
      <p:sp>
        <p:nvSpPr>
          <p:cNvPr id="26" name="Text 24"/>
          <p:cNvSpPr/>
          <p:nvPr/>
        </p:nvSpPr>
        <p:spPr>
          <a:xfrm>
            <a:off x="7574835" y="3342132"/>
            <a:ext cx="3775612" cy="1399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C2B3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describe() 를 먼저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C2B3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isna() 를 그다음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C2B3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min/max에서 함정이 잡힌다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566928" y="643737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클라우드 MLOps · 3주차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0710367" y="643737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1105783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3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데이터가 흘러가는 길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66928" y="987552"/>
            <a:ext cx="1105783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화살표에 붙은 것은 사람 손이 아니라 스크립트입니다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66928" y="1481328"/>
            <a:ext cx="11057839" cy="810158"/>
          </a:xfrm>
          <a:prstGeom prst="roundRect">
            <a:avLst>
              <a:gd name="adj" fmla="val 6772"/>
            </a:avLst>
          </a:prstGeom>
          <a:solidFill>
            <a:srgbClr val="EDF5F6"/>
          </a:solidFill>
          <a:ln w="9525">
            <a:solidFill>
              <a:srgbClr val="C9DAD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86384" y="1694383"/>
            <a:ext cx="384048" cy="38404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6" name="Text 4"/>
          <p:cNvSpPr/>
          <p:nvPr/>
        </p:nvSpPr>
        <p:spPr>
          <a:xfrm>
            <a:off x="786384" y="1694383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371600" y="1609344"/>
            <a:ext cx="996055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33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raw/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1371600" y="1975104"/>
            <a:ext cx="9960559" cy="2798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받은 그대로. 수정·덮어쓰기·삭제 금지인 성역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66928" y="2419502"/>
            <a:ext cx="11057839" cy="810158"/>
          </a:xfrm>
          <a:prstGeom prst="roundRect">
            <a:avLst>
              <a:gd name="adj" fmla="val 6772"/>
            </a:avLst>
          </a:prstGeom>
          <a:solidFill>
            <a:srgbClr val="F7FAFB"/>
          </a:solidFill>
          <a:ln w="9525">
            <a:solidFill>
              <a:srgbClr val="C9DAD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86384" y="2632558"/>
            <a:ext cx="384048" cy="38404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1" name="Text 9"/>
          <p:cNvSpPr/>
          <p:nvPr/>
        </p:nvSpPr>
        <p:spPr>
          <a:xfrm>
            <a:off x="786384" y="263255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371600" y="2547518"/>
            <a:ext cx="996055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33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preprocess.py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1371600" y="2913278"/>
            <a:ext cx="9960559" cy="2798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0280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결측·이상치 처리, 타입 변환, 파생변수 생성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66928" y="3357677"/>
            <a:ext cx="11057839" cy="810158"/>
          </a:xfrm>
          <a:prstGeom prst="roundRect">
            <a:avLst>
              <a:gd name="adj" fmla="val 6772"/>
            </a:avLst>
          </a:prstGeom>
          <a:solidFill>
            <a:srgbClr val="EDF5F6"/>
          </a:solidFill>
          <a:ln w="9525">
            <a:solidFill>
              <a:srgbClr val="C9DAD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86384" y="3570732"/>
            <a:ext cx="384048" cy="38404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6" name="Text 14"/>
          <p:cNvSpPr/>
          <p:nvPr/>
        </p:nvSpPr>
        <p:spPr>
          <a:xfrm>
            <a:off x="786384" y="35707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371600" y="3485693"/>
            <a:ext cx="996055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33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processed/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1371600" y="3851453"/>
            <a:ext cx="9960559" cy="2798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학습에 바로 쓸 수 있는 상태. 스크립트로만 만들어진다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66928" y="4295851"/>
            <a:ext cx="11057839" cy="810158"/>
          </a:xfrm>
          <a:prstGeom prst="roundRect">
            <a:avLst>
              <a:gd name="adj" fmla="val 6772"/>
            </a:avLst>
          </a:prstGeom>
          <a:solidFill>
            <a:srgbClr val="F7FAFB"/>
          </a:solidFill>
          <a:ln w="9525">
            <a:solidFill>
              <a:srgbClr val="C9DAD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86384" y="4508906"/>
            <a:ext cx="384048" cy="38404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1" name="Text 19"/>
          <p:cNvSpPr/>
          <p:nvPr/>
        </p:nvSpPr>
        <p:spPr>
          <a:xfrm>
            <a:off x="786384" y="450890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371600" y="4423867"/>
            <a:ext cx="996055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33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build_features.py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1371600" y="4789627"/>
            <a:ext cx="9960559" cy="2798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0280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인코딩·스케일링·집계 (4~5주차에 붙는다)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566928" y="5234026"/>
            <a:ext cx="11057839" cy="810158"/>
          </a:xfrm>
          <a:prstGeom prst="roundRect">
            <a:avLst>
              <a:gd name="adj" fmla="val 6772"/>
            </a:avLst>
          </a:prstGeom>
          <a:solidFill>
            <a:srgbClr val="EDF5F6"/>
          </a:solidFill>
          <a:ln w="9525">
            <a:solidFill>
              <a:srgbClr val="C9DADE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86384" y="5447081"/>
            <a:ext cx="384048" cy="38404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6" name="Text 24"/>
          <p:cNvSpPr/>
          <p:nvPr/>
        </p:nvSpPr>
        <p:spPr>
          <a:xfrm>
            <a:off x="786384" y="5447081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371600" y="5362042"/>
            <a:ext cx="996055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33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features/</a:t>
            </a:r>
            <a:endParaRPr lang="en-US" sz="1450" dirty="0"/>
          </a:p>
        </p:txBody>
      </p:sp>
      <p:sp>
        <p:nvSpPr>
          <p:cNvPr id="28" name="Text 26"/>
          <p:cNvSpPr/>
          <p:nvPr/>
        </p:nvSpPr>
        <p:spPr>
          <a:xfrm>
            <a:off x="1371600" y="5727802"/>
            <a:ext cx="9960559" cy="2798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모델 입력 직전의 숫자 행렬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566928" y="643737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클라우드 MLOps · 3주차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0710367" y="643737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1105783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3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주제를 ML 문제로 바꾸는 네 칸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66928" y="987552"/>
            <a:ext cx="1105783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 네 칸을 못 채우면 그건 아직 주제가 아닙니다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66928" y="1869948"/>
            <a:ext cx="5382616" cy="1810512"/>
          </a:xfrm>
          <a:prstGeom prst="roundRect">
            <a:avLst>
              <a:gd name="adj" fmla="val 4040"/>
            </a:avLst>
          </a:prstGeom>
          <a:solidFill>
            <a:srgbClr val="EDF5F6"/>
          </a:solidFill>
          <a:ln w="12700">
            <a:solidFill>
              <a:srgbClr val="C9DAD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2107692"/>
            <a:ext cx="384048" cy="38404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21076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335024" y="2089404"/>
            <a:ext cx="43767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3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입력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335024" y="2601468"/>
            <a:ext cx="4331056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C2B3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예측하는 순간에 실제로 알 수 있는 값만 입력이 됩니다. 내일 대여량을 예측하면서 내일 실제 기온을 넣으면 안 됩니다.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242152" y="1869948"/>
            <a:ext cx="5382616" cy="1810512"/>
          </a:xfrm>
          <a:prstGeom prst="roundRect">
            <a:avLst>
              <a:gd name="adj" fmla="val 4040"/>
            </a:avLst>
          </a:prstGeom>
          <a:solidFill>
            <a:srgbClr val="EDF5F6"/>
          </a:solidFill>
          <a:ln w="12700">
            <a:solidFill>
              <a:srgbClr val="C9DAD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98184" y="2107692"/>
            <a:ext cx="384048" cy="38404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1" name="Text 9"/>
          <p:cNvSpPr/>
          <p:nvPr/>
        </p:nvSpPr>
        <p:spPr>
          <a:xfrm>
            <a:off x="6498184" y="21076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010248" y="2089404"/>
            <a:ext cx="43767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3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출력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7010248" y="2601468"/>
            <a:ext cx="4331056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C2B3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숫자를 맞히면 회귀, 어느 그룹인지 맞히면 분류입니다. 단위와 범위까지 적습니다. 1시간 동안의 대여 건수, 0 이상 정수.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66928" y="3973068"/>
            <a:ext cx="5382616" cy="1810512"/>
          </a:xfrm>
          <a:prstGeom prst="roundRect">
            <a:avLst>
              <a:gd name="adj" fmla="val 4040"/>
            </a:avLst>
          </a:prstGeom>
          <a:solidFill>
            <a:srgbClr val="EDF5F6"/>
          </a:solidFill>
          <a:ln w="12700">
            <a:solidFill>
              <a:srgbClr val="C9DAD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22960" y="4210812"/>
            <a:ext cx="384048" cy="38404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42108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335024" y="4192524"/>
            <a:ext cx="43767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3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평가지표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335024" y="4704588"/>
            <a:ext cx="4331056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C2B3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무엇으로 잘했다고 판단할지입니다. 회귀에는 정확도가 없고, 불균형 분류에서는 정확도가 위험합니다.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242152" y="3973068"/>
            <a:ext cx="5382616" cy="1810512"/>
          </a:xfrm>
          <a:prstGeom prst="roundRect">
            <a:avLst>
              <a:gd name="adj" fmla="val 4040"/>
            </a:avLst>
          </a:prstGeom>
          <a:solidFill>
            <a:srgbClr val="EDF5F6"/>
          </a:solidFill>
          <a:ln w="12700">
            <a:solidFill>
              <a:srgbClr val="C9DAD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498184" y="4210812"/>
            <a:ext cx="384048" cy="38404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1" name="Text 19"/>
          <p:cNvSpPr/>
          <p:nvPr/>
        </p:nvSpPr>
        <p:spPr>
          <a:xfrm>
            <a:off x="6498184" y="42108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010248" y="4192524"/>
            <a:ext cx="43767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3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성공 기준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7010248" y="4704588"/>
            <a:ext cx="4331056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C2B3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잘 되면 좋겠다가 아니라 RMSE 15 이하처럼 숫자로 적습니다. 근거는 4주차에 만들 베이스라인에서 나옵니다.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566928" y="643737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클라우드 MLOps · 3주차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0710367" y="643737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1105783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3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지표는 문제가 정합니다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66928" y="987552"/>
            <a:ext cx="1105783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습관적으로 정확도를 쓰지 않습니다</a:t>
            </a:r>
            <a:endParaRPr lang="en-US" sz="13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481328"/>
          <a:ext cx="11057839" cy="914400"/>
        </p:xfrm>
        <a:graphic>
          <a:graphicData uri="http://schemas.openxmlformats.org/drawingml/2006/table">
            <a:tbl>
              <a:tblPr/>
              <a:tblGrid>
                <a:gridCol w="3474720"/>
                <a:gridCol w="3291840"/>
                <a:gridCol w="4288536"/>
              </a:tblGrid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문제 유형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주 지표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언제 쓰나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B3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회귀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5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B3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RMSE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5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B3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큰 오차가 특히 치명적일 때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5F6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B3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회귀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B3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MAE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B3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모든 오차를 똑같이 세고 싶을 때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B3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회귀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5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B3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MAPE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5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B3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오차를 퍼센트로 말해야 할 때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5F6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B3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분류 (균형)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B3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Accuracy, F1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B3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클래스가 고르게 있을 때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B3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분류 (불균형)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5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B3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F1, Recall, PR-AUC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5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B3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불량·이탈·사기처럼 소수 클래스가 중요할 때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5F6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66928" y="643737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클라우드 MLOps · 3주차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0710367" y="643737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332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88720" y="1920240"/>
            <a:ext cx="9814255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우리는 [입력]을 받아 [출력]을 예측하고</a:t>
            </a:r>
            <a:endParaRPr lang="en-US" sz="3800" dirty="0"/>
          </a:p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[지표]로 [기준] 이상이면 성공이다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1188720" y="4846320"/>
            <a:ext cx="98142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2C39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팀이 채워야 할 문장은 이것 하나입니다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1105783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3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데이터 카드는 데이터의 신분증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66928" y="987552"/>
            <a:ext cx="1105783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만들 두 번째 산출물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66928" y="1536192"/>
            <a:ext cx="310896" cy="31089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5" name="Text 3"/>
          <p:cNvSpPr/>
          <p:nvPr/>
        </p:nvSpPr>
        <p:spPr>
          <a:xfrm>
            <a:off x="566928" y="153619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24128" y="1499616"/>
            <a:ext cx="5956347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33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 사람을 위해 쓴다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1024128" y="1883664"/>
            <a:ext cx="5956347" cy="4809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3주 뒤의 나 · 팀원 · 그리고 법적 안전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66928" y="2474366"/>
            <a:ext cx="310896" cy="31089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9" name="Text 7"/>
          <p:cNvSpPr/>
          <p:nvPr/>
        </p:nvSpPr>
        <p:spPr>
          <a:xfrm>
            <a:off x="566928" y="247436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024128" y="2437790"/>
            <a:ext cx="5956347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33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필수 세 항목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1024128" y="2821838"/>
            <a:ext cx="5956347" cy="4809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출처 URL · 라이선스 · 개인정보 포함 여부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66928" y="3412541"/>
            <a:ext cx="310896" cy="31089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3" name="Text 11"/>
          <p:cNvSpPr/>
          <p:nvPr/>
        </p:nvSpPr>
        <p:spPr>
          <a:xfrm>
            <a:off x="566928" y="3412541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024128" y="3375965"/>
            <a:ext cx="5956347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33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처리 이력에는 왜 를 적는다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1024128" y="3760013"/>
            <a:ext cx="5956347" cy="4809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무엇을 바꿨는지만 적으면 절반만 쓴 것이다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66928" y="4350715"/>
            <a:ext cx="310896" cy="31089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7" name="Text 15"/>
          <p:cNvSpPr/>
          <p:nvPr/>
        </p:nvSpPr>
        <p:spPr>
          <a:xfrm>
            <a:off x="566928" y="4350715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024128" y="4314139"/>
            <a:ext cx="5956347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33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알려진 품질 문제를 전부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1024128" y="4698187"/>
            <a:ext cx="5956347" cy="4809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찾은 -1, 999, 결측을 건수까지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566928" y="5288890"/>
            <a:ext cx="310896" cy="31089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1" name="Text 19"/>
          <p:cNvSpPr/>
          <p:nvPr/>
        </p:nvSpPr>
        <p:spPr>
          <a:xfrm>
            <a:off x="566928" y="528889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024128" y="5252314"/>
            <a:ext cx="5956347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33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개인정보는 지우거나 익명화</a:t>
            </a:r>
            <a:endParaRPr lang="en-US" sz="1550" dirty="0"/>
          </a:p>
        </p:txBody>
      </p:sp>
      <p:sp>
        <p:nvSpPr>
          <p:cNvPr id="23" name="Text 21"/>
          <p:cNvSpPr/>
          <p:nvPr/>
        </p:nvSpPr>
        <p:spPr>
          <a:xfrm>
            <a:off x="1024128" y="5636362"/>
            <a:ext cx="5956347" cy="4809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위반 데이터를 쓰면 프로젝트 점수 0점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7300515" y="2436876"/>
            <a:ext cx="4324252" cy="2734056"/>
          </a:xfrm>
          <a:prstGeom prst="roundRect">
            <a:avLst>
              <a:gd name="adj" fmla="val 2676"/>
            </a:avLst>
          </a:prstGeom>
          <a:solidFill>
            <a:srgbClr val="EDF5F6"/>
          </a:solidFill>
          <a:ln w="12700">
            <a:solidFill>
              <a:srgbClr val="C9DAD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574835" y="2656332"/>
            <a:ext cx="37756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280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컬럼 사전에 적을 것</a:t>
            </a:r>
            <a:endParaRPr lang="en-US" sz="1450" dirty="0"/>
          </a:p>
        </p:txBody>
      </p:sp>
      <p:sp>
        <p:nvSpPr>
          <p:cNvPr id="26" name="Text 24"/>
          <p:cNvSpPr/>
          <p:nvPr/>
        </p:nvSpPr>
        <p:spPr>
          <a:xfrm>
            <a:off x="7574835" y="3131820"/>
            <a:ext cx="3775612" cy="1819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C2B3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컬럼명과 타입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C2B3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의미와 단위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C2B3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결측률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C2B3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목표 변수 표시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566928" y="643737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클라우드 MLOps · 3주차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0710367" y="643737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332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487168"/>
            <a:ext cx="1005840" cy="100584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2487168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33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892808" y="2432304"/>
            <a:ext cx="8686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실습 A — 전처리 스크립트 완성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1892808" y="3163824"/>
            <a:ext cx="8686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FC2C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50분 · 다 함께 따라합니다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1105783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3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실습 A 수행 순서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66928" y="987552"/>
            <a:ext cx="1105783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오늘의 목표는 명령어 한 줄로 다시 돌아가는 스크립트입니다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66928" y="1481328"/>
            <a:ext cx="11057839" cy="810158"/>
          </a:xfrm>
          <a:prstGeom prst="roundRect">
            <a:avLst>
              <a:gd name="adj" fmla="val 6772"/>
            </a:avLst>
          </a:prstGeom>
          <a:solidFill>
            <a:srgbClr val="EDF5F6"/>
          </a:solidFill>
          <a:ln w="9525">
            <a:solidFill>
              <a:srgbClr val="C9DAD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86384" y="1694383"/>
            <a:ext cx="384048" cy="38404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6" name="Text 4"/>
          <p:cNvSpPr/>
          <p:nvPr/>
        </p:nvSpPr>
        <p:spPr>
          <a:xfrm>
            <a:off x="786384" y="1694383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371600" y="1609344"/>
            <a:ext cx="996055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33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서버 준비와 데이터 적재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1371600" y="1975104"/>
            <a:ext cx="9960559" cy="2798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인스턴스 Start → 접속 → 가상환경 → raw/ 에 업로드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66928" y="2419502"/>
            <a:ext cx="11057839" cy="810158"/>
          </a:xfrm>
          <a:prstGeom prst="roundRect">
            <a:avLst>
              <a:gd name="adj" fmla="val 6772"/>
            </a:avLst>
          </a:prstGeom>
          <a:solidFill>
            <a:srgbClr val="F7FAFB"/>
          </a:solidFill>
          <a:ln w="9525">
            <a:solidFill>
              <a:srgbClr val="C9DAD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86384" y="2632558"/>
            <a:ext cx="384048" cy="38404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1" name="Text 9"/>
          <p:cNvSpPr/>
          <p:nvPr/>
        </p:nvSpPr>
        <p:spPr>
          <a:xfrm>
            <a:off x="786384" y="263255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371600" y="2547518"/>
            <a:ext cx="996055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33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데이터 훑어보기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1371600" y="2913278"/>
            <a:ext cx="9960559" cy="2798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describe() 와 isna() 로 -1, 999, 결측을 찾아낸다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66928" y="3357677"/>
            <a:ext cx="11057839" cy="810158"/>
          </a:xfrm>
          <a:prstGeom prst="roundRect">
            <a:avLst>
              <a:gd name="adj" fmla="val 6772"/>
            </a:avLst>
          </a:prstGeom>
          <a:solidFill>
            <a:srgbClr val="EDF5F6"/>
          </a:solidFill>
          <a:ln w="9525">
            <a:solidFill>
              <a:srgbClr val="C9DAD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86384" y="3570732"/>
            <a:ext cx="384048" cy="38404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6" name="Text 14"/>
          <p:cNvSpPr/>
          <p:nvPr/>
        </p:nvSpPr>
        <p:spPr>
          <a:xfrm>
            <a:off x="786384" y="35707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371600" y="3485693"/>
            <a:ext cx="996055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33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전처리 스크립트 작성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1371600" y="3851453"/>
            <a:ext cx="9960559" cy="2798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배포된 골격에서 TODO 다섯 곳만 직접 채운다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66928" y="4295851"/>
            <a:ext cx="11057839" cy="810158"/>
          </a:xfrm>
          <a:prstGeom prst="roundRect">
            <a:avLst>
              <a:gd name="adj" fmla="val 6772"/>
            </a:avLst>
          </a:prstGeom>
          <a:solidFill>
            <a:srgbClr val="F7FAFB"/>
          </a:solidFill>
          <a:ln w="9525">
            <a:solidFill>
              <a:srgbClr val="C9DAD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86384" y="4508906"/>
            <a:ext cx="384048" cy="38404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1" name="Text 19"/>
          <p:cNvSpPr/>
          <p:nvPr/>
        </p:nvSpPr>
        <p:spPr>
          <a:xfrm>
            <a:off x="786384" y="450890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371600" y="4423867"/>
            <a:ext cx="996055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33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두 번 실행해 결과 비교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1371600" y="4789627"/>
            <a:ext cx="9960559" cy="2798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행 수가 똑같아야 재현성이 확보된 것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566928" y="5234026"/>
            <a:ext cx="11057839" cy="810158"/>
          </a:xfrm>
          <a:prstGeom prst="roundRect">
            <a:avLst>
              <a:gd name="adj" fmla="val 6772"/>
            </a:avLst>
          </a:prstGeom>
          <a:solidFill>
            <a:srgbClr val="EDF5F6"/>
          </a:solidFill>
          <a:ln w="9525">
            <a:solidFill>
              <a:srgbClr val="C9DADE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86384" y="5447081"/>
            <a:ext cx="384048" cy="38404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6" name="Text 24"/>
          <p:cNvSpPr/>
          <p:nvPr/>
        </p:nvSpPr>
        <p:spPr>
          <a:xfrm>
            <a:off x="786384" y="5447081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371600" y="5362042"/>
            <a:ext cx="996055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33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데이터 카드 작성</a:t>
            </a:r>
            <a:endParaRPr lang="en-US" sz="1450" dirty="0"/>
          </a:p>
        </p:txBody>
      </p:sp>
      <p:sp>
        <p:nvSpPr>
          <p:cNvPr id="28" name="Text 26"/>
          <p:cNvSpPr/>
          <p:nvPr/>
        </p:nvSpPr>
        <p:spPr>
          <a:xfrm>
            <a:off x="1371600" y="5727802"/>
            <a:ext cx="9960559" cy="2798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스크립트가 출력한 숫자를 그대로 옮겨 적는다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566928" y="643737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클라우드 MLOps · 3주차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0710367" y="643737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1105783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3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데이터를 raw/ 에 올리고 스크립트 돌리기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66928" y="987552"/>
            <a:ext cx="1105783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원본은 올려두고 그다음부터 손대지 않습니다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66928" y="1481328"/>
            <a:ext cx="11057839" cy="4325112"/>
          </a:xfrm>
          <a:prstGeom prst="roundRect">
            <a:avLst>
              <a:gd name="adj" fmla="val 1480"/>
            </a:avLst>
          </a:prstGeom>
          <a:solidFill>
            <a:srgbClr val="0F262C"/>
          </a:solidFill>
          <a:ln/>
        </p:spPr>
      </p:sp>
      <p:sp>
        <p:nvSpPr>
          <p:cNvPr id="5" name="Text 3"/>
          <p:cNvSpPr/>
          <p:nvPr/>
        </p:nvSpPr>
        <p:spPr>
          <a:xfrm>
            <a:off x="10253167" y="1591056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E939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bash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877824" y="1719072"/>
            <a:ext cx="10436047" cy="3867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D7E7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매 수업 시작 루틴</a:t>
            </a:r>
            <a:endParaRPr lang="en-US" sz="11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D7E7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cd ~/work</a:t>
            </a:r>
            <a:endParaRPr lang="en-US" sz="11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D7E7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source .venv/bin/activate</a:t>
            </a:r>
            <a:endParaRPr lang="en-US" sz="11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D7E7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aws configure get region        # ap-northeast-2 가 나와야 한다</a:t>
            </a:r>
            <a:endParaRPr lang="en-US" sz="1100" dirty="0"/>
          </a:p>
          <a:p>
            <a:pPr indent="0" marL="0">
              <a:lnSpc>
                <a:spcPct val="122000"/>
              </a:lnSpc>
              <a:buNone/>
            </a:pPr>
            <a:endParaRPr lang="en-US" sz="11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D7E7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1. 공통 데이터를 받아 눈으로 먼저 확인</a:t>
            </a:r>
            <a:endParaRPr lang="en-US" sz="11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D7E7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mkdir -p ~/work/w03 &amp;&amp; cd ~/work/w03</a:t>
            </a:r>
            <a:endParaRPr lang="en-US" sz="11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D7E7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curl -o bike_rental_2024.csv "&lt;강사 배포 URL&gt;"</a:t>
            </a:r>
            <a:endParaRPr lang="en-US" sz="11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D7E7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head -3 bike_rental_2024.csv</a:t>
            </a:r>
            <a:endParaRPr lang="en-US" sz="1100" dirty="0"/>
          </a:p>
          <a:p>
            <a:pPr indent="0" marL="0">
              <a:lnSpc>
                <a:spcPct val="122000"/>
              </a:lnSpc>
              <a:buNone/>
            </a:pPr>
            <a:endParaRPr lang="en-US" sz="11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D7E7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2. raw/ 에 올린다. 원본은 여기 두고 손대지 않는다</a:t>
            </a:r>
            <a:endParaRPr lang="en-US" sz="11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D7E7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aws s3 cp bike_rental_2024.csv \</a:t>
            </a:r>
            <a:endParaRPr lang="en-US" sz="11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D7E7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s3://mlops-2026-&lt;학번&gt;/raw/bike_rental_2024.csv</a:t>
            </a:r>
            <a:endParaRPr lang="en-US" sz="1100" dirty="0"/>
          </a:p>
          <a:p>
            <a:pPr indent="0" marL="0">
              <a:lnSpc>
                <a:spcPct val="122000"/>
              </a:lnSpc>
              <a:buNone/>
            </a:pPr>
            <a:endParaRPr lang="en-US" sz="11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D7E7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3. 스크립트를 두 번 돌려 결과가 같은지 본다</a:t>
            </a:r>
            <a:endParaRPr lang="en-US" sz="11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D7E7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preprocess.py</a:t>
            </a:r>
            <a:endParaRPr lang="en-US" sz="11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D7E7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preprocess.py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66928" y="5916168"/>
            <a:ext cx="1105783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두 번째 실행의 행 수가 첫 번째와 같으면 재현성이 확보된 것입니다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66928" y="643737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클라우드 MLOps · 3주차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0710367" y="643737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1105783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3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새 데이터를 만나면 이 다섯 줄부터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66928" y="987552"/>
            <a:ext cx="1105783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팀 데이터에서도 제일 먼저 돌릴 코드입니다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66928" y="1481328"/>
            <a:ext cx="11057839" cy="4325112"/>
          </a:xfrm>
          <a:prstGeom prst="roundRect">
            <a:avLst>
              <a:gd name="adj" fmla="val 1480"/>
            </a:avLst>
          </a:prstGeom>
          <a:solidFill>
            <a:srgbClr val="0F262C"/>
          </a:solidFill>
          <a:ln/>
        </p:spPr>
      </p:sp>
      <p:sp>
        <p:nvSpPr>
          <p:cNvPr id="5" name="Text 3"/>
          <p:cNvSpPr/>
          <p:nvPr/>
        </p:nvSpPr>
        <p:spPr>
          <a:xfrm>
            <a:off x="10253167" y="1591056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E939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877824" y="1719072"/>
            <a:ext cx="10436047" cy="3867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D7E7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pandas as pd</a:t>
            </a:r>
            <a:endParaRPr lang="en-US" sz="1100" dirty="0"/>
          </a:p>
          <a:p>
            <a:pPr indent="0" marL="0">
              <a:lnSpc>
                <a:spcPct val="122000"/>
              </a:lnSpc>
              <a:buNone/>
            </a:pPr>
            <a:endParaRPr lang="en-US" sz="11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D7E7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BUCKET = "mlops-2026-&lt;학번&gt;"          # 본인 버킷으로 수정</a:t>
            </a:r>
            <a:endParaRPr lang="en-US" sz="11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D7E7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 = pd.read_csv(f"s3://{BUCKET}/raw/bike_rental_2024.csv")</a:t>
            </a:r>
            <a:endParaRPr lang="en-US" sz="1100" dirty="0"/>
          </a:p>
          <a:p>
            <a:pPr indent="0" marL="0">
              <a:lnSpc>
                <a:spcPct val="122000"/>
              </a:lnSpc>
              <a:buNone/>
            </a:pPr>
            <a:endParaRPr lang="en-US" sz="11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D7E7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df.shape                 # 행, 열</a:t>
            </a:r>
            <a:endParaRPr lang="en-US" sz="11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D7E7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df.columns.tolist()      # 컬럼 이름 목록</a:t>
            </a:r>
            <a:endParaRPr lang="en-US" sz="11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D7E7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df.info()                # 타입 + 결측 개수</a:t>
            </a:r>
            <a:endParaRPr lang="en-US" sz="11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D7E7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df.isna().mean() * 100   # 컬럼별 결측 비율(%)</a:t>
            </a:r>
            <a:endParaRPr lang="en-US" sz="11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D7E7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df.describe().T          # 숫자 요약 — 여기서 -1, 999 가 잡힌다</a:t>
            </a:r>
            <a:endParaRPr lang="en-US" sz="11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D7E7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df.duplicated().sum()    # 중복 행 개수</a:t>
            </a:r>
            <a:endParaRPr lang="en-US" sz="1100" dirty="0"/>
          </a:p>
          <a:p>
            <a:pPr indent="0" marL="0">
              <a:lnSpc>
                <a:spcPct val="122000"/>
              </a:lnSpc>
              <a:buNone/>
            </a:pPr>
            <a:endParaRPr lang="en-US" sz="11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D7E7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이상 패턴이 몇 건인지 세어본다</a:t>
            </a:r>
            <a:endParaRPr lang="en-US" sz="11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D7E7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print((df["rental_count"] &lt; 0).sum())</a:t>
            </a:r>
            <a:endParaRPr lang="en-US" sz="11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D7E7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print((df["temp_c"] &gt;= 900).sum())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66928" y="5916168"/>
            <a:ext cx="1105783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한글이 깨지면 encoding="cp949" 를 붙입니다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66928" y="643737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클라우드 MLOps · 3주차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0710367" y="643737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332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658368"/>
            <a:ext cx="1105783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재현성 확인 방법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66928" y="1417320"/>
            <a:ext cx="4644292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0" b="1" dirty="0">
                <a:solidFill>
                  <a:srgbClr val="02C39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두 번</a:t>
            </a:r>
            <a:endParaRPr lang="en-US" sz="9600" dirty="0"/>
          </a:p>
        </p:txBody>
      </p:sp>
      <p:sp>
        <p:nvSpPr>
          <p:cNvPr id="4" name="Text 2"/>
          <p:cNvSpPr/>
          <p:nvPr/>
        </p:nvSpPr>
        <p:spPr>
          <a:xfrm>
            <a:off x="5432377" y="1417320"/>
            <a:ext cx="619239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A8C6C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돌려서 행 수가 같으면 확보된 것입니다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66928" y="3429000"/>
            <a:ext cx="11057839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300"/>
              </a:spcAft>
              <a:buSzPct val="100000"/>
              <a:buChar char="•"/>
            </a:pPr>
            <a:r>
              <a:rPr lang="en-US" sz="1500" dirty="0">
                <a:solidFill>
                  <a:srgbClr val="C9DDE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다르다면 raw/ 를 건드렸거나 코드에 무작위성이 섞인 것</a:t>
            </a:r>
            <a:endParaRPr lang="en-US" sz="1500" dirty="0"/>
          </a:p>
          <a:p>
            <a:pPr marL="342900" indent="-342900">
              <a:spcAft>
                <a:spcPts val="1300"/>
              </a:spcAft>
              <a:buSzPct val="100000"/>
              <a:buChar char="•"/>
            </a:pPr>
            <a:r>
              <a:rPr lang="en-US" sz="1500" dirty="0">
                <a:solidFill>
                  <a:srgbClr val="C9DDE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processed/ 는 통째로 지워도 스크립트로 다시 만들 수 있어야 정상</a:t>
            </a:r>
            <a:endParaRPr lang="en-US" sz="1500" dirty="0"/>
          </a:p>
          <a:p>
            <a:pPr marL="342900" indent="-342900">
              <a:spcAft>
                <a:spcPts val="1300"/>
              </a:spcAft>
              <a:buSzPct val="100000"/>
              <a:buChar char="•"/>
            </a:pPr>
            <a:r>
              <a:rPr lang="en-US" sz="1500" dirty="0">
                <a:solidFill>
                  <a:srgbClr val="C9DDE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지웠는데 다시 못 만드는 폴더가 있다면 사람 손이 숨어 있다는 뜻</a:t>
            </a:r>
            <a:endParaRPr lang="en-US" sz="1500" dirty="0"/>
          </a:p>
          <a:p>
            <a:pPr marL="342900" indent="-342900">
              <a:spcAft>
                <a:spcPts val="1300"/>
              </a:spcAft>
              <a:buSzPct val="100000"/>
              <a:buChar char="•"/>
            </a:pPr>
            <a:r>
              <a:rPr lang="en-US" sz="1500" dirty="0">
                <a:solidFill>
                  <a:srgbClr val="C9DDE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파일명은 데이터셋_기간_단계 규칙. 최종_진짜최종 은 만들지 않는다</a:t>
            </a:r>
            <a:endParaRPr lang="en-US" sz="15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1105783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3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정제 함수의 핵심 — 무엇을 왜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66928" y="987552"/>
            <a:ext cx="1105783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각 줄의 이유를 데이터 카드에 그대로 옮겨 적습니다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66928" y="1481328"/>
            <a:ext cx="11057839" cy="4325112"/>
          </a:xfrm>
          <a:prstGeom prst="roundRect">
            <a:avLst>
              <a:gd name="adj" fmla="val 1480"/>
            </a:avLst>
          </a:prstGeom>
          <a:solidFill>
            <a:srgbClr val="0F262C"/>
          </a:solidFill>
          <a:ln/>
        </p:spPr>
      </p:sp>
      <p:sp>
        <p:nvSpPr>
          <p:cNvPr id="5" name="Text 3"/>
          <p:cNvSpPr/>
          <p:nvPr/>
        </p:nvSpPr>
        <p:spPr>
          <a:xfrm>
            <a:off x="10253167" y="1591056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E939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877824" y="1719072"/>
            <a:ext cx="10436047" cy="3867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D7E7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clean(df):</a:t>
            </a:r>
            <a:endParaRPr lang="en-US" sz="11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D7E7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df = df.copy()   # 원본 DataFrame을 건드리지 않는다</a:t>
            </a:r>
            <a:endParaRPr lang="en-US" sz="11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D7E7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센서 오류값 999 는 결측으로 바꾼다</a:t>
            </a:r>
            <a:endParaRPr lang="en-US" sz="11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D7E7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df.loc[df["temp_c"] &gt;= 900, "temp_c"] = np.nan</a:t>
            </a:r>
            <a:endParaRPr lang="en-US" sz="1100" dirty="0"/>
          </a:p>
          <a:p>
            <a:pPr indent="0" marL="0">
              <a:lnSpc>
                <a:spcPct val="122000"/>
              </a:lnSpc>
              <a:buNone/>
            </a:pPr>
            <a:endParaRPr lang="en-US" sz="11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D7E7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목표 변수의 음수(-1 = 미집계)는 행 자체를 버린다</a:t>
            </a:r>
            <a:endParaRPr lang="en-US" sz="11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D7E7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df = df[df["rental_count"] &gt;= 0]</a:t>
            </a:r>
            <a:endParaRPr lang="en-US" sz="1100" dirty="0"/>
          </a:p>
          <a:p>
            <a:pPr indent="0" marL="0">
              <a:lnSpc>
                <a:spcPct val="122000"/>
              </a:lnSpc>
              <a:buNone/>
            </a:pPr>
            <a:endParaRPr lang="en-US" sz="11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D7E7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강수량 결측은 0 으로 (미보고 = 무강수로 판단)</a:t>
            </a:r>
            <a:endParaRPr lang="en-US" sz="11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D7E7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df["precip_mm"] = df["precip_mm"].fillna(0.0)</a:t>
            </a:r>
            <a:endParaRPr lang="en-US" sz="1100" dirty="0"/>
          </a:p>
          <a:p>
            <a:pPr indent="0" marL="0">
              <a:lnSpc>
                <a:spcPct val="122000"/>
              </a:lnSpc>
              <a:buNone/>
            </a:pPr>
            <a:endParaRPr lang="en-US" sz="11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D7E7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기온은 앞뒤 값으로 보간 (연속적으로 변하는 값)</a:t>
            </a:r>
            <a:endParaRPr lang="en-US" sz="11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D7E7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df = df.sort_values("rent_dt")</a:t>
            </a:r>
            <a:endParaRPr lang="en-US" sz="11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D7E7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df["temp_c"] = df["temp_c"].interpolate(limit_direction="both")</a:t>
            </a:r>
            <a:endParaRPr lang="en-US" sz="1100" dirty="0"/>
          </a:p>
          <a:p>
            <a:pPr indent="0" marL="0">
              <a:lnSpc>
                <a:spcPct val="122000"/>
              </a:lnSpc>
              <a:buNone/>
            </a:pPr>
            <a:endParaRPr lang="en-US" sz="11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D7E7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assert df.isna().sum().sum() == 0, "결측이 남아 있다"</a:t>
            </a:r>
            <a:endParaRPr lang="en-US" sz="11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D7E7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df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66928" y="5916168"/>
            <a:ext cx="1105783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목표 변수의 결측은 채우지 않고 행을 버립니다. 가짜 패턴을 배우기 때문입니다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66928" y="643737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클라우드 MLOps · 3주차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0710367" y="643737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1105783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3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여기서 막히면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66928" y="987552"/>
            <a:ext cx="1105783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실습 A에서 실제로 터지는 문제</a:t>
            </a:r>
            <a:endParaRPr lang="en-US" sz="13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481328"/>
          <a:ext cx="11057839" cy="914400"/>
        </p:xfrm>
        <a:graphic>
          <a:graphicData uri="http://schemas.openxmlformats.org/drawingml/2006/table">
            <a:tbl>
              <a:tblPr/>
              <a:tblGrid>
                <a:gridCol w="3474720"/>
                <a:gridCol w="3291840"/>
                <a:gridCol w="4288536"/>
              </a:tblGrid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증상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원인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조치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B3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ModuleNotFoundError: pandas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5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B3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가상환경을 안 켠 상태로 실행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5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B3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cd ~/work 후 source .venv/bin/activate 하고 재실행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5F6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B3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NoCredentialsError / AccessDenied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B3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IAM 역할 미연결 또는 버킷 이름 오타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B3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aws sts get-caller-identity 로 신원 확인 후 BUCKET 재확인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B3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FileNotFoundError: s3://.../raw/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5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B3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업로드가 안 됐거나 키 경로 오타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5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B3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aws s3 ls 로 실제 파일명 확인. 대소문자까지 일치해야 함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5F6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B3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SettingWithCopyWarning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B3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필터링한 DataFrame을 다시 수정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B3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clean 첫 줄에 df = df.copy() 가 있는지 확인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B3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assert 에서 결측 남음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5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B3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보간이 양 끝값을 못 채움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5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B3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limit_direction 옵션 확인. 남으면 dropna 후 카드에 기록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5F6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B3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두 번 돌렸는데 행 수가 다름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B3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raw/ 대신 processed/ 를 읽고 있음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B3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읽는 경로가 raw/ 를 가리키는지 확인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66928" y="643737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클라우드 MLOps · 3주차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0710367" y="643737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332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487168"/>
            <a:ext cx="1005840" cy="100584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2487168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33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892808" y="2432304"/>
            <a:ext cx="8686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실습 B — 팀 프로젝트 착수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1892808" y="3163824"/>
            <a:ext cx="8686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FC2C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85분 · 팀, 도메인, 데이터, 문제 정의를 오늘 확정합니다</a:t>
            </a:r>
            <a:endParaRPr lang="en-US" sz="14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1105783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3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도메인 세 가지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66928" y="987552"/>
            <a:ext cx="1105783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5분 안에 고릅니다. 결정 못 하면 B로 배정합니다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66928" y="1623060"/>
            <a:ext cx="5382616" cy="2057400"/>
          </a:xfrm>
          <a:prstGeom prst="roundRect">
            <a:avLst>
              <a:gd name="adj" fmla="val 3556"/>
            </a:avLst>
          </a:prstGeom>
          <a:solidFill>
            <a:srgbClr val="EDF5F6"/>
          </a:solidFill>
          <a:ln w="12700">
            <a:solidFill>
              <a:srgbClr val="C9DAD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860804"/>
            <a:ext cx="384048" cy="38404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8608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335024" y="1842516"/>
            <a:ext cx="43767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3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수요·가격 예측 (회귀)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335024" y="2354580"/>
            <a:ext cx="4331056" cy="1124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C2B3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따릉이 대여량, 전력 수요, 농산물 가격. 오늘 실습 A와 구조가 같아 코드 재활용이 가장 쉽습니다. 지표는 RMSE 또는 MAE.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242152" y="1623060"/>
            <a:ext cx="5382616" cy="2057400"/>
          </a:xfrm>
          <a:prstGeom prst="roundRect">
            <a:avLst>
              <a:gd name="adj" fmla="val 3556"/>
            </a:avLst>
          </a:prstGeom>
          <a:solidFill>
            <a:srgbClr val="EDF5F6"/>
          </a:solidFill>
          <a:ln w="12700">
            <a:solidFill>
              <a:srgbClr val="C9DAD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98184" y="1860804"/>
            <a:ext cx="384048" cy="38404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1" name="Text 9"/>
          <p:cNvSpPr/>
          <p:nvPr/>
        </p:nvSpPr>
        <p:spPr>
          <a:xfrm>
            <a:off x="6498184" y="18608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010248" y="1842516"/>
            <a:ext cx="43767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3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이탈·불량 분류 (분류)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7010248" y="2354580"/>
            <a:ext cx="4331056" cy="1124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C2B3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고객 이탈, 공정 불량, 대출 상환. 가장 쉽습니다. 자신 없으면 이걸 고르세요. 지표는 F1과 Recall.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66928" y="3973068"/>
            <a:ext cx="5382616" cy="2057400"/>
          </a:xfrm>
          <a:prstGeom prst="roundRect">
            <a:avLst>
              <a:gd name="adj" fmla="val 3556"/>
            </a:avLst>
          </a:prstGeom>
          <a:solidFill>
            <a:srgbClr val="EDF5F6"/>
          </a:solidFill>
          <a:ln w="12700">
            <a:solidFill>
              <a:srgbClr val="C9DAD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22960" y="4210812"/>
            <a:ext cx="384048" cy="38404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42108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335024" y="4192524"/>
            <a:ext cx="43767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3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텍스트 리뷰 + 생성형 AI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335024" y="4704588"/>
            <a:ext cx="4331056" cy="1124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C2B3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리뷰 감성 분류에 요약을 붙입니다. 10주차 Bedrock과 가장 잘 붙고 발표 반응이 좋습니다. 난이도는 가장 높습니다.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566928" y="643737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클라우드 MLOps · 3주차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0710367" y="643737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1105783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3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자유주제는 승인 조건 다섯 개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66928" y="987552"/>
            <a:ext cx="1105783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하나라도 빠지면 A·B·C 중에서 골라야 합니다</a:t>
            </a:r>
            <a:endParaRPr lang="en-US" sz="13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481328"/>
          <a:ext cx="11057839" cy="914400"/>
        </p:xfrm>
        <a:graphic>
          <a:graphicData uri="http://schemas.openxmlformats.org/drawingml/2006/table">
            <a:tbl>
              <a:tblPr/>
              <a:tblGrid>
                <a:gridCol w="4572000"/>
                <a:gridCol w="6483096"/>
              </a:tblGrid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승인 조건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오늘 확인하는 방법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B3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데이터를 오늘 실제로 확보 가능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5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B3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다운로드 링크를 제시하고 그 자리에서 파일을 받아본다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5F6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B3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정답(라벨)이 존재하거나 정의 가능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B3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어느 컬럼이 목표 변수인지 손으로 지목한다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B3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개인정보·저작권 문제 없음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5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B3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라이선스 표기와 개인식별 컬럼 유무를 확인해 적는다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5F6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B3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데이터 크기 500MB 이하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B3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파일 용량을 확인해 적는다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B3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CPU로 10분 이내 학습 가능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5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C2B3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행 수와 열 수 규모로 판단. 대형 딥러닝 학습 금지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A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5F6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66928" y="643737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클라우드 MLOps · 3주차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0710367" y="643737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1105783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3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문제정의서 작성 순서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66928" y="987552"/>
            <a:ext cx="1105783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 순서대로 채워야 막히지 않습니다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66928" y="1481328"/>
            <a:ext cx="11057839" cy="810158"/>
          </a:xfrm>
          <a:prstGeom prst="roundRect">
            <a:avLst>
              <a:gd name="adj" fmla="val 6772"/>
            </a:avLst>
          </a:prstGeom>
          <a:solidFill>
            <a:srgbClr val="EDF5F6"/>
          </a:solidFill>
          <a:ln w="9525">
            <a:solidFill>
              <a:srgbClr val="C9DAD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86384" y="1694383"/>
            <a:ext cx="384048" cy="38404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6" name="Text 4"/>
          <p:cNvSpPr/>
          <p:nvPr/>
        </p:nvSpPr>
        <p:spPr>
          <a:xfrm>
            <a:off x="786384" y="1694383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371600" y="1609344"/>
            <a:ext cx="996055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33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출력부터 정한다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1371600" y="1975104"/>
            <a:ext cx="9960559" cy="2798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맞히려는 값 하나를 단위와 범위까지 문장으로 쓴다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66928" y="2419502"/>
            <a:ext cx="11057839" cy="810158"/>
          </a:xfrm>
          <a:prstGeom prst="roundRect">
            <a:avLst>
              <a:gd name="adj" fmla="val 6772"/>
            </a:avLst>
          </a:prstGeom>
          <a:solidFill>
            <a:srgbClr val="F7FAFB"/>
          </a:solidFill>
          <a:ln w="9525">
            <a:solidFill>
              <a:srgbClr val="C9DAD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86384" y="2632558"/>
            <a:ext cx="384048" cy="38404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1" name="Text 9"/>
          <p:cNvSpPr/>
          <p:nvPr/>
        </p:nvSpPr>
        <p:spPr>
          <a:xfrm>
            <a:off x="786384" y="263255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371600" y="2547518"/>
            <a:ext cx="996055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33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 값이 어느 컬럼인지 지목한다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1371600" y="2913278"/>
            <a:ext cx="9960559" cy="2798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없으면 만들 수 있는지 본다. 못 만들면 데이터를 바꾼다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66928" y="3357677"/>
            <a:ext cx="11057839" cy="810158"/>
          </a:xfrm>
          <a:prstGeom prst="roundRect">
            <a:avLst>
              <a:gd name="adj" fmla="val 6772"/>
            </a:avLst>
          </a:prstGeom>
          <a:solidFill>
            <a:srgbClr val="EDF5F6"/>
          </a:solidFill>
          <a:ln w="9525">
            <a:solidFill>
              <a:srgbClr val="C9DAD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86384" y="3570732"/>
            <a:ext cx="384048" cy="38404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6" name="Text 14"/>
          <p:cNvSpPr/>
          <p:nvPr/>
        </p:nvSpPr>
        <p:spPr>
          <a:xfrm>
            <a:off x="786384" y="35707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371600" y="3485693"/>
            <a:ext cx="996055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33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입력을 나열한다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1371600" y="3851453"/>
            <a:ext cx="9960559" cy="2798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각각에 대해 예측 시점에 알 수 있는지 자문하고 아니면 지운다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66928" y="4295851"/>
            <a:ext cx="11057839" cy="810158"/>
          </a:xfrm>
          <a:prstGeom prst="roundRect">
            <a:avLst>
              <a:gd name="adj" fmla="val 6772"/>
            </a:avLst>
          </a:prstGeom>
          <a:solidFill>
            <a:srgbClr val="F7FAFB"/>
          </a:solidFill>
          <a:ln w="9525">
            <a:solidFill>
              <a:srgbClr val="C9DAD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86384" y="4508906"/>
            <a:ext cx="384048" cy="38404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1" name="Text 19"/>
          <p:cNvSpPr/>
          <p:nvPr/>
        </p:nvSpPr>
        <p:spPr>
          <a:xfrm>
            <a:off x="786384" y="450890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371600" y="4423867"/>
            <a:ext cx="996055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33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평가지표를 고른다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1371600" y="4789627"/>
            <a:ext cx="9960559" cy="2798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 지표는 반드시 하나. 보조 지표는 따로 적는다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566928" y="5234026"/>
            <a:ext cx="11057839" cy="810158"/>
          </a:xfrm>
          <a:prstGeom prst="roundRect">
            <a:avLst>
              <a:gd name="adj" fmla="val 6772"/>
            </a:avLst>
          </a:prstGeom>
          <a:solidFill>
            <a:srgbClr val="EDF5F6"/>
          </a:solidFill>
          <a:ln w="9525">
            <a:solidFill>
              <a:srgbClr val="C9DADE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86384" y="5447081"/>
            <a:ext cx="384048" cy="38404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6" name="Text 24"/>
          <p:cNvSpPr/>
          <p:nvPr/>
        </p:nvSpPr>
        <p:spPr>
          <a:xfrm>
            <a:off x="786384" y="5447081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371600" y="5362042"/>
            <a:ext cx="996055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33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성공 기준을 숫자로 적는다</a:t>
            </a:r>
            <a:endParaRPr lang="en-US" sz="1450" dirty="0"/>
          </a:p>
        </p:txBody>
      </p:sp>
      <p:sp>
        <p:nvSpPr>
          <p:cNvPr id="28" name="Text 26"/>
          <p:cNvSpPr/>
          <p:nvPr/>
        </p:nvSpPr>
        <p:spPr>
          <a:xfrm>
            <a:off x="1371600" y="5727802"/>
            <a:ext cx="9960559" cy="2798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지금은 잠정치. 4주차 베이스라인 이후 확정한다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566928" y="643737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클라우드 MLOps · 3주차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0710367" y="643737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21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1105783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3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팀 데이터 합격 기준 다섯 개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66928" y="987552"/>
            <a:ext cx="1105783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하나라도 실패하면 다음 후보로 넘어갑니다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66928" y="1536192"/>
            <a:ext cx="310896" cy="31089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5" name="Text 3"/>
          <p:cNvSpPr/>
          <p:nvPr/>
        </p:nvSpPr>
        <p:spPr>
          <a:xfrm>
            <a:off x="566928" y="153619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24128" y="1499616"/>
            <a:ext cx="5956347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33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지금 다운로드가 된다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1024128" y="1883664"/>
            <a:ext cx="5956347" cy="4809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좋아 보인다로 끝내지 않는다. 파일을 실제로 받아본다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66928" y="2474366"/>
            <a:ext cx="310896" cy="31089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9" name="Text 7"/>
          <p:cNvSpPr/>
          <p:nvPr/>
        </p:nvSpPr>
        <p:spPr>
          <a:xfrm>
            <a:off x="566928" y="247436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024128" y="2437790"/>
            <a:ext cx="5956347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33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목표 변수가 컬럼으로 있다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1024128" y="2821838"/>
            <a:ext cx="5956347" cy="4809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컬럼명을 손가락으로 지목할 수 있어야 한다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66928" y="3412541"/>
            <a:ext cx="310896" cy="31089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3" name="Text 11"/>
          <p:cNvSpPr/>
          <p:nvPr/>
        </p:nvSpPr>
        <p:spPr>
          <a:xfrm>
            <a:off x="566928" y="3412541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024128" y="3375965"/>
            <a:ext cx="5956347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33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행 수 1,000 이상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1024128" y="3760013"/>
            <a:ext cx="5956347" cy="4809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df.shape 로 확인한다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66928" y="4350715"/>
            <a:ext cx="310896" cy="31089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7" name="Text 15"/>
          <p:cNvSpPr/>
          <p:nvPr/>
        </p:nvSpPr>
        <p:spPr>
          <a:xfrm>
            <a:off x="566928" y="4350715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024128" y="4314139"/>
            <a:ext cx="5956347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33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용량 500MB 이하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1024128" y="4698187"/>
            <a:ext cx="5956347" cy="4809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ls -lh 로 확인한다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566928" y="5288890"/>
            <a:ext cx="310896" cy="31089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1" name="Text 19"/>
          <p:cNvSpPr/>
          <p:nvPr/>
        </p:nvSpPr>
        <p:spPr>
          <a:xfrm>
            <a:off x="566928" y="528889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024128" y="5252314"/>
            <a:ext cx="5956347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33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라이선스·개인정보 확인 완료</a:t>
            </a:r>
            <a:endParaRPr lang="en-US" sz="1550" dirty="0"/>
          </a:p>
        </p:txBody>
      </p:sp>
      <p:sp>
        <p:nvSpPr>
          <p:cNvPr id="23" name="Text 21"/>
          <p:cNvSpPr/>
          <p:nvPr/>
        </p:nvSpPr>
        <p:spPr>
          <a:xfrm>
            <a:off x="1024128" y="5636362"/>
            <a:ext cx="5956347" cy="4809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출처 페이지의 이용조건을 캡처해 둔다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7300515" y="2647188"/>
            <a:ext cx="4324252" cy="2313432"/>
          </a:xfrm>
          <a:prstGeom prst="roundRect">
            <a:avLst>
              <a:gd name="adj" fmla="val 3162"/>
            </a:avLst>
          </a:prstGeom>
          <a:solidFill>
            <a:srgbClr val="EDF5F6"/>
          </a:solidFill>
          <a:ln w="12700">
            <a:solidFill>
              <a:srgbClr val="C9DAD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574835" y="2866644"/>
            <a:ext cx="37756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280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순회 때 물어볼 세 가지</a:t>
            </a:r>
            <a:endParaRPr lang="en-US" sz="1450" dirty="0"/>
          </a:p>
        </p:txBody>
      </p:sp>
      <p:sp>
        <p:nvSpPr>
          <p:cNvPr id="26" name="Text 24"/>
          <p:cNvSpPr/>
          <p:nvPr/>
        </p:nvSpPr>
        <p:spPr>
          <a:xfrm>
            <a:off x="7574835" y="3342132"/>
            <a:ext cx="3775612" cy="1399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C2B3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 입력, 예측 순간에 아나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C2B3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라벨이 어느 컬럼인가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C2B3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지금 받아서 열어봤나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566928" y="643737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클라우드 MLOps · 3주차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0710367" y="643737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22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1105783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3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오늘의 체크포인트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66928" y="987552"/>
            <a:ext cx="1105783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개인 2건 + 팀 2건 · 총 2.0점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66928" y="2144268"/>
            <a:ext cx="11057839" cy="722376"/>
          </a:xfrm>
          <a:prstGeom prst="roundRect">
            <a:avLst>
              <a:gd name="adj" fmla="val 7595"/>
            </a:avLst>
          </a:prstGeom>
          <a:solidFill>
            <a:srgbClr val="EDF5F6"/>
          </a:solidFill>
          <a:ln w="9525">
            <a:solidFill>
              <a:srgbClr val="C9DAD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04672" y="2350008"/>
            <a:ext cx="310896" cy="310896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 w="19050">
            <a:solidFill>
              <a:srgbClr val="02809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280160" y="2244852"/>
            <a:ext cx="1005199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33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preprocess.py 실행 화면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1280160" y="2601468"/>
            <a:ext cx="1005199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5단계 로그 전체 · 두 번 실행한 행 수가 같음이 보일 것 (개인)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66928" y="2985516"/>
            <a:ext cx="11057839" cy="722376"/>
          </a:xfrm>
          <a:prstGeom prst="roundRect">
            <a:avLst>
              <a:gd name="adj" fmla="val 7595"/>
            </a:avLst>
          </a:prstGeom>
          <a:solidFill>
            <a:srgbClr val="F7FAFB"/>
          </a:solidFill>
          <a:ln w="9525">
            <a:solidFill>
              <a:srgbClr val="C9DAD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04672" y="3191256"/>
            <a:ext cx="310896" cy="310896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 w="19050">
            <a:solidFill>
              <a:srgbClr val="02809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80160" y="3086100"/>
            <a:ext cx="1005199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33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data_card.md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1280160" y="3442716"/>
            <a:ext cx="1005199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출처 URL · 라이선스 · 개인정보 · 처리 이력의 왜 (개인)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66928" y="3826764"/>
            <a:ext cx="11057839" cy="722376"/>
          </a:xfrm>
          <a:prstGeom prst="roundRect">
            <a:avLst>
              <a:gd name="adj" fmla="val 7595"/>
            </a:avLst>
          </a:prstGeom>
          <a:solidFill>
            <a:srgbClr val="EDF5F6"/>
          </a:solidFill>
          <a:ln w="9525">
            <a:solidFill>
              <a:srgbClr val="C9DAD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04672" y="4032504"/>
            <a:ext cx="310896" cy="310896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 w="19050">
            <a:solidFill>
              <a:srgbClr val="02809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280160" y="3927348"/>
            <a:ext cx="1005199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33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problem_statement_T&lt;NN&gt;.md 초안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1280160" y="4283964"/>
            <a:ext cx="1005199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팀 구성 · 도메인 · 데이터 링크 · 입출력 · 지표 · 성공기준 (팀)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66928" y="4668012"/>
            <a:ext cx="11057839" cy="722376"/>
          </a:xfrm>
          <a:prstGeom prst="roundRect">
            <a:avLst>
              <a:gd name="adj" fmla="val 7595"/>
            </a:avLst>
          </a:prstGeom>
          <a:solidFill>
            <a:srgbClr val="F7FAFB"/>
          </a:solidFill>
          <a:ln w="9525">
            <a:solidFill>
              <a:srgbClr val="C9DAD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04672" y="4873752"/>
            <a:ext cx="310896" cy="310896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 w="19050">
            <a:solidFill>
              <a:srgbClr val="02809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280160" y="4768596"/>
            <a:ext cx="1005199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33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팀 데이터가 올라간 raw/team/ 목록 화면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1280160" y="5125212"/>
            <a:ext cx="1005199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스크린샷 (팀 대표 1인)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566928" y="643737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클라우드 MLOps · 3주차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0710367" y="643737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23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1105783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3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정리 · 다음 주 예고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66928" y="1280160"/>
            <a:ext cx="310896" cy="31089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4" name="Text 2"/>
          <p:cNvSpPr/>
          <p:nvPr/>
        </p:nvSpPr>
        <p:spPr>
          <a:xfrm>
            <a:off x="566928" y="128016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024128" y="1243584"/>
            <a:ext cx="5956347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33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배운 것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1024128" y="1627632"/>
            <a:ext cx="5956347" cy="7795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describe 두 줄이 함정을 잡는다 · raw는 성역 · ML 문제는 네 칸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66928" y="2516886"/>
            <a:ext cx="310896" cy="31089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8" name="Text 6"/>
          <p:cNvSpPr/>
          <p:nvPr/>
        </p:nvSpPr>
        <p:spPr>
          <a:xfrm>
            <a:off x="566928" y="251688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24128" y="2480310"/>
            <a:ext cx="5956347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33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만든 것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1024128" y="2864358"/>
            <a:ext cx="5956347" cy="7795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두 번 돌려도 같은 결과가 나오는 전처리 스크립트 하나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66928" y="3753612"/>
            <a:ext cx="310896" cy="31089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2" name="Text 10"/>
          <p:cNvSpPr/>
          <p:nvPr/>
        </p:nvSpPr>
        <p:spPr>
          <a:xfrm>
            <a:off x="566928" y="375361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024128" y="3717036"/>
            <a:ext cx="5956347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33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주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1024128" y="4101084"/>
            <a:ext cx="5956347" cy="7795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첫 모델을 학습해 S3에 저장하고, M1 문제정의서 최종본을 제출합니다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66928" y="4990338"/>
            <a:ext cx="310896" cy="31089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6" name="Text 14"/>
          <p:cNvSpPr/>
          <p:nvPr/>
        </p:nvSpPr>
        <p:spPr>
          <a:xfrm>
            <a:off x="566928" y="499033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024128" y="4953762"/>
            <a:ext cx="5956347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332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과제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1024128" y="5337810"/>
            <a:ext cx="5956347" cy="7795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문제정의서 v0.9 · 팀 데이터용 전처리 스크립트 초안 · 데이터 카드 완성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7300515" y="2308860"/>
            <a:ext cx="4324252" cy="2734056"/>
          </a:xfrm>
          <a:prstGeom prst="roundRect">
            <a:avLst>
              <a:gd name="adj" fmla="val 2676"/>
            </a:avLst>
          </a:prstGeom>
          <a:solidFill>
            <a:srgbClr val="EDF5F6"/>
          </a:solidFill>
          <a:ln w="12700">
            <a:solidFill>
              <a:srgbClr val="C9DAD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574835" y="2528316"/>
            <a:ext cx="37756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280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정리 타임 확인 사항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7574835" y="3003804"/>
            <a:ext cx="3775612" cy="1819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C2B3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주피터 종료 후 인스턴스 중지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C2B3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raw/ 원본이 그대로인지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C2B3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팀 태그 갱신 여부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C2B3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작업 파일을 S3에 백업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566928" y="643737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클라우드 MLOps · 3주차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0710367" y="643737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75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24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클라우드 MLOps 3주차 — 데이터 파이프라인과 문제 정의</dc:title>
  <dc:subject>PptxGenJS Presentation</dc:subject>
  <dc:creator>연성대학교</dc:creator>
  <cp:lastModifiedBy>연성대학교</cp:lastModifiedBy>
  <cp:revision>1</cp:revision>
  <dcterms:created xsi:type="dcterms:W3CDTF">2026-08-02T15:22:44Z</dcterms:created>
  <dcterms:modified xsi:type="dcterms:W3CDTF">2026-08-02T15:22:44Z</dcterms:modified>
</cp:coreProperties>
</file>