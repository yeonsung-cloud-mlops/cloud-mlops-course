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오늘은 처음으로 남에게 보여주는 날입니다. 지난주 curl로 성공한 그 API를 다른 사람이 접속할 수 있는 주소로 올리고, 앞에 사람이 누를 수 있는 화면을 붙입니다. 마지막 40분에는 실제로 팀별 시연을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오늘은 정리 시간을 시연 블록 안에 흡수했습니다. 실습 B가 75분으로 길지만 마지막 15분은 코딩을 멈추고 리허설에 씁니다. 그 15분을 코딩에 쓰는 팀이 매년 시연에서 무너집니다.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먼저 학생들에게 물어보세요. 지난주 실습에서 localhost로는 다 성공했습니다. 그런데 옆자리 학생 노트북에서 그 주소를 치면 안 됩니다. 이유가 하나가 아니라 세 개라는 것이 오늘 이론의 출발점입니다.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 세 개를 순서대로 짚는 것이 오늘 트러블슈팅의 전부입니다. 학생이 손을 들면 여러분도 이 순서로 물어보세요. 0.0.0.0으로 떴나, 포트를 매핑했나, 보안그룹을 열었나.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학교 와이파이의 공인 IP가 수시로 바뀐다는 점을 꼭 말해주세요. 지난주에 잘 되던 것이 오늘 안 되는 이유의 절반이 이것입니다. 그리고 발표 자료에 IP를 박아 넣지 말라고 지금 못 박아 두세요.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남의 계정으로 값비싼 GPU 서버 수십 대가 켜져서 며칠 만에 수천만 원 청구서가 나온 사례를 말해주세요. 과장이 아니라고 강조하고, 발견 즉시 조교에게 알리면 야단맞지 않는다는 것도 같이 말해줘야 신고가 들어옵니다.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비유로 정리해 주세요. 환경변수는 열쇠를 코드에 적지 않고 봉투에 담아 전달하는 것이고, IAM 역할은 열쇠 자체를 없애고 출입증 인식기를 다는 것입니다. 실무에서는 여기서 한 단계 더 가서 Secrets Manager를 쓰지만 우리 범위는 여기까지입니다.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학생들이 억울해할 수 있는 대목입니다. 심사자가 게을러서가 아니라, 동작하는 화면이 그 뒤의 모든 것이 연결되어 있다는 증거이기 때문이라고 설명하세요. 그래서 화면은 껍데기가 아니라 통합 테스트의 결과물입니다.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Streamlit에서 모델을 직접 로드하면 안 되냐는 질문이 반드시 나옵니다. 됩니다만 그러면 모델이 화면에 묶여서 다른 곳에서 재사용할 수 없다고 답해주세요. 이 과목의 목표는 주소를 가진 서비스를 만드는 것입니다.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새로 만드는 건 껍데기 하나뿐이라고 안심시켜 주세요. API는 지난주 것을 그대로 내려받아 쓰는 겁니다. 3번 단계에서 절반이 막히니 Dockerfile의 CMD 줄을 칠판에 크게 적어두세요.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터미널을 새로 열면 export한 변수가 사라진다는 걸 미리 말해주세요. 학생들이 두 번째 터미널에서 명령이 안 먹는다고 손을 듭니다. 그때는 1번 블록만 다시 실행하면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여기서 오늘 이론이 실제로 쓰입니다. API 주소를 코드에 박지 않고 environment로 주입하고 있죠. 그리고 서비스 이름 api가 그대로 호스트명이 된다는 점, 이게 뒤에 나올 사고의 핵심이니 한 번 더 짚어주세요.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콘솔 화면을 강사 화면에 띄워두고 같이 클릭하세요. 규칙을 추가하고 저장 버튼을 누르지 않아 안 되는 학생이 매년 나옵니다. 저장을 눌렀는지 옆 사람과 서로 확인하게 하면 시간이 절약됩니다.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7번의 두 줄이 오늘 트러블슈팅의 핵심 도구입니다. UI가 보고 있는 API 주소를 직접 눈으로 확인하는 명령이니 꼭 한 번 같이 쳐보게 하세요. 그리고 8번은 오늘 정리 타임에 다시 나옵니다.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 표는 유인물로도 나눠줬습니다. 손을 들기 전에 먼저 표를 보라고 하세요. 세 번째 줄이 오늘 최다 사고인데, 컨테이너 안의 localhost는 그 컨테이너 자기 자신이라는 것을 그 자리에서 1분만 설명하고 넘어가면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목표는 딱 하나라고 말해주세요. 75분 뒤에 팀 주소를 브라우저에 치면 팀 모델이 예측해야 합니다. 그리고 마지막 20분은 코딩 금지입니다. 이 규칙을 안 지킨 팀이 시연에서 반드시 무너집니다.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아키텍처 다이어그램 설명에 2분 이상 쓰는 팀은 그 자리에서 잘라주세요. 3분 지점에 라이브 시연이 시작되지 않으면 5분 안에 끝나지 않습니다. 리허설할 때 이 시간표를 옆에 놓고 타이머를 켜라고 하세요.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통합 테스트 기록이 배점이 제일 큽니다. 정상 2건은 200, 경계값 1건은 의도한 결과가 나왔는지를 적으면 그게 곧 통합 테스트 결과라고 알려주세요.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시연 실패는 감점하지 않지만 백업이 없으면 동작 시연 항목이 0점이라는 것을 시작 전에 다시 못 박으세요. 팀이 7팀 이상이면 4분으로 줄이고 질문은 생략합니다.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감점 요소도 같이 읽어주세요. 시연 실패에 백업 영상이 없으면 4번이 0점, 시간 1분 초과마다 1점씩 최대 2점, 비밀 키가 화면이나 저장소에 노출되면 2점 감점하고 즉시 재발급을 지시합니다.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정리 타임에 조교가 눈으로 확인할 것은 세 가지입니다. compose down 완료, 시연용으로 넓혀둔 보안그룹 규칙 삭제, EC2 중지. 다음 주는 비용이 실제로 나가는 회차라 지각하면 삭제 절차를 놓친다고 두 번 말하세요.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32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371600"/>
            <a:ext cx="4754880" cy="4754880"/>
          </a:xfrm>
          <a:prstGeom prst="ellipse">
            <a:avLst/>
          </a:prstGeom>
          <a:solidFill>
            <a:srgbClr val="1D4E5B"/>
          </a:solidFill>
          <a:ln/>
        </p:spPr>
      </p:sp>
      <p:sp>
        <p:nvSpPr>
          <p:cNvPr id="3" name="Shape 1"/>
          <p:cNvSpPr/>
          <p:nvPr/>
        </p:nvSpPr>
        <p:spPr>
          <a:xfrm>
            <a:off x="10698480" y="4206240"/>
            <a:ext cx="2834640" cy="28346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1234440"/>
            <a:ext cx="5486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400" b="1" dirty="0">
                <a:solidFill>
                  <a:srgbClr val="02C39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08</a:t>
            </a:r>
            <a:pPr indent="0" marL="0">
              <a:buNone/>
            </a:pPr>
            <a:r>
              <a:rPr lang="en-US" sz="2200" dirty="0">
                <a:solidFill>
                  <a:srgbClr val="6FD9B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주차</a:t>
            </a:r>
            <a:endParaRPr lang="en-US" sz="8400" dirty="0"/>
          </a:p>
        </p:txBody>
      </p:sp>
      <p:sp>
        <p:nvSpPr>
          <p:cNvPr id="5" name="Text 3"/>
          <p:cNvSpPr/>
          <p:nvPr/>
        </p:nvSpPr>
        <p:spPr>
          <a:xfrm>
            <a:off x="566928" y="2697480"/>
            <a:ext cx="8595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배포와 데모 화면 · 중간 점검 (M2)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566928" y="416052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8C6C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ECR 이미지를 EC2에 올려 API와 화면을 동시에 띄우고, 외부에서 접속되는 데모 주소를 만들 수 있다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66928" y="5230368"/>
            <a:ext cx="8412480" cy="18288"/>
          </a:xfrm>
          <a:prstGeom prst="rect">
            <a:avLst/>
          </a:prstGeom>
          <a:solidFill>
            <a:srgbClr val="2E5A66"/>
          </a:solidFill>
          <a:ln/>
        </p:spPr>
      </p:sp>
      <p:sp>
        <p:nvSpPr>
          <p:cNvPr id="8" name="Text 6"/>
          <p:cNvSpPr/>
          <p:nvPr/>
        </p:nvSpPr>
        <p:spPr>
          <a:xfrm>
            <a:off x="566928" y="5394960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A3A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클라우드 MLOps · 연성대학교 · 230분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66928" y="5724144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93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NCS  2001070308_19v1.2   2001070106_18v1.1   2001070108_18v1.2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오늘의 흐름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987552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230분 · 이번 회차는 시간표가 예외입니다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66928" y="1481328"/>
            <a:ext cx="11057839" cy="530352"/>
          </a:xfrm>
          <a:prstGeom prst="roundRect">
            <a:avLst>
              <a:gd name="adj" fmla="val 8621"/>
            </a:avLst>
          </a:prstGeom>
          <a:solidFill>
            <a:srgbClr val="F7FAFB"/>
          </a:solidFill>
          <a:ln w="9525">
            <a:solidFill>
              <a:srgbClr val="C9DAD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1481328"/>
            <a:ext cx="7680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C2B3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도입 — 복습 퀴즈 + 오늘 만들 결과물 데모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9887407" y="1481328"/>
            <a:ext cx="1508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10분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66928" y="2084832"/>
            <a:ext cx="11057839" cy="530352"/>
          </a:xfrm>
          <a:prstGeom prst="roundRect">
            <a:avLst>
              <a:gd name="adj" fmla="val 8621"/>
            </a:avLst>
          </a:prstGeom>
          <a:solidFill>
            <a:srgbClr val="F7FAFB"/>
          </a:solidFill>
          <a:ln w="9525">
            <a:solidFill>
              <a:srgbClr val="C9DAD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8096" y="2084832"/>
            <a:ext cx="7680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C2B3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이론 — 보안그룹·비밀 정보·데모 화면의 가치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9887407" y="2084832"/>
            <a:ext cx="1508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35분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66928" y="2688336"/>
            <a:ext cx="11057839" cy="530352"/>
          </a:xfrm>
          <a:prstGeom prst="roundRect">
            <a:avLst>
              <a:gd name="adj" fmla="val 8621"/>
            </a:avLst>
          </a:prstGeom>
          <a:solidFill>
            <a:srgbClr val="F7FAFB"/>
          </a:solidFill>
          <a:ln w="9525">
            <a:solidFill>
              <a:srgbClr val="C9DAD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68096" y="2688336"/>
            <a:ext cx="7680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C2B3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휴식 (1)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9887407" y="2688336"/>
            <a:ext cx="1508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10분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66928" y="3291840"/>
            <a:ext cx="11057839" cy="530352"/>
          </a:xfrm>
          <a:prstGeom prst="roundRect">
            <a:avLst>
              <a:gd name="adj" fmla="val 8621"/>
            </a:avLst>
          </a:prstGeom>
          <a:solidFill>
            <a:srgbClr val="EDF5F6"/>
          </a:solidFill>
          <a:ln w="15875">
            <a:solidFill>
              <a:srgbClr val="02809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68096" y="3291840"/>
            <a:ext cx="7680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실습 A — ECR pull + compose로 API와 화면 동시 실행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9887407" y="3291840"/>
            <a:ext cx="1508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0280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50분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66928" y="3895344"/>
            <a:ext cx="11057839" cy="530352"/>
          </a:xfrm>
          <a:prstGeom prst="roundRect">
            <a:avLst>
              <a:gd name="adj" fmla="val 8621"/>
            </a:avLst>
          </a:prstGeom>
          <a:solidFill>
            <a:srgbClr val="F7FAFB"/>
          </a:solidFill>
          <a:ln w="9525">
            <a:solidFill>
              <a:srgbClr val="C9DAD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68096" y="3895344"/>
            <a:ext cx="7680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C2B3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휴식 (2)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9887407" y="3895344"/>
            <a:ext cx="1508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10분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566928" y="4498848"/>
            <a:ext cx="11057839" cy="530352"/>
          </a:xfrm>
          <a:prstGeom prst="roundRect">
            <a:avLst>
              <a:gd name="adj" fmla="val 8621"/>
            </a:avLst>
          </a:prstGeom>
          <a:solidFill>
            <a:srgbClr val="EDF5F6"/>
          </a:solidFill>
          <a:ln w="15875">
            <a:solidFill>
              <a:srgbClr val="02809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68096" y="4498848"/>
            <a:ext cx="7680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실습 B — 팀 중간 통합 + 시연 준비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9887407" y="4498848"/>
            <a:ext cx="1508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0280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75분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566928" y="5102352"/>
            <a:ext cx="11057839" cy="530352"/>
          </a:xfrm>
          <a:prstGeom prst="roundRect">
            <a:avLst>
              <a:gd name="adj" fmla="val 8621"/>
            </a:avLst>
          </a:prstGeom>
          <a:solidFill>
            <a:srgbClr val="EDF5F6"/>
          </a:solidFill>
          <a:ln w="15875">
            <a:solidFill>
              <a:srgbClr val="02809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68096" y="5102352"/>
            <a:ext cx="7680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M2 중간 시연 (팀별 5분) + 강평 + 리소스 정리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9887407" y="5102352"/>
            <a:ext cx="1508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0280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40분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566928" y="64373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클라우드 MLOps · 8주차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710367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332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487168"/>
            <a:ext cx="1005840" cy="100584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2487168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892808" y="2432304"/>
            <a:ext cx="8686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이론 — 밖에서 접속되게 하기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1892808" y="3163824"/>
            <a:ext cx="8686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C2C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35분 · 문이 몇 개인지부터 세어봅니다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332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88720" y="1920240"/>
            <a:ext cx="9814255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친구 노트북에서는</a:t>
            </a:r>
            <a:endParaRPr lang="en-US" sz="3800" dirty="0"/>
          </a:p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왜 접속이 안 될까요?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1188720" y="4846320"/>
            <a:ext cx="98142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2C39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 서버에서 curl은 분명히 됐는데 말입니다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밖에서 들어오려면 문 세 개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987552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하나라도 닫혀 있으면 못 들어옵니다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66928" y="1623060"/>
            <a:ext cx="5382616" cy="2057400"/>
          </a:xfrm>
          <a:prstGeom prst="roundRect">
            <a:avLst>
              <a:gd name="adj" fmla="val 3556"/>
            </a:avLst>
          </a:prstGeom>
          <a:solidFill>
            <a:srgbClr val="EDF5F6"/>
          </a:solidFill>
          <a:ln w="12700">
            <a:solidFill>
              <a:srgbClr val="C9DAD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860804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8608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335024" y="1842516"/>
            <a:ext cx="43767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프로그램의 문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335024" y="2354580"/>
            <a:ext cx="4331056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C2B3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uvicorn과 Streamlit이 0.0.0.0으로 떠야 합니다. 127.0.0.1은 나 자신이라는 뜻이라 자기 외에는 아무도 못 붙습니다.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42152" y="1623060"/>
            <a:ext cx="5382616" cy="2057400"/>
          </a:xfrm>
          <a:prstGeom prst="roundRect">
            <a:avLst>
              <a:gd name="adj" fmla="val 3556"/>
            </a:avLst>
          </a:prstGeom>
          <a:solidFill>
            <a:srgbClr val="EDF5F6"/>
          </a:solidFill>
          <a:ln w="12700">
            <a:solidFill>
              <a:srgbClr val="C9DAD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98184" y="1860804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1" name="Text 9"/>
          <p:cNvSpPr/>
          <p:nvPr/>
        </p:nvSpPr>
        <p:spPr>
          <a:xfrm>
            <a:off x="6498184" y="18608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010248" y="1842516"/>
            <a:ext cx="43767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컨테이너의 문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010248" y="2354580"/>
            <a:ext cx="4331056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C2B3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포트 매핑 8501:8501입니다. 컨테이너는 아파트 안의 방인데, 방문이 안 열려 있으면 현관까지 온 사람도 못 들어옵니다.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66928" y="3973068"/>
            <a:ext cx="5382616" cy="2057400"/>
          </a:xfrm>
          <a:prstGeom prst="roundRect">
            <a:avLst>
              <a:gd name="adj" fmla="val 3556"/>
            </a:avLst>
          </a:prstGeom>
          <a:solidFill>
            <a:srgbClr val="EDF5F6"/>
          </a:solidFill>
          <a:ln w="12700">
            <a:solidFill>
              <a:srgbClr val="C9DAD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2960" y="4210812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42108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335024" y="4192524"/>
            <a:ext cx="43767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보안그룹의 문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335024" y="4704588"/>
            <a:ext cx="4331056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C2B3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EC2 앞에 붙은 방화벽입니다. 기본값은 전부 차단이라, 인바운드 규칙을 우리가 넣어야 비로소 열립니다.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566928" y="64373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클라우드 MLOps · 8주차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0710367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보안그룹과 IP에서 실제로 터지는 것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987552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인바운드만 건드립니다. 아웃바운드는 거의 손대지 않습니다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66928" y="1536192"/>
            <a:ext cx="310896" cy="31089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5" name="Text 3"/>
          <p:cNvSpPr/>
          <p:nvPr/>
        </p:nvSpPr>
        <p:spPr>
          <a:xfrm>
            <a:off x="566928" y="153619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24128" y="1499616"/>
            <a:ext cx="595634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규칙은 포트마다 따로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1024128" y="1883664"/>
            <a:ext cx="5956347" cy="480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22번을 열었다고 8501이 열리지 않습니다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66928" y="2474366"/>
            <a:ext cx="310896" cy="31089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9" name="Text 7"/>
          <p:cNvSpPr/>
          <p:nvPr/>
        </p:nvSpPr>
        <p:spPr>
          <a:xfrm>
            <a:off x="566928" y="247436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24128" y="2437790"/>
            <a:ext cx="595634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소스는 좁게 잡는다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1024128" y="2821838"/>
            <a:ext cx="5956347" cy="480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실습 중에는 내 IP, 시연 때만 0.0.0.0/0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66928" y="3412541"/>
            <a:ext cx="310896" cy="31089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3" name="Text 11"/>
          <p:cNvSpPr/>
          <p:nvPr/>
        </p:nvSpPr>
        <p:spPr>
          <a:xfrm>
            <a:off x="566928" y="3412541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24128" y="3375965"/>
            <a:ext cx="595634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0.0.0.0/0은 전 세계 허용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1024128" y="3760013"/>
            <a:ext cx="5956347" cy="480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자동 스캐너가 몇 시간 안에 찾아냅니다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66928" y="4350715"/>
            <a:ext cx="310896" cy="31089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7" name="Text 15"/>
          <p:cNvSpPr/>
          <p:nvPr/>
        </p:nvSpPr>
        <p:spPr>
          <a:xfrm>
            <a:off x="566928" y="4350715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24128" y="4314139"/>
            <a:ext cx="595634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퍼블릭 IP는 바뀐다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1024128" y="4698187"/>
            <a:ext cx="5956347" cy="480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중지했다 시작하면 주소가 달라집니다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66928" y="5288890"/>
            <a:ext cx="310896" cy="31089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1" name="Text 19"/>
          <p:cNvSpPr/>
          <p:nvPr/>
        </p:nvSpPr>
        <p:spPr>
          <a:xfrm>
            <a:off x="566928" y="528889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024128" y="5252314"/>
            <a:ext cx="595634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탄력적 IP는 방치하면 과금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1024128" y="5636362"/>
            <a:ext cx="5956347" cy="480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쓴다면 학기 말에 반드시 해제합니다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7300515" y="2647188"/>
            <a:ext cx="4324252" cy="2313432"/>
          </a:xfrm>
          <a:prstGeom prst="roundRect">
            <a:avLst>
              <a:gd name="adj" fmla="val 3162"/>
            </a:avLst>
          </a:prstGeom>
          <a:solidFill>
            <a:srgbClr val="EDF5F6"/>
          </a:solidFill>
          <a:ln w="12700">
            <a:solidFill>
              <a:srgbClr val="C9DAD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574835" y="2866644"/>
            <a:ext cx="37756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280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 될 때 1순위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7574835" y="3342132"/>
            <a:ext cx="3775612" cy="1399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C2B3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보안그룹 인바운드 8501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C2B3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소스의 내 IP 다시 누르기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C2B3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학교 와이파이는 IP가 자주 바뀜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566928" y="64373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클라우드 MLOps · 8주차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710367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비밀 정보는 코드에 넣지 않는다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987552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매년 뉴스에 나오는 사고입니다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66928" y="1481328"/>
            <a:ext cx="11057839" cy="3931920"/>
          </a:xfrm>
          <a:prstGeom prst="roundRect">
            <a:avLst>
              <a:gd name="adj" fmla="val 1860"/>
            </a:avLst>
          </a:prstGeom>
          <a:solidFill>
            <a:srgbClr val="FCF1E6"/>
          </a:solidFill>
          <a:ln w="19050">
            <a:solidFill>
              <a:srgbClr val="D97A2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77824" y="1773936"/>
            <a:ext cx="566928" cy="566928"/>
          </a:xfrm>
          <a:prstGeom prst="ellipse">
            <a:avLst/>
          </a:prstGeom>
          <a:solidFill>
            <a:srgbClr val="D97A2B"/>
          </a:solidFill>
          <a:ln/>
        </p:spPr>
      </p:sp>
      <p:sp>
        <p:nvSpPr>
          <p:cNvPr id="6" name="Text 4"/>
          <p:cNvSpPr/>
          <p:nvPr/>
        </p:nvSpPr>
        <p:spPr>
          <a:xfrm>
            <a:off x="877824" y="177393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!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591056" y="1755648"/>
            <a:ext cx="9686239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A4A1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공개 저장소에 올린 액세스 키는 몇 분 안에 봇이 찾아냅니다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24128" y="2505456"/>
            <a:ext cx="10143439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5C3A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액세스 키·비밀번호·토큰은 코드, 저장소, 스크린샷 어디에도 넣지 않습니다</a:t>
            </a:r>
            <a:endParaRPr lang="en-US" sz="14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5C3A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gitignore 파일에 .env 한 줄을 넣습니다. 이 한 줄이 여러분을 지켜줍니다</a:t>
            </a:r>
            <a:endParaRPr lang="en-US" sz="14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5C3A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이미 올렸다면 커밋을 지워도 소용없습니다. 키를 비활성화하고 재발급합니다</a:t>
            </a:r>
            <a:endParaRPr lang="en-US" sz="14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5C3A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제출 전에 스크린샷에 키가 찍히지 않았는지 눈으로 확인합니다</a:t>
            </a:r>
            <a:endParaRPr lang="en-US" sz="14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5C3A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M2 시연에서 키 노출이 확인되면 2점 감점하고 즉시 재발급을 지시합니다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66928" y="64373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클라우드 MLOps · 8주차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0710367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그럼 값은 어디에 두나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987552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가지를 배웁니다. 실무에서는 둘을 같이 씁니다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66928" y="2281428"/>
            <a:ext cx="5364328" cy="3090672"/>
          </a:xfrm>
          <a:prstGeom prst="roundRect">
            <a:avLst>
              <a:gd name="adj" fmla="val 2367"/>
            </a:avLst>
          </a:prstGeom>
          <a:solidFill>
            <a:srgbClr val="EDF5F6"/>
          </a:solidFill>
          <a:ln w="12700">
            <a:solidFill>
              <a:srgbClr val="C9DAD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" y="2281428"/>
            <a:ext cx="5364328" cy="566928"/>
          </a:xfrm>
          <a:prstGeom prst="roundRect">
            <a:avLst>
              <a:gd name="adj" fmla="val 12903"/>
            </a:avLst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786384" y="2281428"/>
            <a:ext cx="49254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환경변수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3012948"/>
            <a:ext cx="4852264" cy="2176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C2B3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코드에는 값 대신 이름만 쓴다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C2B3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값은 compose의 environment로 주입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C2B3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저장소에 값이 남지 않게 하는 장치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C2B3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비밀이 아닌 설정값도 이렇게 뺀다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C2B3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서버에 들어가면 보인다 — 금고는 아니다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60440" y="2281428"/>
            <a:ext cx="5364328" cy="3090672"/>
          </a:xfrm>
          <a:prstGeom prst="roundRect">
            <a:avLst>
              <a:gd name="adj" fmla="val 2367"/>
            </a:avLst>
          </a:prstGeom>
          <a:solidFill>
            <a:srgbClr val="EDF5F6"/>
          </a:solidFill>
          <a:ln w="12700">
            <a:solidFill>
              <a:srgbClr val="C9DAD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260440" y="2281428"/>
            <a:ext cx="5364328" cy="566928"/>
          </a:xfrm>
          <a:prstGeom prst="roundRect">
            <a:avLst>
              <a:gd name="adj" fmla="val 12903"/>
            </a:avLst>
          </a:prstGeom>
          <a:solidFill>
            <a:srgbClr val="1D4E5B"/>
          </a:solidFill>
          <a:ln/>
        </p:spPr>
      </p:sp>
      <p:sp>
        <p:nvSpPr>
          <p:cNvPr id="10" name="Text 8"/>
          <p:cNvSpPr/>
          <p:nvPr/>
        </p:nvSpPr>
        <p:spPr>
          <a:xfrm>
            <a:off x="6479896" y="2281428"/>
            <a:ext cx="49254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IAM 역할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516472" y="3012948"/>
            <a:ext cx="4852264" cy="2176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C2B3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EC2 인스턴스 자체에 신분을 붙인다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C2B3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코드가 키를 아예 가지지 않는다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C2B3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boto3가 임시 자격증명을 받아온다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C2B3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키가 없으면 유출될 것도 없다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C2B3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AWS 안에서는 이쪽이 정답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66928" y="64373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클라우드 MLOps · 8주차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710367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332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58368"/>
            <a:ext cx="1105783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붙이는 화면은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66928" y="1417320"/>
            <a:ext cx="464429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0" b="1" dirty="0">
                <a:solidFill>
                  <a:srgbClr val="02C39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통합 테스트</a:t>
            </a:r>
            <a:endParaRPr lang="en-US" sz="7800" dirty="0"/>
          </a:p>
        </p:txBody>
      </p:sp>
      <p:sp>
        <p:nvSpPr>
          <p:cNvPr id="4" name="Text 2"/>
          <p:cNvSpPr/>
          <p:nvPr/>
        </p:nvSpPr>
        <p:spPr>
          <a:xfrm>
            <a:off x="5432377" y="1417320"/>
            <a:ext cx="619239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A8C6C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예쁜 장식이 아니라 전 구간이 살아 있다는 증거입니다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66928" y="3429000"/>
            <a:ext cx="11057839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300"/>
              </a:spcAft>
              <a:buSzPct val="100000"/>
              <a:buChar char="•"/>
            </a:pPr>
            <a:r>
              <a:rPr lang="en-US" sz="1500" dirty="0">
                <a:solidFill>
                  <a:srgbClr val="C9DDE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버튼을 눌러 숫자가 나왔다면 전처리·모델·API·컨테이너·네트워크가 전부 살아 있다는 뜻</a:t>
            </a:r>
            <a:endParaRPr lang="en-US" sz="1500" dirty="0"/>
          </a:p>
          <a:p>
            <a:pPr marL="342900" indent="-342900">
              <a:spcAft>
                <a:spcPts val="1300"/>
              </a:spcAft>
              <a:buSzPct val="100000"/>
              <a:buChar char="•"/>
            </a:pPr>
            <a:r>
              <a:rPr lang="en-US" sz="1500" dirty="0">
                <a:solidFill>
                  <a:srgbClr val="C9DDE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3주간 쌓은 실험 20건보다 심사자가 5분 동안 보는 것은 결국 화면 하나</a:t>
            </a:r>
            <a:endParaRPr lang="en-US" sz="1500" dirty="0"/>
          </a:p>
          <a:p>
            <a:pPr marL="342900" indent="-342900">
              <a:spcAft>
                <a:spcPts val="1300"/>
              </a:spcAft>
              <a:buSzPct val="100000"/>
              <a:buChar char="•"/>
            </a:pPr>
            <a:r>
              <a:rPr lang="en-US" sz="1500" dirty="0">
                <a:solidFill>
                  <a:srgbClr val="C9DDE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Streamlit은 파이썬만으로 화면을 만드는 도구. HTML도 CSS도 자바스크립트도 필요 없다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왜 상자를 둘로 나누나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987552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역할이 다르면 상자를 나눈다 — 오늘 배우는 설계 원칙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66928" y="1536192"/>
            <a:ext cx="310896" cy="31089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5" name="Text 3"/>
          <p:cNvSpPr/>
          <p:nvPr/>
        </p:nvSpPr>
        <p:spPr>
          <a:xfrm>
            <a:off x="566928" y="153619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24128" y="1499616"/>
            <a:ext cx="595634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컨테이너는 두 개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1024128" y="1883664"/>
            <a:ext cx="5956347" cy="7155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api는 예측, ui는 화면. UI가 API를 부릅니다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66928" y="2708910"/>
            <a:ext cx="310896" cy="31089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9" name="Text 7"/>
          <p:cNvSpPr/>
          <p:nvPr/>
        </p:nvSpPr>
        <p:spPr>
          <a:xfrm>
            <a:off x="566928" y="270891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24128" y="2672334"/>
            <a:ext cx="595634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장애가 번지지 않는다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1024128" y="3056382"/>
            <a:ext cx="5956347" cy="7155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화면이 죽어도 API는 계속 살아 있습니다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66928" y="3881628"/>
            <a:ext cx="310896" cy="31089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3" name="Text 11"/>
          <p:cNvSpPr/>
          <p:nvPr/>
        </p:nvSpPr>
        <p:spPr>
          <a:xfrm>
            <a:off x="566928" y="38816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24128" y="3845052"/>
            <a:ext cx="595634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수정 주기가 다르다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1024128" y="4229100"/>
            <a:ext cx="5956347" cy="7155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화면은 자주 고치고 모델은 가끔 바꿉니다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66928" y="5054346"/>
            <a:ext cx="310896" cy="31089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7" name="Text 15"/>
          <p:cNvSpPr/>
          <p:nvPr/>
        </p:nvSpPr>
        <p:spPr>
          <a:xfrm>
            <a:off x="566928" y="505434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24128" y="5017770"/>
            <a:ext cx="595634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다른 곳에서 재사용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1024128" y="5401818"/>
            <a:ext cx="5956347" cy="7155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모바일 앱이 붙어도 API는 그대로 씁니다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7300515" y="2647188"/>
            <a:ext cx="4324252" cy="2313432"/>
          </a:xfrm>
          <a:prstGeom prst="roundRect">
            <a:avLst>
              <a:gd name="adj" fmla="val 3162"/>
            </a:avLst>
          </a:prstGeom>
          <a:solidFill>
            <a:srgbClr val="EDF5F6"/>
          </a:solidFill>
          <a:ln w="12700">
            <a:solidFill>
              <a:srgbClr val="C9DAD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74835" y="2866644"/>
            <a:ext cx="37756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280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시연 원칙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7574835" y="3342132"/>
            <a:ext cx="3775612" cy="1399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C2B3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현장에서 처음 누르지 않는다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C2B3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리허설 한 번은 필수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C2B3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휴대폰으로 30초 녹화 백업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566928" y="64373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클라우드 MLOps · 8주차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0710367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332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487168"/>
            <a:ext cx="1005840" cy="100584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2487168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892808" y="2432304"/>
            <a:ext cx="8686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실습 A — ECR pull 하고 화면 붙이기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1892808" y="3163824"/>
            <a:ext cx="8686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C2C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50분 · 다 함께 따라합니다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실습 A 수행 순서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987552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단계씩. 안 되면 바로 손 드세요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66928" y="1481328"/>
            <a:ext cx="11057839" cy="810158"/>
          </a:xfrm>
          <a:prstGeom prst="roundRect">
            <a:avLst>
              <a:gd name="adj" fmla="val 6772"/>
            </a:avLst>
          </a:prstGeom>
          <a:solidFill>
            <a:srgbClr val="EDF5F6"/>
          </a:solidFill>
          <a:ln w="9525">
            <a:solidFill>
              <a:srgbClr val="C9DAD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86384" y="1694383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786384" y="1694383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371600" y="1609344"/>
            <a:ext cx="996055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작업 폴더와 변수 설정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1371600" y="1975104"/>
            <a:ext cx="9960559" cy="2798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~/bike-demo를 만들고 계정 ID·리전·저장소 이름을 변수로 잡습니다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66928" y="2419502"/>
            <a:ext cx="11057839" cy="810158"/>
          </a:xfrm>
          <a:prstGeom prst="roundRect">
            <a:avLst>
              <a:gd name="adj" fmla="val 6772"/>
            </a:avLst>
          </a:prstGeom>
          <a:solidFill>
            <a:srgbClr val="F7FAFB"/>
          </a:solidFill>
          <a:ln w="9525">
            <a:solidFill>
              <a:srgbClr val="C9DAD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86384" y="2632558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1" name="Text 9"/>
          <p:cNvSpPr/>
          <p:nvPr/>
        </p:nvSpPr>
        <p:spPr>
          <a:xfrm>
            <a:off x="786384" y="263255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371600" y="2547518"/>
            <a:ext cx="996055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ECR 로그인 후 API 이미지 pull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1371600" y="2913278"/>
            <a:ext cx="9960559" cy="2798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지난주 올린 이미지를 EC2로 내려받습니다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66928" y="3357677"/>
            <a:ext cx="11057839" cy="810158"/>
          </a:xfrm>
          <a:prstGeom prst="roundRect">
            <a:avLst>
              <a:gd name="adj" fmla="val 6772"/>
            </a:avLst>
          </a:prstGeom>
          <a:solidFill>
            <a:srgbClr val="EDF5F6"/>
          </a:solidFill>
          <a:ln w="9525">
            <a:solidFill>
              <a:srgbClr val="C9DAD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86384" y="3570732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6" name="Text 14"/>
          <p:cNvSpPr/>
          <p:nvPr/>
        </p:nvSpPr>
        <p:spPr>
          <a:xfrm>
            <a:off x="786384" y="35707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371600" y="3485693"/>
            <a:ext cx="996055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Streamlit 화면과 Dockerfile 작성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1371600" y="3851453"/>
            <a:ext cx="9960559" cy="2798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server.address 값을 빠뜨리면 밖에서 절대 안 붙습니다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66928" y="4295851"/>
            <a:ext cx="11057839" cy="810158"/>
          </a:xfrm>
          <a:prstGeom prst="roundRect">
            <a:avLst>
              <a:gd name="adj" fmla="val 6772"/>
            </a:avLst>
          </a:prstGeom>
          <a:solidFill>
            <a:srgbClr val="F7FAFB"/>
          </a:solidFill>
          <a:ln w="9525">
            <a:solidFill>
              <a:srgbClr val="C9DAD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86384" y="4508906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1" name="Text 19"/>
          <p:cNvSpPr/>
          <p:nvPr/>
        </p:nvSpPr>
        <p:spPr>
          <a:xfrm>
            <a:off x="786384" y="450890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371600" y="4423867"/>
            <a:ext cx="996055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UI 이미지 빌드해서 ECR에 push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1371600" y="4789627"/>
            <a:ext cx="9960559" cy="2798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build 다음 tag, 그다음 push 순서입니다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566928" y="5234026"/>
            <a:ext cx="11057839" cy="810158"/>
          </a:xfrm>
          <a:prstGeom prst="roundRect">
            <a:avLst>
              <a:gd name="adj" fmla="val 6772"/>
            </a:avLst>
          </a:prstGeom>
          <a:solidFill>
            <a:srgbClr val="EDF5F6"/>
          </a:solidFill>
          <a:ln w="9525">
            <a:solidFill>
              <a:srgbClr val="C9DAD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86384" y="5447081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6" name="Text 24"/>
          <p:cNvSpPr/>
          <p:nvPr/>
        </p:nvSpPr>
        <p:spPr>
          <a:xfrm>
            <a:off x="786384" y="5447081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371600" y="5362042"/>
            <a:ext cx="996055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compose로 둘 다 띄우고 8501 개방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1371600" y="5727802"/>
            <a:ext cx="9960559" cy="2798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브라우저에서 퍼블릭IP 콜론 8501로 접속 확인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566928" y="64373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클라우드 MLOps · 8주차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0710367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실습 A 명령 (1/2) — 변수와 ECR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987552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학번 자리는 본인 학번으로 바꾸고 꺾쇠는 지웁니다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66928" y="1481328"/>
            <a:ext cx="11057839" cy="4325112"/>
          </a:xfrm>
          <a:prstGeom prst="roundRect">
            <a:avLst>
              <a:gd name="adj" fmla="val 1480"/>
            </a:avLst>
          </a:prstGeom>
          <a:solidFill>
            <a:srgbClr val="0F262C"/>
          </a:solidFill>
          <a:ln/>
        </p:spPr>
      </p:sp>
      <p:sp>
        <p:nvSpPr>
          <p:cNvPr id="5" name="Text 3"/>
          <p:cNvSpPr/>
          <p:nvPr/>
        </p:nvSpPr>
        <p:spPr>
          <a:xfrm>
            <a:off x="10253167" y="1591056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E93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bash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877824" y="1719072"/>
            <a:ext cx="10436047" cy="3867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1. 작업 폴더와 변수 (세션마다 한 번씩 다시 해야 한다)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mkdir -p ~/bike-demo/ui &amp;&amp; cd ~/bike-demo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 ACCOUNT_ID=$(aws sts get-caller-identity \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--query Account --output text)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 REGION=ap-northeast-2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 API_REPO=mlops-2026-&lt;학번&gt;/bike-api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 UI_REPO=mlops-2026-&lt;학번&gt;/bike-ui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2. ECR 로그인 (토큰은 12시간 뒤 만료된다)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aws ecr get-login-password --region $REGION \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| docker login --username AWS --password-stdin \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$ACCOUNT_ID.dkr.ecr.$REGION.amazonaws.com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3. 지난주 올린 API 이미지를 EC2로 내려받기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pull $ACCOUNT_ID.dkr.ecr.$REGION.amazonaws.com/$API_REPO:v1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images | grep bike-api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66928" y="5916168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pull 성공 표시가 나오고 docker images 목록에 보이면 다음으로 넘어갑니다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66928" y="64373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클라우드 MLOps · 8주차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710367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docker-compose.yml — 두 상자를 한 파일로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987552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파일이 11주차 자동 배포의 배포 대상이 됩니다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66928" y="1481328"/>
            <a:ext cx="11057839" cy="4325112"/>
          </a:xfrm>
          <a:prstGeom prst="roundRect">
            <a:avLst>
              <a:gd name="adj" fmla="val 1480"/>
            </a:avLst>
          </a:prstGeom>
          <a:solidFill>
            <a:srgbClr val="0F262C"/>
          </a:solidFill>
          <a:ln/>
        </p:spPr>
      </p:sp>
      <p:sp>
        <p:nvSpPr>
          <p:cNvPr id="5" name="Text 3"/>
          <p:cNvSpPr/>
          <p:nvPr/>
        </p:nvSpPr>
        <p:spPr>
          <a:xfrm>
            <a:off x="10253167" y="1591056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E93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yaml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877824" y="1719072"/>
            <a:ext cx="10436047" cy="3867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services: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api: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image: ${ACCOUNT_ID}.dkr.ecr.${REGION}.amazonaws.com/${API_REPO}:v1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container_name: bike-api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ports: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 "8000:8000"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restart: unless-stopped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ui: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image: ${ACCOUNT_ID}.dkr.ecr.${REGION}.amazonaws.com/${UI_REPO}:v1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container_name: bike-ui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ports: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 "8501:8501"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environment: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# api 는 위 서비스 이름. compose 안에서 곧 호스트명이 된다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API_URL: "http://api:8000"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depends_on: [api]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66928" y="5916168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달러 기호 값들은 같은 폴더의 .env 파일에서 읽습니다. .env는 절대 git에 올리지 않습니다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66928" y="64373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클라우드 MLOps · 8주차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710367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보안그룹에서 8501 열기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987552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콘솔 작업입니다. 명령어가 아닙니다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66928" y="1536192"/>
            <a:ext cx="310896" cy="31089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5" name="Text 3"/>
          <p:cNvSpPr/>
          <p:nvPr/>
        </p:nvSpPr>
        <p:spPr>
          <a:xfrm>
            <a:off x="566928" y="153619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24128" y="1499616"/>
            <a:ext cx="595634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EC2 인스턴스 · 보안 탭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1024128" y="1883664"/>
            <a:ext cx="5956347" cy="7155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보안 그룹을 눌러 인바운드 규칙 편집으로 갑니다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66928" y="2708910"/>
            <a:ext cx="310896" cy="31089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9" name="Text 7"/>
          <p:cNvSpPr/>
          <p:nvPr/>
        </p:nvSpPr>
        <p:spPr>
          <a:xfrm>
            <a:off x="566928" y="270891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24128" y="2672334"/>
            <a:ext cx="595634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사용자 지정 TCP · 8501 · 내 IP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1024128" y="3056382"/>
            <a:ext cx="5956347" cy="7155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설명란에 mlops-ui-8501 이라고 적어둡니다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66928" y="3881628"/>
            <a:ext cx="310896" cy="31089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3" name="Text 11"/>
          <p:cNvSpPr/>
          <p:nvPr/>
        </p:nvSpPr>
        <p:spPr>
          <a:xfrm>
            <a:off x="566928" y="38816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24128" y="3845052"/>
            <a:ext cx="595634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8000번도 같은 방식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1024128" y="4229100"/>
            <a:ext cx="5956347" cy="7155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7주차에 이미 추가했다면 그대로 둡니다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66928" y="5054346"/>
            <a:ext cx="310896" cy="31089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7" name="Text 15"/>
          <p:cNvSpPr/>
          <p:nvPr/>
        </p:nvSpPr>
        <p:spPr>
          <a:xfrm>
            <a:off x="566928" y="505434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24128" y="5017770"/>
            <a:ext cx="595634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시연 직전에만 소스를 넓힌다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1024128" y="5401818"/>
            <a:ext cx="5956347" cy="7155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끝나면 반드시 내 IP로 되돌립니다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7300515" y="2647188"/>
            <a:ext cx="4324252" cy="2313432"/>
          </a:xfrm>
          <a:prstGeom prst="roundRect">
            <a:avLst>
              <a:gd name="adj" fmla="val 3162"/>
            </a:avLst>
          </a:prstGeom>
          <a:solidFill>
            <a:srgbClr val="EDF5F6"/>
          </a:solidFill>
          <a:ln w="12700">
            <a:solidFill>
              <a:srgbClr val="C9DAD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74835" y="2866644"/>
            <a:ext cx="37756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280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접속 주소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7574835" y="3342132"/>
            <a:ext cx="3775612" cy="1399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C2B3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퍼블릭IP 콜론 8501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C2B3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IP는 재시작하면 바뀐다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C2B3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발표 자료에 IP를 박지 말 것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566928" y="64373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클라우드 MLOps · 8주차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0710367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실습 A 명령 (2/2) — 실행과 확인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987552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여기까지 오면 오늘 결과물 두 개가 나옵니다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66928" y="1481328"/>
            <a:ext cx="11057839" cy="4325112"/>
          </a:xfrm>
          <a:prstGeom prst="roundRect">
            <a:avLst>
              <a:gd name="adj" fmla="val 1480"/>
            </a:avLst>
          </a:prstGeom>
          <a:solidFill>
            <a:srgbClr val="0F262C"/>
          </a:solidFill>
          <a:ln/>
        </p:spPr>
      </p:sp>
      <p:sp>
        <p:nvSpPr>
          <p:cNvPr id="5" name="Text 3"/>
          <p:cNvSpPr/>
          <p:nvPr/>
        </p:nvSpPr>
        <p:spPr>
          <a:xfrm>
            <a:off x="10253167" y="1591056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E93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bash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877824" y="1719072"/>
            <a:ext cx="10436047" cy="3867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4. 두 컨테이너를 한 번에 띄운다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cd ~/bike-demo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compose up -d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compose ps      # api 와 ui 가 모두 Up 이어야 한다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5. 내 서버의 퍼블릭 IP 확인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curl -s http://169.254.169.254/latest/meta-data/public-ipv4; echo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6. 브라우저 주소창에 퍼블릭IP 와 포트 8501 을 입력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7. 안 될 때 먼저 보는 것 두 줄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compose logs --tail 50 ui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exec -it bike-ui env | grep API_URL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8. 수업이 끝나면 반드시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compose down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66928" y="5916168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제출용 스크린샷은 주소창과 예측 결과 숫자가 한 화면에 보이게 찍습니다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66928" y="64373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클라우드 MLOps · 8주차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710367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여기서 막히면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987552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실습 A에서 실제로 터지는 문제</a:t>
            </a:r>
            <a:endParaRPr lang="en-US" sz="13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481328"/>
          <a:ext cx="11057839" cy="914400"/>
        </p:xfrm>
        <a:graphic>
          <a:graphicData uri="http://schemas.openxmlformats.org/drawingml/2006/table">
            <a:tbl>
              <a:tblPr/>
              <a:tblGrid>
                <a:gridCol w="3474720"/>
                <a:gridCol w="3291840"/>
                <a:gridCol w="4288536"/>
              </a:tblGrid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증상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원인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조치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브라우저가 계속 돌기만 한다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보안그룹 인바운드 8501 미개방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규칙 추가. 이미 있으면 소스의 내 IP를 다시 눌러 갱신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6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연결이 거부됨 오류가 뜬다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Streamlit이 0.0.0.0에 안 붙음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Dockerfile CMD의 server.address 확인 후 ui 재빌드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화면은 뜨는데 API 호출 실패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API_URL을 localhost로 둠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compose의 API_URL을 서비스 이름 api 주소로 고친다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6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pull access denied 가 뜬다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ECR 로그인 토큰 만료 (12시간)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get-login-password 명령을 다시 실행한다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docker daemon 권한 거부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사용자가 docker 그룹에 없음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usermod 로 그룹 추가 후 로그아웃했다 재접속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6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어제 되던 주소가 오늘 안 된다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중지 후 시작으로 퍼블릭 IP 변경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새 IP를 확인해 다시 접속. 자료에 IP를 박지 말 것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66928" y="64373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클라우드 MLOps · 8주차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0710367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332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487168"/>
            <a:ext cx="1005840" cy="100584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2487168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892808" y="2432304"/>
            <a:ext cx="8686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실습 B — 팀 중간 통합과 시연 준비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1892808" y="3163824"/>
            <a:ext cx="8686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C2C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75분 · 팀 단위로 앉습니다</a:t>
            </a:r>
            <a:endParaRPr lang="en-US" sz="1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실습 B 수행 항목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987552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새로 만드는 것은 없습니다. 데이터만 갈아 끼웁니다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66928" y="1481328"/>
            <a:ext cx="11057839" cy="810158"/>
          </a:xfrm>
          <a:prstGeom prst="roundRect">
            <a:avLst>
              <a:gd name="adj" fmla="val 6772"/>
            </a:avLst>
          </a:prstGeom>
          <a:solidFill>
            <a:srgbClr val="EDF5F6"/>
          </a:solidFill>
          <a:ln w="9525">
            <a:solidFill>
              <a:srgbClr val="C9DAD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86384" y="1694383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786384" y="1694383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371600" y="1609344"/>
            <a:ext cx="996055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역할 분담 (5분)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1371600" y="1975104"/>
            <a:ext cx="9960559" cy="2798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서빙·모델·문서·데이터 담당을 정하고 각자 산출물을 확인합니다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66928" y="2419502"/>
            <a:ext cx="11057839" cy="810158"/>
          </a:xfrm>
          <a:prstGeom prst="roundRect">
            <a:avLst>
              <a:gd name="adj" fmla="val 6772"/>
            </a:avLst>
          </a:prstGeom>
          <a:solidFill>
            <a:srgbClr val="F7FAFB"/>
          </a:solidFill>
          <a:ln w="9525">
            <a:solidFill>
              <a:srgbClr val="C9DAD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86384" y="2632558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1" name="Text 9"/>
          <p:cNvSpPr/>
          <p:nvPr/>
        </p:nvSpPr>
        <p:spPr>
          <a:xfrm>
            <a:off x="786384" y="263255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371600" y="2547518"/>
            <a:ext cx="996055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팀 이미지로 교체 (25분)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1371600" y="2913278"/>
            <a:ext cx="9960559" cy="2798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compose의 image 주소와 화면 입력 위젯을 팀 것으로 바꿉니다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66928" y="3357677"/>
            <a:ext cx="11057839" cy="810158"/>
          </a:xfrm>
          <a:prstGeom prst="roundRect">
            <a:avLst>
              <a:gd name="adj" fmla="val 6772"/>
            </a:avLst>
          </a:prstGeom>
          <a:solidFill>
            <a:srgbClr val="EDF5F6"/>
          </a:solidFill>
          <a:ln w="9525">
            <a:solidFill>
              <a:srgbClr val="C9DAD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86384" y="3570732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6" name="Text 14"/>
          <p:cNvSpPr/>
          <p:nvPr/>
        </p:nvSpPr>
        <p:spPr>
          <a:xfrm>
            <a:off x="786384" y="35707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371600" y="3485693"/>
            <a:ext cx="996055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통합 테스트 (20분)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1371600" y="3851453"/>
            <a:ext cx="9960559" cy="2798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준비한 요청 3건을 순서대로 넣고 상태코드를 기록합니다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66928" y="4295851"/>
            <a:ext cx="11057839" cy="810158"/>
          </a:xfrm>
          <a:prstGeom prst="roundRect">
            <a:avLst>
              <a:gd name="adj" fmla="val 6772"/>
            </a:avLst>
          </a:prstGeom>
          <a:solidFill>
            <a:srgbClr val="F7FAFB"/>
          </a:solidFill>
          <a:ln w="9525">
            <a:solidFill>
              <a:srgbClr val="C9DAD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86384" y="4508906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1" name="Text 19"/>
          <p:cNvSpPr/>
          <p:nvPr/>
        </p:nvSpPr>
        <p:spPr>
          <a:xfrm>
            <a:off x="786384" y="450890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371600" y="4423867"/>
            <a:ext cx="996055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시연용 보안그룹 임시 개방 (5분)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1371600" y="4789627"/>
            <a:ext cx="9960559" cy="2798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8501에 강사 노트북 IP를 추가하고 끝나면 되돌립니다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566928" y="5234026"/>
            <a:ext cx="11057839" cy="810158"/>
          </a:xfrm>
          <a:prstGeom prst="roundRect">
            <a:avLst>
              <a:gd name="adj" fmla="val 6772"/>
            </a:avLst>
          </a:prstGeom>
          <a:solidFill>
            <a:srgbClr val="EDF5F6"/>
          </a:solidFill>
          <a:ln w="9525">
            <a:solidFill>
              <a:srgbClr val="C9DAD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86384" y="5447081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6" name="Text 24"/>
          <p:cNvSpPr/>
          <p:nvPr/>
        </p:nvSpPr>
        <p:spPr>
          <a:xfrm>
            <a:off x="786384" y="5447081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371600" y="5362042"/>
            <a:ext cx="996055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리허설과 백업 녹화 (20분)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1371600" y="5727802"/>
            <a:ext cx="9960559" cy="2798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타이머를 켜고 실제로 한 번 돌려본 뒤 30초 녹화합니다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566928" y="64373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클라우드 MLOps · 8주차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0710367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5분 시연 대본 틀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987552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코드 설명은 하지 않습니다. 아무도 안 궁금해합니다</a:t>
            </a:r>
            <a:endParaRPr lang="en-US" sz="13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481328"/>
          <a:ext cx="11057839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5943600"/>
                <a:gridCol w="2916936"/>
              </a:tblGrid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시간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말할 것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화면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0:00–1:00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우리 문제 — 누가 어떤 상황에서 무엇을 몰라 곤란한가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슬라이드 1장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6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1:00–2:00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데이터 — 출처, 기간, 행수, 입력과 예측 대상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슬라이드 1장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2:00–3:00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베이스라인 성능 — 지표 이름과 숫자, 비교 기준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슬라이드 1장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6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3:00–4:30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라이브 시연 — 값 입력, 예측 실행, 결과 설명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데모 화면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4:30–5:00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남은 계획 한 문장 + 질문 받기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없음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6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66928" y="64373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클라우드 MLOps · 8주차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0710367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오늘의 체크포인트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987552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제출하면 오늘 수업 완료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66928" y="2144268"/>
            <a:ext cx="11057839" cy="722376"/>
          </a:xfrm>
          <a:prstGeom prst="roundRect">
            <a:avLst>
              <a:gd name="adj" fmla="val 7595"/>
            </a:avLst>
          </a:prstGeom>
          <a:solidFill>
            <a:srgbClr val="EDF5F6"/>
          </a:solidFill>
          <a:ln w="9525">
            <a:solidFill>
              <a:srgbClr val="C9DAD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4672" y="2350008"/>
            <a:ext cx="310896" cy="310896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905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80160" y="2244852"/>
            <a:ext cx="1005199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데모 화면 스크린샷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1280160" y="2601468"/>
            <a:ext cx="1005199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주소창의 퍼블릭IP 콜론 8501과 예측 결과가 한 화면에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66928" y="2985516"/>
            <a:ext cx="11057839" cy="722376"/>
          </a:xfrm>
          <a:prstGeom prst="roundRect">
            <a:avLst>
              <a:gd name="adj" fmla="val 7595"/>
            </a:avLst>
          </a:prstGeom>
          <a:solidFill>
            <a:srgbClr val="F7FAFB"/>
          </a:solidFill>
          <a:ln w="9525">
            <a:solidFill>
              <a:srgbClr val="C9DAD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04672" y="3191256"/>
            <a:ext cx="310896" cy="310896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9050">
            <a:solidFill>
              <a:srgbClr val="02809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80160" y="3086100"/>
            <a:ext cx="1005199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docker compose ps 결과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1280160" y="3442716"/>
            <a:ext cx="1005199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api와 ui 두 컨테이너가 Up 인 화면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66928" y="3826764"/>
            <a:ext cx="11057839" cy="722376"/>
          </a:xfrm>
          <a:prstGeom prst="roundRect">
            <a:avLst>
              <a:gd name="adj" fmla="val 7595"/>
            </a:avLst>
          </a:prstGeom>
          <a:solidFill>
            <a:srgbClr val="EDF5F6"/>
          </a:solidFill>
          <a:ln w="9525">
            <a:solidFill>
              <a:srgbClr val="C9DAD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04672" y="4032504"/>
            <a:ext cx="310896" cy="310896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9050">
            <a:solidFill>
              <a:srgbClr val="02809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80160" y="3927348"/>
            <a:ext cx="1005199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통합 테스트 기록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1280160" y="4283964"/>
            <a:ext cx="1005199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요청 3건의 상태코드와 응답 요약. 텍스트도 가능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66928" y="4668012"/>
            <a:ext cx="11057839" cy="722376"/>
          </a:xfrm>
          <a:prstGeom prst="roundRect">
            <a:avLst>
              <a:gd name="adj" fmla="val 7595"/>
            </a:avLst>
          </a:prstGeom>
          <a:solidFill>
            <a:srgbClr val="F7FAFB"/>
          </a:solidFill>
          <a:ln w="9525">
            <a:solidFill>
              <a:srgbClr val="C9DAD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04672" y="4873752"/>
            <a:ext cx="310896" cy="310896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9050">
            <a:solidFill>
              <a:srgbClr val="02809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280160" y="4768596"/>
            <a:ext cx="1005199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M2 중간 시연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1280160" y="5125212"/>
            <a:ext cx="1005199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팀 단위 현장 발표 5분. 15점은 별도 배점입니다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566928" y="64373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클라우드 MLOps · 8주차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0710367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332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487168"/>
            <a:ext cx="1005840" cy="100584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2487168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892808" y="2432304"/>
            <a:ext cx="8686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M2 중간 시연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1892808" y="3163824"/>
            <a:ext cx="8686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C2C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40분 · 팀별 5분 엄수</a:t>
            </a:r>
            <a:endParaRPr lang="en-US" sz="14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시연 진행 방식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987552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타이머를 켭니다. 4분 30초에 1차 벨, 5분에 종료 벨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66928" y="1481328"/>
            <a:ext cx="11057839" cy="810158"/>
          </a:xfrm>
          <a:prstGeom prst="roundRect">
            <a:avLst>
              <a:gd name="adj" fmla="val 6772"/>
            </a:avLst>
          </a:prstGeom>
          <a:solidFill>
            <a:srgbClr val="EDF5F6"/>
          </a:solidFill>
          <a:ln w="9525">
            <a:solidFill>
              <a:srgbClr val="C9DAD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86384" y="1694383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786384" y="1694383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371600" y="1609344"/>
            <a:ext cx="996055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팀별 5분, 순서는 추첨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1371600" y="1975104"/>
            <a:ext cx="9960559" cy="2798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발표석 노트북을 프로젝터에 미리 연결해 둡니다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66928" y="2419502"/>
            <a:ext cx="11057839" cy="810158"/>
          </a:xfrm>
          <a:prstGeom prst="roundRect">
            <a:avLst>
              <a:gd name="adj" fmla="val 6772"/>
            </a:avLst>
          </a:prstGeom>
          <a:solidFill>
            <a:srgbClr val="F7FAFB"/>
          </a:solidFill>
          <a:ln w="9525">
            <a:solidFill>
              <a:srgbClr val="C9DAD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86384" y="2632558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1" name="Text 9"/>
          <p:cNvSpPr/>
          <p:nvPr/>
        </p:nvSpPr>
        <p:spPr>
          <a:xfrm>
            <a:off x="786384" y="263255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371600" y="2547518"/>
            <a:ext cx="996055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1분 · 문제 정의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1371600" y="2913278"/>
            <a:ext cx="9960559" cy="2798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 어떤 상황에서 무엇을 몰라 곤란한지 한 문장으로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66928" y="3357677"/>
            <a:ext cx="11057839" cy="810158"/>
          </a:xfrm>
          <a:prstGeom prst="roundRect">
            <a:avLst>
              <a:gd name="adj" fmla="val 6772"/>
            </a:avLst>
          </a:prstGeom>
          <a:solidFill>
            <a:srgbClr val="EDF5F6"/>
          </a:solidFill>
          <a:ln w="9525">
            <a:solidFill>
              <a:srgbClr val="C9DAD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86384" y="3570732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6" name="Text 14"/>
          <p:cNvSpPr/>
          <p:nvPr/>
        </p:nvSpPr>
        <p:spPr>
          <a:xfrm>
            <a:off x="786384" y="35707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371600" y="3485693"/>
            <a:ext cx="996055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1분 · 베이스라인 성능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1371600" y="3851453"/>
            <a:ext cx="9960559" cy="2798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지표 이름과 수치, 그리고 무엇과 비교한 숫자인지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66928" y="4295851"/>
            <a:ext cx="11057839" cy="810158"/>
          </a:xfrm>
          <a:prstGeom prst="roundRect">
            <a:avLst>
              <a:gd name="adj" fmla="val 6772"/>
            </a:avLst>
          </a:prstGeom>
          <a:solidFill>
            <a:srgbClr val="F7FAFB"/>
          </a:solidFill>
          <a:ln w="9525">
            <a:solidFill>
              <a:srgbClr val="C9DAD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86384" y="4508906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1" name="Text 19"/>
          <p:cNvSpPr/>
          <p:nvPr/>
        </p:nvSpPr>
        <p:spPr>
          <a:xfrm>
            <a:off x="786384" y="450890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371600" y="4423867"/>
            <a:ext cx="996055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1분 30초 · API 호출 시연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1371600" y="4789627"/>
            <a:ext cx="9960559" cy="2798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관중 앞에서 값을 넣고 예측이 실행되는 것을 보입니다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566928" y="5234026"/>
            <a:ext cx="11057839" cy="810158"/>
          </a:xfrm>
          <a:prstGeom prst="roundRect">
            <a:avLst>
              <a:gd name="adj" fmla="val 6772"/>
            </a:avLst>
          </a:prstGeom>
          <a:solidFill>
            <a:srgbClr val="EDF5F6"/>
          </a:solidFill>
          <a:ln w="9525">
            <a:solidFill>
              <a:srgbClr val="C9DAD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86384" y="5447081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6" name="Text 24"/>
          <p:cNvSpPr/>
          <p:nvPr/>
        </p:nvSpPr>
        <p:spPr>
          <a:xfrm>
            <a:off x="786384" y="5447081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371600" y="5362042"/>
            <a:ext cx="996055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실패하면 30초 안에 백업 영상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1371600" y="5727802"/>
            <a:ext cx="9960559" cy="2798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백업이 있으면 감점 없음. 없으면 시연 항목 0점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566928" y="64373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클라우드 MLOps · 8주차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0710367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M2 중간 시연 평가표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987552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총 15점 · 평가자는 강사와 타 팀 전원</a:t>
            </a:r>
            <a:endParaRPr lang="en-US" sz="13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481328"/>
          <a:ext cx="11057839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5943600"/>
                <a:gridCol w="2002536"/>
              </a:tblGrid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평가 항목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세부 기준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배점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문제 정의의 명확성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누가 무엇을 몰라 곤란한지 한 문장. 입출력이 명확한가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6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데이터 근거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출처·기간·규모를 밝혔는가. 개인정보 확인했는가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베이스라인 성능 제시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지표 이름과 수치, 비교 기준이 있는가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6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동작하는 API 호출 시연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라이브로 요청과 응답이 관중 앞에서 확인되었는가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배포 상태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외부 접속 가능한 주소인가. 로컬 실행만이면 1점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6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발표 운영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5분을 지켰는가. 코드 나열이 아닌 결과 중심인가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66928" y="64373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클라우드 MLOps · 8주차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0710367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24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정리 · 다음 주 예고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66928" y="1280160"/>
            <a:ext cx="310896" cy="31089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12801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024128" y="1243584"/>
            <a:ext cx="595634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1024128" y="1627632"/>
            <a:ext cx="5956347" cy="7795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 세 개, 비밀 정보는 코드 밖으로, 화면은 통합 테스트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66928" y="2516886"/>
            <a:ext cx="310896" cy="31089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8" name="Text 6"/>
          <p:cNvSpPr/>
          <p:nvPr/>
        </p:nvSpPr>
        <p:spPr>
          <a:xfrm>
            <a:off x="566928" y="251688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24128" y="2480310"/>
            <a:ext cx="595634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리소스 정리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1024128" y="2864358"/>
            <a:ext cx="5956347" cy="7795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compose down, 임시 개방 규칙 삭제, EC2 중지까지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66928" y="3753612"/>
            <a:ext cx="310896" cy="31089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2" name="Text 10"/>
          <p:cNvSpPr/>
          <p:nvPr/>
        </p:nvSpPr>
        <p:spPr>
          <a:xfrm>
            <a:off x="566928" y="37536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24128" y="3717036"/>
            <a:ext cx="595634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주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1024128" y="4101084"/>
            <a:ext cx="5956347" cy="7795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AWS가 대신 다 해주는 SageMaker를 써 봅니다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66928" y="4990338"/>
            <a:ext cx="310896" cy="31089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6" name="Text 14"/>
          <p:cNvSpPr/>
          <p:nvPr/>
        </p:nvSpPr>
        <p:spPr>
          <a:xfrm>
            <a:off x="566928" y="499033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24128" y="4953762"/>
            <a:ext cx="595634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주 경고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1024128" y="5337810"/>
            <a:ext cx="5956347" cy="7795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실제로 돈이 나가는 회차입니다. 지각하면 삭제 절차를 놓칩니다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7300515" y="2519172"/>
            <a:ext cx="4324252" cy="2313432"/>
          </a:xfrm>
          <a:prstGeom prst="roundRect">
            <a:avLst>
              <a:gd name="adj" fmla="val 3162"/>
            </a:avLst>
          </a:prstGeom>
          <a:solidFill>
            <a:srgbClr val="EDF5F6"/>
          </a:solidFill>
          <a:ln w="12700">
            <a:solidFill>
              <a:srgbClr val="C9DAD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574835" y="2738628"/>
            <a:ext cx="37756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280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과제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7574835" y="3214116"/>
            <a:ext cx="3775612" cy="1399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C2B3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compose와 ui 폴더 팀 저장소 커밋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C2B3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.env 대신 견본 파일만 올리기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C2B3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시연 지적사항 이슈 3개 등록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566928" y="64373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클라우드 MLOps · 8주차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0710367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클라우드 MLOps 8주차 — 배포와 데모 화면 · 중간 점검 (M2)</dc:title>
  <dc:subject>PptxGenJS Presentation</dc:subject>
  <dc:creator>연성대학교</dc:creator>
  <cp:lastModifiedBy>연성대학교</cp:lastModifiedBy>
  <cp:revision>1</cp:revision>
  <dcterms:created xsi:type="dcterms:W3CDTF">2026-08-02T15:22:44Z</dcterms:created>
  <dcterms:modified xsi:type="dcterms:W3CDTF">2026-08-02T15:22:44Z</dcterms:modified>
</cp:coreProperties>
</file>