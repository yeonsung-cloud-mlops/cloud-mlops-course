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지난주까지 여러분의 API는 숫자를 하나 뱉습니다. 오늘은 그 숫자에 말을 붙입니다. 숫자를 만드는 건 여러분 모델이고, 그 숫자를 사람 말로 바꾸는 건 오늘 배울 생성형 AI입니다.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오늘은 상시 과금 리소스가 없어서 지난주보다 마음이 편한 회차입니다. 다만 반복문 안에서 호출하는 사고가 나면 순식간에 수천 번이 나가니 그 부분만 조심하자고 시작하면서 말해두세요.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학생들에게 실제로 물어보세요. 따릉이 운영 담당자가 이 숫자만 보고 할 수 있는 일이 사실 별로 없습니다. 오늘 우리는 여기에 이유와 조치를 붙인 문장을 만들어 붙입니다.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파운데이션 모델은 특정 업무가 아니라 언어 자체를 학습했다는 점을 강조하세요. 그래서 요약도 번역도 분류도 코드 작성도 학습을 다시 시키지 않고 합니다. 이게 일하는 방식이 바뀐 지점입니다.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잘 설명해줘와 3문장 이내로 숫자를 인용해서 설명해줘의 차이를 실습 A에서 눈으로 보게 됩니다. API로 쓰려면 출력이 예측 가능해야 하니 형식 지정은 선택이 아니라 필수라고 말해주세요.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프롬프트에 참고 자료라며 문서 10페이지를 붙이면 매 호출마다 그 10페이지가 청구된다는 것을 강조하세요. 프롬프트를 짧고 정확하게 쓰는 것은 품질 문제이자 비용 문제입니다.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요즘 현업에서 가장 흔한 실수가 일단 LLM에 넣어보자입니다. 계산기로 될 일에 슈퍼컴퓨터를 부르는 겁니다. 그리고 오늘 우리가 하는 건 둘을 합치는 것입니다. 숫자는 우리 모델, 그 숫자의 해석은 LLM입니다.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환각 방어법 두 가지를 오늘 실습 프롬프트에 실제로 넣을 겁니다. 제공된 정보에만 근거하라, 그리고 모르면 모른다고 답하라. 개인정보 위반은 교육계획서상 프로젝트 0점이니 농담이 아니라고 말해주세요.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원칙 하나만 지켜도 방금 본 네 가지 위험의 대부분이 사라집니다. 대출 심사에서 같은 사람에게 오늘은 승인 내일은 거절이 나오면 큰일 난다는 예를 들어주면 바로 이해합니다.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1번과 2번에서 문제가 생기면 다음으로 넘어가지 말고 바로 부르라고 하세요. 액세스 미승인은 학생이 해결할 수 없습니다. 승인이 안 된 학생에게는 미리 준비한 대체 모델 ID를 주고 진행시킵니다.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1번 결과가 아무것도 안 나오면 모델 액세스나 IAM 권한 문제입니다. 그리고 3번을 꼭 같이 쳐보게 하세요. 액세스 키를 적지 않아도 EC2에 붙은 역할로 호출된다는 것을 지난주 이론과 연결해 확인시키는 단계입니다.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모델 ID를 임의로 바꾸면 대부분 ValidationException이 납니다. 배포 목록의 값을 복사해 붙이라고 두 번 말하세요. 그리고 시스템 프롬프트 자리를 비워둔 이유는 뒤 실험에서 있고 없고를 비교하기 위해서입니다.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C에서 강남역 인근이 붐비기 때문 같은 근거 없는 문장이 줄어드는 것을 학생들이 직접 확인하게 하세요. 이게 이론에서 말한 환각 방어가 실제로 작동하는 모습입니다.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토큰 수를 매번 출력하는 습관을 들이게 하세요. 짧은 한국어와 짧은 영어를 한 번씩 넣어보면 한국어가 토큰을 더 많이 쓴다는 것을 숫자로 확인할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반복문 안에 LLM 호출이 들어간 첫 코드입니다. range(3)이 왜 필요한지 반드시 짚고 넘어가세요. 이 제한이 없으면 실수 한 번에 수천 번 호출이 나갑니다.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줄이 오늘 최다 사고입니다. 액세스 상태가 요청 가능이나 진행 중이면 즉시 알리라고 하세요. 승인이 바로 나지 않을 수 있으니 대체 모델 ID를 미리 준비해 두고 그걸로 진행시킵니다.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욕심내지 말라고 미리 말하세요. 85분 안에 새 기능을 두 개 만들려다 하나도 못 끝내는 팀이 나옵니다. 그리고 오늘 감점 항목 세 가지를 다시 읽어주세요. 개인정보, max_tokens, 반복 건수 제한입니다.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시스템 프롬프트 세 줄이 이론 2-4의 환각 방어를 그대로 코드로 옮긴 것입니다. 그리고 마지막 주석이 순회 지도의 1순위 항목입니다. 데이터프레임을 통째로 붙인 팀이 반드시 나옵니다.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번째가 특히 중요합니다. 데이터프레임을 한 행씩 돌면서 호출하는 코드를 발견하면 즉시 중단시키고 건수 제한을 넣게 하세요. 그리고 네 번째는 운영 원칙이니 그 자리에서 이유를 설명해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컨테이너 안에서 Bedrock을 부를 때 EC2에 붙은 IAM 역할이 그대로 상속된다는 점을 짚어주세요. docker run 에 액세스 키를 넣는 팀이 나오면 그 자리에서 지우게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번째가 NCS 평가와 바로 연결됩니다. 우리 팀은 숫자 예측에는 전통 ML을, 결과 설명에는 LLM을 썼다는 식으로 근거를 들어 쓰라고 안내하세요. 최종 발표에서 그대로 쓸 수 있는 문장입니다.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Bedrock은 상시 과금 리소스가 없어 지울 게 없지만, 반복 호출 스크립트를 백그라운드에 켜두지 않았는지는 확인시키세요. 그리고 커밋을 안 해오면 다음 주에 할 게 없다고 두 번 말하세요.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754880" cy="4754880"/>
          </a:xfrm>
          <a:prstGeom prst="ellipse">
            <a:avLst/>
          </a:prstGeom>
          <a:solidFill>
            <a:srgbClr val="1D4E5B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206240"/>
            <a:ext cx="2834640" cy="2834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23444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400" b="1" dirty="0">
                <a:solidFill>
                  <a:srgbClr val="02C3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pPr indent="0" marL="0">
              <a:buNone/>
            </a:pPr>
            <a:r>
              <a:rPr lang="en-US" sz="2200" dirty="0">
                <a:solidFill>
                  <a:srgbClr val="6FD9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주차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566928" y="2697480"/>
            <a:ext cx="8595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생성형 AI 활용 (Amazon Bedrock)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66928" y="41605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6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Bedrock을 boto3로 호출해 예측 결과를 설명하는 엔드포인트를 팀 API에 하나 붙일 수 있다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5230368"/>
            <a:ext cx="8412480" cy="18288"/>
          </a:xfrm>
          <a:prstGeom prst="rect">
            <a:avLst/>
          </a:prstGeom>
          <a:solidFill>
            <a:srgbClr val="2E5A66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539496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3A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연성대학교 · 230분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572414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93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NCS  2001070106_18v1.3   2001070206_18v1.1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흐름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230분 · 10분 조기 종료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481328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도입 — 복습 퀴즈 + 오늘 만들 결과물 데모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887407" y="1481328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10분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2084832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2084832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이론 — 파운데이션 모델, 토큰과 과금, LLM vs 전통 ML, 한계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887407" y="2084832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45분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2688336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" y="2688336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휴식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887407" y="2688336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10분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66928" y="3291840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EDF5F6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" y="3291840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A — 모델 액세스 확인, 첫 호출, 프롬프트 실험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887407" y="3291840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50분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3895344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3895344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휴식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887407" y="3895344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10분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66928" y="4498848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EDF5F6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096" y="4498848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B — 팀 API에 LLM 보조 기능 하나 붙이기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887407" y="4498848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85분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66928" y="5102352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" y="5102352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체크포인트 제출 + 다음 주 예고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887407" y="5102352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15분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66928" y="5705856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8096" y="5705856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리소스 정리 타임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887407" y="5705856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10주차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487168"/>
            <a:ext cx="1005840" cy="10058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48716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92808" y="2432304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이론 — 생성형 AI를 어디에 쓰나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892808" y="3163824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2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45분 · 오늘의 핵심은 판단 기준입니다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88720" y="1920240"/>
            <a:ext cx="981425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187.4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숫자를 보고 무엇을 할까요?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1188720" y="4846320"/>
            <a:ext cx="9814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2C3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많은 건지 적은 건지, 왜 그런지 모릅니다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모델과 파운데이션 모델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만들어진 방식이 근본적으로 다릅니다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536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4128" y="1499616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모델은 기능공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24128" y="1883664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자격증 하나. 그 일은 정확하지만 그 일만 합니다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474366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47436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24128" y="2437790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파운데이션 모델은 신입사원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24128" y="2821838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책을 아주 많이 읽었지만 우리 회사 사정은 모릅니다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412541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341254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24128" y="3375965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쓰는 법이 다르다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024128" y="3760013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재학습이 아니라 프롬프트, 즉 지시문을 씁니다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4350715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435071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4128" y="4314139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Bedrock은 창구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024128" y="4698187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회사의 모델을 AWS API 하나로 골라 씁니다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5288890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528889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24128" y="5252314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서버가 없다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024128" y="5636362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부른 만큼만 냅니다. 안 부르면 0원입니다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300515" y="2647188"/>
            <a:ext cx="4324252" cy="2313432"/>
          </a:xfrm>
          <a:prstGeom prst="roundRect">
            <a:avLst>
              <a:gd name="adj" fmla="val 3162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74835" y="2866644"/>
            <a:ext cx="37756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지난주와 비교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574835" y="3342132"/>
            <a:ext cx="3775612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엔드포인트는 켜두면 과금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Bedrock은 호출할 때만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지울 리소스가 없습니다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10주차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프롬프트의 네 요소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실무 프롬프트는 형식 지정이 절반을 차지합니다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869948"/>
            <a:ext cx="5382616" cy="1810512"/>
          </a:xfrm>
          <a:prstGeom prst="roundRect">
            <a:avLst>
              <a:gd name="adj" fmla="val 4040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0769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076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35024" y="2089404"/>
            <a:ext cx="4376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35024" y="2601468"/>
            <a:ext cx="43310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너는 따릉이 운영 담당자를 돕는 데이터 분석 어시스턴트다. 모델이 어떤 입장에서 말할지를 정해줍니다.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42152" y="1869948"/>
            <a:ext cx="5382616" cy="1810512"/>
          </a:xfrm>
          <a:prstGeom prst="roundRect">
            <a:avLst>
              <a:gd name="adj" fmla="val 4040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8184" y="210769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498184" y="21076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10248" y="2089404"/>
            <a:ext cx="4376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맥락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10248" y="2601468"/>
            <a:ext cx="43310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18시 대여량을 187건으로 예측했고 같은 시간대 평균은 150건이다. 판단 근거가 될 사실을 줍니다.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973068"/>
            <a:ext cx="5382616" cy="1810512"/>
          </a:xfrm>
          <a:prstGeom prst="roundRect">
            <a:avLst>
              <a:gd name="adj" fmla="val 4040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21081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2108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35024" y="4192524"/>
            <a:ext cx="4376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지시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35024" y="4704588"/>
            <a:ext cx="43310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이런 예측이 나왔는지 입력 조건에 근거해 설명하라. 시킬 일을 동사로 분명히 적습니다.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42152" y="3973068"/>
            <a:ext cx="5382616" cy="1810512"/>
          </a:xfrm>
          <a:prstGeom prst="roundRect">
            <a:avLst>
              <a:gd name="adj" fmla="val 4040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8184" y="421081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6498184" y="42108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10248" y="4192524"/>
            <a:ext cx="4376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형식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10248" y="4704588"/>
            <a:ext cx="43310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3문장 이내, 존댓말, 숫자는 반드시 포함. 형식을 안 정하면 매번 길이가 달라져 화면이 깨집니다.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10주차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58368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회차 1인 예상 비용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1417320"/>
            <a:ext cx="46442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0" b="1" dirty="0">
                <a:solidFill>
                  <a:srgbClr val="02C3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$1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5432377" y="1417320"/>
            <a:ext cx="619239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8C6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시간당이 아니라 토큰당 과금입니다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66928" y="3429000"/>
            <a:ext cx="11057839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C9DD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토큰은 글자를 쪼갠 단위. 한국어는 대체로 글자 수에 가까워 영어보다 많이 씁니다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C9DD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토큰과 출력 토큰의 값이 다릅니다. 보통 출력이 3~5배 비쌉니다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C9DD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 프롬프트는 매 호출마다 청구됩니다. 100번 부르면 100배입니다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C9DD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max_tokens 300은 안전벨트입니다. 모델이 폭주하는 것을 막습니다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 LLM, 언제 전통 ML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시험에서든 면접에서든 답할 수 있어야 하는 부분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11057839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06240"/>
                <a:gridCol w="4471416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판단 축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전통 ML을 쓴다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LLM을 쓴다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출력 형태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숫자, 확률, 범주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자유로운 문장, 요약, 설명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정답 존재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실제값과 비교해 채점할 수 있다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정답이 하나로 정해지지 않는다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 양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라벨 데이터가 수백~수천 건 있다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데이터가 거의 없다. 예시 몇 개로 시작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결정성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같은 입력에 항상 같은 출력이 필요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표현이 매번 달라져도 무방하다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속도와 비용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밀리초, 사실상 무료. 대량 처리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1~3초, 호출당 과금. 건수가 적다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역할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모델 자체가 결과물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다른 모델의 결과를 사람에게 설명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10주차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생성형 AI의 네 가지 한계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모르고 서비스에 붙이면 사고가 납니다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869948"/>
            <a:ext cx="5382616" cy="1810512"/>
          </a:xfrm>
          <a:prstGeom prst="roundRect">
            <a:avLst>
              <a:gd name="adj" fmla="val 4040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0769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076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35024" y="2089404"/>
            <a:ext cx="4376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환각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35024" y="2601468"/>
            <a:ext cx="43310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모르는 것을 모른다고 하지 않고 그럴듯하게 지어냅니다. 문장이 자연스러워서 사람이 믿는다는 게 가장 위험합니다.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42152" y="1869948"/>
            <a:ext cx="5382616" cy="1810512"/>
          </a:xfrm>
          <a:prstGeom prst="roundRect">
            <a:avLst>
              <a:gd name="adj" fmla="val 4040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8184" y="210769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498184" y="21076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10248" y="2089404"/>
            <a:ext cx="4376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비결정성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10248" y="2601468"/>
            <a:ext cx="43310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질문에 매번 다른 답이 옵니다. temperature를 낮춰도 완전히 같아지지는 않아 자동 테스트가 어렵습니다.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973068"/>
            <a:ext cx="5382616" cy="1810512"/>
          </a:xfrm>
          <a:prstGeom prst="roundRect">
            <a:avLst>
              <a:gd name="adj" fmla="val 4040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21081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2108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35024" y="4192524"/>
            <a:ext cx="4376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비용과 지연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35024" y="4704588"/>
            <a:ext cx="43310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1~3초가 걸립니다. 화면에 생성 중 표시가 없으면 사용자가 계속 눌러 호출도 요금도 몇 배가 됩니다.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42152" y="3973068"/>
            <a:ext cx="5382616" cy="1810512"/>
          </a:xfrm>
          <a:prstGeom prst="roundRect">
            <a:avLst>
              <a:gd name="adj" fmla="val 4040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8184" y="421081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6498184" y="42108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10248" y="4192524"/>
            <a:ext cx="4376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개인정보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10248" y="4704588"/>
            <a:ext cx="43310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실명, 연락처, 주민번호, 주소를 프롬프트에 넣지 않습니다. 필요한 필드만 골라 넣는 습관을 들이세요.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10주차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88720" y="1920240"/>
            <a:ext cx="981425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LLM은 결정하는 자리가 아니라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설명하는 자리에 둡니다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1188720" y="4846320"/>
            <a:ext cx="9814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2C3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판단은 우리 모델이, 전달은 LLM이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487168"/>
            <a:ext cx="1005840" cy="10058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48716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92808" y="2432304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A — Bedrock 첫 호출과 프롬프트 실험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892808" y="3163824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2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50분 · 다 함께 따라합니다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A 수행 순서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ID는 오늘 배포한 목록의 값을 그대로 복사해 씁니다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694383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69438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1609344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액세스 상태 확인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371600" y="1975104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콘솔 Bedrock의 Model access 에서 Access granted 인지 봅니다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2419502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263255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" y="263255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71600" y="2547518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 가능한 모델 목록 확인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371600" y="2913278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 리전에서 실제로 부를 수 있는 모델인지 CLI로 확인합니다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357677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" y="357073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" y="35707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71600" y="3485693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파이썬 환경 준비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371600" y="3851453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boto3 1.35 이상이어야 Converse API를 쓸 수 있습니다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4295851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6384" y="4508906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45089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71600" y="4423867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호출과 토큰 수 확인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371600" y="4789627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 문장과 함께 입력·출력 토큰이 찍히는지 봅니다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5234026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6384" y="5447081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786384" y="544708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71600" y="5362042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프롬프트를 바꿔가며 실험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371600" y="5727802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형식 지정의 효과와 temperature의 효과를 기록합니다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10주차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액세스와 환경 준비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EC2 또는 CloudShell에서 실행합니다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4325112"/>
          </a:xfrm>
          <a:prstGeom prst="roundRect">
            <a:avLst>
              <a:gd name="adj" fmla="val 1480"/>
            </a:avLst>
          </a:prstGeom>
          <a:solidFill>
            <a:srgbClr val="0F262C"/>
          </a:solidFill>
          <a:ln/>
        </p:spPr>
      </p:sp>
      <p:sp>
        <p:nvSpPr>
          <p:cNvPr id="5" name="Text 3"/>
          <p:cNvSpPr/>
          <p:nvPr/>
        </p:nvSpPr>
        <p:spPr>
          <a:xfrm>
            <a:off x="10253167" y="15910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93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77824" y="1719072"/>
            <a:ext cx="10436047" cy="386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서울 리전에서 실제로 부를 수 있는 모델 목록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bedrock list-foundation-models --region ap-northeast-2 \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--query "modelSummaries[].[modelId,providerName]" \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--output table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파이썬 환경 준비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-p ~/bedrock-lab &amp;&amp; cd ~/bedrock-lab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python3 -m venv .venv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.venv/bin/activate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--upgrade pip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"boto3&gt;=1.35.0"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-c "import boto3; print(boto3.__version__)"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내가 누구로 호출하는지 확인 (키는 쓰지 않는다)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sts get-caller-identity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591616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목록이 비어 있거나 권한 오류가 나면 다음으로 넘어가지 말고 손을 드세요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10주차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Bedrock 호출 함수 (1/2)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bedrock_demo.py · Converse API로 통일해서 씁니다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4325112"/>
          </a:xfrm>
          <a:prstGeom prst="roundRect">
            <a:avLst>
              <a:gd name="adj" fmla="val 1480"/>
            </a:avLst>
          </a:prstGeom>
          <a:solidFill>
            <a:srgbClr val="0F262C"/>
          </a:solidFill>
          <a:ln/>
        </p:spPr>
      </p:sp>
      <p:sp>
        <p:nvSpPr>
          <p:cNvPr id="5" name="Text 3"/>
          <p:cNvSpPr/>
          <p:nvPr/>
        </p:nvSpPr>
        <p:spPr>
          <a:xfrm>
            <a:off x="10253167" y="15910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93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77824" y="1719072"/>
            <a:ext cx="10436047" cy="386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boto3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REGION = "ap-northeast-2"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모델 ID는 수업 당일 배포 목록의 값을 그대로 복사해 넣는다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MODEL_ID = "&lt;수업당일_배포_모델ID&gt;"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= boto3.client("bedrock-runtime", region_name=REGION)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generate(prompt, system="", max_tokens=300, temperature=0.2):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"""프롬프트를 받아 생성 결과와 토큰 사용량을 함께 돌려준다."""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kwargs = {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"modelId": MODEL_ID,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"messages": [{"role": "user", "content": [{"text": prompt}]}],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"inferenceConfig": {"maxTokens": max_tokens,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"temperature": temperature},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system: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kwargs["system"] = [{"text": system}]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591616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max_tokens 기본값 300이 비용 안전벨트입니다. 지우지 마세요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10주차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 실험 · 세 가지를 비교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내용을 세 방식으로 부르고 출력을 나란히 봅니다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536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4128" y="1499616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 · 지시만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24128" y="1883664"/>
            <a:ext cx="5956347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예측을 설명해 주세요. 길고 산만한 답이 옵니다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708910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708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24128" y="2672334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 · 형식 추가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24128" y="3056382"/>
            <a:ext cx="5956347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3문장 이내 존댓말로 숫자를 인용해 설명해 주세요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881628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38816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24128" y="3845052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 · 역할과 제약까지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024128" y="4229100"/>
            <a:ext cx="5956347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제공된 정보에만 근거하라, 모르면 모른다고 답하라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5054346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505434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4128" y="5017770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기록할 것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024128" y="5401818"/>
            <a:ext cx="5956347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출력의 토큰 수, 문장 수, 지어낸 것 같은 문장 유무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300515" y="2647188"/>
            <a:ext cx="4324252" cy="2313432"/>
          </a:xfrm>
          <a:prstGeom prst="roundRect">
            <a:avLst>
              <a:gd name="adj" fmla="val 3162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74835" y="2866644"/>
            <a:ext cx="37756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 포인트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574835" y="3342132"/>
            <a:ext cx="3775612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B에서 길이가 짧아진다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C에서 추측이 줄어든다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토큰이 곧 비용이다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10주차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Bedrock 호출 함수 (2/2)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응답에서 텍스트와 토큰 수를 함께 꺼냅니다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4325112"/>
          </a:xfrm>
          <a:prstGeom prst="roundRect">
            <a:avLst>
              <a:gd name="adj" fmla="val 1480"/>
            </a:avLst>
          </a:prstGeom>
          <a:solidFill>
            <a:srgbClr val="0F262C"/>
          </a:solidFill>
          <a:ln/>
        </p:spPr>
      </p:sp>
      <p:sp>
        <p:nvSpPr>
          <p:cNvPr id="5" name="Text 3"/>
          <p:cNvSpPr/>
          <p:nvPr/>
        </p:nvSpPr>
        <p:spPr>
          <a:xfrm>
            <a:off x="10253167" y="15910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93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77824" y="1719072"/>
            <a:ext cx="10436047" cy="386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 = client.converse(**kwargs)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"text": resp["output"]["message"]["content"][0]["text"],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"input_tokens": resp["usage"]["inputTokens"],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"output_tokens": resp["usage"]["outputTokens"],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"stop_reason": resp["stopReason"],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__name__ == "__main__":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 = generate("따릉이를 두 문장으로 소개해 주세요.")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print(out["text"])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print("입력 토큰:", out["input_tokens"],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"/ 출력 토큰:", out["output_tokens"])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print("종료 이유:", out["stop_reason"])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591616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종료 이유가 end_turn 이면 정상, max_tokens 면 답이 중간에 잘린 것입니다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10주차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비결정성을 직접 확인하기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exp2.py · 같은 프롬프트를 온도만 바꿔 세 번씩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4325112"/>
          </a:xfrm>
          <a:prstGeom prst="roundRect">
            <a:avLst>
              <a:gd name="adj" fmla="val 1480"/>
            </a:avLst>
          </a:prstGeom>
          <a:solidFill>
            <a:srgbClr val="0F262C"/>
          </a:solidFill>
          <a:ln/>
        </p:spPr>
      </p:sp>
      <p:sp>
        <p:nvSpPr>
          <p:cNvPr id="5" name="Text 3"/>
          <p:cNvSpPr/>
          <p:nvPr/>
        </p:nvSpPr>
        <p:spPr>
          <a:xfrm>
            <a:off x="10253167" y="15910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93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77824" y="1719072"/>
            <a:ext cx="10436047" cy="386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bedrock_demo import generate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= ("따릉이 대여량이 평소보다 25% 많을 것으로 예상됩니다. "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"운영 담당자에게 보낼 안내 문구를 한 문장으로 작성하세요.")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temp in (0.0, 0.7):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print("=" * 50)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print("temperature =", temp)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range(3):     # 반복 횟수를 3으로 제한 (비용 안전장치)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 = generate(PROMPT, max_tokens=120, temperature=temp)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  [{i+1}] {r['text'].strip()}")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91616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온도 0.0은 세 번이 거의 같고 0.7은 표현이 눈에 띄게 달라집니다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10주차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여기서 막히면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A에서 실제로 터지는 문제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11057839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3291840"/>
                <a:gridCol w="4288536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증상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원인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조치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AccessDeniedException 모델 접근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모델 액세스 미승인. 오늘 1순위 사고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콘솔 Model access 확인. 강사가 승인해 둔 대체 모델로 교체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AccessDeniedException 권한 없음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IAM 정책에 Bedrock 권한 없음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강사 호출. 학생이 고칠 수 없는 문제입니다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모델 식별자가 잘못되었다는 오류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오타 또는 서울 리전에 없는 모델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목록 조회 결과에 있는 ID만 사용. 접두어까지 그대로 복사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답이 중간에 끊긴다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출력 토큰 한도 초과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max_tokens 를 늘리거나 3문장 이내 제약을 넣습니다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ThrottlingException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짧은 시간에 과다 호출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반복 횟수를 줄이고 호출 사이에 1초씩 쉽니다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converse 속성이 없다는 오류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boto3 버전이 낮음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boto3 를 1.35 이상으로 올린 뒤 다시 실행합니다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10주차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3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487168"/>
            <a:ext cx="1005840" cy="10058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48716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92808" y="2432304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B — 팀 API에 보조 기능 붙이기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892808" y="3163824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2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85분 · 만들 것은 엔드포인트 딱 하나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B 수행 순서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프로젝트가 아니라 7주차 코드에 함수 하나를 더 붙입니다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694383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69438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1609344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유형 선택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371600" y="1975104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예측형 팀은 explain, 텍스트형 팀은 summarize 하나만 만듭니다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2419502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263255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" y="263255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71600" y="2547518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Bedrock 권한 확인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371600" y="2913278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EC2에 붙은 역할로 호출되는지 확인. 키는 절대 적지 않습니다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357677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" y="357073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" y="35707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71600" y="3485693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llm.py 작성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371600" y="3851453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Bedrock 호출을 한 파일에 모으고 시스템 프롬프트를 정합니다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4295851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6384" y="4508906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45089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71600" y="4423867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엔드포인트와 스키마 추가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371600" y="4789627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응답에 토큰 수와 모델 ID를 함께 담아 돌려줍니다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5234026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6384" y="5447081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786384" y="544708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71600" y="5362042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호출 테스트 후 컨테이너 재빌드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371600" y="5727802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ID는 이미지에 굽지 말고 실행할 때 주입합니다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10주차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app/llm.py — 예측 결과를 설명하게 하기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환각 방어 문장이 시스템 프롬프트에 들어 있습니다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4325112"/>
          </a:xfrm>
          <a:prstGeom prst="roundRect">
            <a:avLst>
              <a:gd name="adj" fmla="val 1480"/>
            </a:avLst>
          </a:prstGeom>
          <a:solidFill>
            <a:srgbClr val="0F262C"/>
          </a:solidFill>
          <a:ln/>
        </p:spPr>
      </p:sp>
      <p:sp>
        <p:nvSpPr>
          <p:cNvPr id="5" name="Text 3"/>
          <p:cNvSpPr/>
          <p:nvPr/>
        </p:nvSpPr>
        <p:spPr>
          <a:xfrm>
            <a:off x="10253167" y="15910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93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77824" y="1719072"/>
            <a:ext cx="10436047" cy="386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boto3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REGION = os.getenv("AWS_REGION", "ap-northeast-2")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MODEL_ID = os.getenv("BEDROCK_MODEL_ID", "&lt;수업당일_배포_모델ID&gt;")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MAX_TOKENS = int(os.getenv("BEDROCK_MAX_TOKENS", "300"))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_client = boto3.client("bedrock-runtime", region_name=REGION)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SYSTEM_PROMPT = (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"당신은 공공자전거 운영 담당자를 돕는 데이터 분석 어시스턴트입니다. "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"반드시 아래에 주어진 수치에만 근거해 설명하고, 주어지지 않은 "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"사실은 추측하거나 지어내지 마세요. "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"판단할 수 없으면 주어진 정보로는 알 수 없습니다 라고 답하세요. "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"항상 한국어 존댓말로, 3문장 이내로 답하세요."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features 에는 예측에 쓴 값만 넣는다. 개인정보 필드는 호출 전에 제거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591616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ID도 최대 토큰도 코드에 박지 않고 환경변수로 받습니다. 8주차 이론의 적용입니다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10주차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반드시 지킬 세 가지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셋 다 감점 항목입니다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3931920"/>
          </a:xfrm>
          <a:prstGeom prst="roundRect">
            <a:avLst>
              <a:gd name="adj" fmla="val 1860"/>
            </a:avLst>
          </a:prstGeom>
          <a:solidFill>
            <a:srgbClr val="FCF1E6"/>
          </a:solidFill>
          <a:ln w="19050">
            <a:solidFill>
              <a:srgbClr val="D97A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" y="1773936"/>
            <a:ext cx="566928" cy="566928"/>
          </a:xfrm>
          <a:prstGeom prst="ellipse">
            <a:avLst/>
          </a:prstGeom>
          <a:solidFill>
            <a:srgbClr val="D97A2B"/>
          </a:solidFill>
          <a:ln/>
        </p:spPr>
      </p:sp>
      <p:sp>
        <p:nvSpPr>
          <p:cNvPr id="6" name="Text 4"/>
          <p:cNvSpPr/>
          <p:nvPr/>
        </p:nvSpPr>
        <p:spPr>
          <a:xfrm>
            <a:off x="877824" y="17739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591056" y="1755648"/>
            <a:ext cx="96862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4A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보조 기능이 본 기능을 죽이지 않게 만드는 것이 오늘의 설계 원칙입니다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24128" y="2505456"/>
            <a:ext cx="10143439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5C3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프롬프트에 개인정보를 넣지 않습니다. 필요한 필드만 골라 넣습니다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5C3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max_tokens 를 반드시 지정합니다. 우리 실습 기본값은 300입니다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5C3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반복문 안에서 부를 때는 건수를 코드로 제한합니다. 리뷰는 30건까지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5C3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Bedrock 호출이 실패해도 예측값은 돌려줍니다. 예외를 잡아 처리합니다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5C3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화면에는 생성 중 표시를 넣습니다. 중복 클릭이 곧 중복 과금입니다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10주차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호출 테스트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응답에 설명 문장과 토큰 수가 함께 나와야 합니다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4325112"/>
          </a:xfrm>
          <a:prstGeom prst="roundRect">
            <a:avLst>
              <a:gd name="adj" fmla="val 1480"/>
            </a:avLst>
          </a:prstGeom>
          <a:solidFill>
            <a:srgbClr val="0F262C"/>
          </a:solidFill>
          <a:ln/>
        </p:spPr>
      </p:sp>
      <p:sp>
        <p:nvSpPr>
          <p:cNvPr id="5" name="Text 3"/>
          <p:cNvSpPr/>
          <p:nvPr/>
        </p:nvSpPr>
        <p:spPr>
          <a:xfrm>
            <a:off x="10253167" y="15910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93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77824" y="1719072"/>
            <a:ext cx="10436047" cy="386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~/bike-api &amp;&amp; source .venv/bin/activate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"boto3&gt;=1.35.0"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BEDROCK_MODEL_ID="&lt;수업당일_배포_모델ID&gt;"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uvicorn app.main:app --host 0.0.0.0 --port 8000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다른 터미널에서 호출한다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-s -X POST http://localhost:8000/explain \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-H "Content-Type: application/json" \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-d '{"hour":18,"temperature":24.5,"humidity":55.0,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"windspeed":2.1,"weekday":2,"is_holiday":0,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"season":"summer"}' \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python3 -m json.tool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컨테이너로 실행할 때도 키를 넣지 않는다 (역할이 상속된다)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-d --name bike-api-v2 -p 8000:8000 \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-e BEDROCK_MODEL_ID="$BEDROCK_MODEL_ID" \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-e AWS_REGION=ap-northeast-2 bike-api:v2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591616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제출용 캡처는 한국어 설명과 입력·출력 토큰 수가 한 화면에 보이게 찍습니다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10주차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체크포인트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제출하면 오늘 수업 완료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2144268"/>
            <a:ext cx="11057839" cy="722376"/>
          </a:xfrm>
          <a:prstGeom prst="roundRect">
            <a:avLst>
              <a:gd name="adj" fmla="val 7595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35000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2244852"/>
            <a:ext cx="100519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 3종 비교 결과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280160" y="2601468"/>
            <a:ext cx="100519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A·B·C 출력과 각각의 토큰 수. 스크린샷 또는 텍스트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985516"/>
            <a:ext cx="11057839" cy="722376"/>
          </a:xfrm>
          <a:prstGeom prst="roundRect">
            <a:avLst>
              <a:gd name="adj" fmla="val 7595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" y="3191256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0160" y="3086100"/>
            <a:ext cx="100519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온도 0.0 대 0.7 비교 기록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280160" y="3442716"/>
            <a:ext cx="100519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3회씩 돌린 결과를 표로 정리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826764"/>
            <a:ext cx="11057839" cy="722376"/>
          </a:xfrm>
          <a:prstGeom prst="roundRect">
            <a:avLst>
              <a:gd name="adj" fmla="val 7595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" y="403250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0160" y="3927348"/>
            <a:ext cx="100519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API 호출 응답 캡처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280160" y="4283964"/>
            <a:ext cx="100519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 또는 요약 결과와 토큰 수가 함께 보일 것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4668012"/>
            <a:ext cx="11057839" cy="722376"/>
          </a:xfrm>
          <a:prstGeom prst="roundRect">
            <a:avLst>
              <a:gd name="adj" fmla="val 7595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" y="4873752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80160" y="4768596"/>
            <a:ext cx="100519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LLM과 전통 ML을 쓴 자리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280160" y="5125212"/>
            <a:ext cx="100519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팀이 어디에 무엇을 썼고 왜 그랬는지 3문장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10주차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 · 다음 주 예고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280160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280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24128" y="1243584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024128" y="1627632"/>
            <a:ext cx="5956347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파운데이션 모델은 재학습이 아니라 프롬프트로 씁니다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2269541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226954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24128" y="2232965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기억할 조합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024128" y="2617013"/>
            <a:ext cx="5956347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숫자는 우리 모델, 그 숫자의 설명은 LLM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3258922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325892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24128" y="3222346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 타임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024128" y="3606394"/>
            <a:ext cx="5956347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컨테이너와 uvicorn 종료, 지난주 SageMaker 잔여도 재확인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66928" y="4248302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42483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24128" y="4211726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주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024128" y="4595774"/>
            <a:ext cx="5956347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push 하면 알아서 배포되는 파이프라인을 만듭니다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5237683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523768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24128" y="5201107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주 준비물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1024128" y="5585155"/>
            <a:ext cx="5956347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코드가 팀 저장소에 올라가 있을 것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300515" y="2519172"/>
            <a:ext cx="4324252" cy="2313432"/>
          </a:xfrm>
          <a:prstGeom prst="roundRect">
            <a:avLst>
              <a:gd name="adj" fmla="val 3162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74835" y="2738628"/>
            <a:ext cx="37756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7574835" y="3214116"/>
            <a:ext cx="3775612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README에 호출 예시 추가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 개선 전후 기록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환각 유도 실험 해보기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10주차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클라우드 MLOps 10주차 — 생성형 AI 활용 (Amazon Bedrock)</dc:title>
  <dc:subject>PptxGenJS Presentation</dc:subject>
  <dc:creator>연성대학교</dc:creator>
  <cp:lastModifiedBy>연성대학교</cp:lastModifiedBy>
  <cp:revision>1</cp:revision>
  <dcterms:created xsi:type="dcterms:W3CDTF">2026-08-02T15:22:44Z</dcterms:created>
  <dcterms:modified xsi:type="dcterms:W3CDTF">2026-08-02T15:22:44Z</dcterms:modified>
</cp:coreProperties>
</file>