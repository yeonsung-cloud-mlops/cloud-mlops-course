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1787c1c4554bc7" /><Relationship Type="http://schemas.openxmlformats.org/officeDocument/2006/relationships/extended-properties" Target="/docProps/app.xml" Id="R70eb457e182d4fa6" /><Relationship Type="http://schemas.openxmlformats.org/officeDocument/2006/relationships/officeDocument" Target="/ppt/presentation.xml" Id="Rc5b3dbb777504f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b8372995094167"/>
  </p:sldMasterIdLst>
  <p:notesMasterIdLst>
    <p:notesMasterId xmlns:r="http://schemas.openxmlformats.org/officeDocument/2006/relationships" r:id="Rff96f9cfcb874746"/>
  </p:notesMasterIdLst>
  <p:sldIdLst>
    <p:sldId xmlns:r="http://schemas.openxmlformats.org/officeDocument/2006/relationships" id="256" r:id="R2eeea3c87e014f45"/>
    <p:sldId xmlns:r="http://schemas.openxmlformats.org/officeDocument/2006/relationships" id="257" r:id="R7547d166583c4e91"/>
    <p:sldId xmlns:r="http://schemas.openxmlformats.org/officeDocument/2006/relationships" id="258" r:id="R81437fe6ec314d49"/>
    <p:sldId xmlns:r="http://schemas.openxmlformats.org/officeDocument/2006/relationships" id="259" r:id="R001f8d85378b4c63"/>
    <p:sldId xmlns:r="http://schemas.openxmlformats.org/officeDocument/2006/relationships" id="260" r:id="R88870ef91b5c4176"/>
    <p:sldId xmlns:r="http://schemas.openxmlformats.org/officeDocument/2006/relationships" id="261" r:id="R6b806f8543c54249"/>
    <p:sldId xmlns:r="http://schemas.openxmlformats.org/officeDocument/2006/relationships" id="262" r:id="Rca860342a2964b3d"/>
    <p:sldId xmlns:r="http://schemas.openxmlformats.org/officeDocument/2006/relationships" id="263" r:id="R861789c705e94701"/>
    <p:sldId xmlns:r="http://schemas.openxmlformats.org/officeDocument/2006/relationships" id="264" r:id="Reff14ae927f9436f"/>
    <p:sldId xmlns:r="http://schemas.openxmlformats.org/officeDocument/2006/relationships" id="265" r:id="R1a68df9c936640ed"/>
    <p:sldId xmlns:r="http://schemas.openxmlformats.org/officeDocument/2006/relationships" id="266" r:id="R18b04215f9d4498b"/>
    <p:sldId xmlns:r="http://schemas.openxmlformats.org/officeDocument/2006/relationships" id="267" r:id="Rf061bf101eb84fda"/>
    <p:sldId xmlns:r="http://schemas.openxmlformats.org/officeDocument/2006/relationships" id="268" r:id="R11cefcf5a85746c3"/>
    <p:sldId xmlns:r="http://schemas.openxmlformats.org/officeDocument/2006/relationships" id="269" r:id="Rf7a4ad1c5b2c4bdb"/>
    <p:sldId xmlns:r="http://schemas.openxmlformats.org/officeDocument/2006/relationships" id="270" r:id="R40e8d731f9ef4032"/>
    <p:sldId xmlns:r="http://schemas.openxmlformats.org/officeDocument/2006/relationships" id="271" r:id="Re647cee49ad04cc9"/>
    <p:sldId xmlns:r="http://schemas.openxmlformats.org/officeDocument/2006/relationships" id="272" r:id="Rb1aecb4e37394ae8"/>
    <p:sldId xmlns:r="http://schemas.openxmlformats.org/officeDocument/2006/relationships" id="273" r:id="R383d0a9abc7c4ecc"/>
    <p:sldId xmlns:r="http://schemas.openxmlformats.org/officeDocument/2006/relationships" id="274" r:id="R19f7b2a07f4b4113"/>
    <p:sldId xmlns:r="http://schemas.openxmlformats.org/officeDocument/2006/relationships" id="275" r:id="Rc7c0f3c4d0d049d6"/>
    <p:sldId xmlns:r="http://schemas.openxmlformats.org/officeDocument/2006/relationships" id="276" r:id="R2ccb592d9b304ab6"/>
    <p:sldId xmlns:r="http://schemas.openxmlformats.org/officeDocument/2006/relationships" id="277" r:id="R32fd0c25eb1f4937"/>
    <p:sldId xmlns:r="http://schemas.openxmlformats.org/officeDocument/2006/relationships" id="278" r:id="R305701417e154518"/>
    <p:sldId xmlns:r="http://schemas.openxmlformats.org/officeDocument/2006/relationships" id="279" r:id="Rb0b2260b831e4094"/>
    <p:sldId xmlns:r="http://schemas.openxmlformats.org/officeDocument/2006/relationships" id="280" r:id="R8ae9cef566ff4737"/>
    <p:sldId xmlns:r="http://schemas.openxmlformats.org/officeDocument/2006/relationships" id="281" r:id="R37a6146400764947"/>
    <p:sldId xmlns:r="http://schemas.openxmlformats.org/officeDocument/2006/relationships" id="282" r:id="Ra10b7688e7b94c2f"/>
    <p:sldId xmlns:r="http://schemas.openxmlformats.org/officeDocument/2006/relationships" id="283" r:id="R7cd2a0eaa52c40d1"/>
    <p:sldId xmlns:r="http://schemas.openxmlformats.org/officeDocument/2006/relationships" id="284" r:id="Rfafba3dc869a4f47"/>
    <p:sldId xmlns:r="http://schemas.openxmlformats.org/officeDocument/2006/relationships" id="285" r:id="Rc8c0d252e2bf4730"/>
    <p:sldId xmlns:r="http://schemas.openxmlformats.org/officeDocument/2006/relationships" id="286" r:id="Rbfd0a060af6b40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7d2180218a4b4e" /><Relationship Type="http://schemas.openxmlformats.org/officeDocument/2006/relationships/slideMaster" Target="/ppt/slideMasters/slideMaster1.xml" Id="R35b8372995094167" /><Relationship Type="http://schemas.openxmlformats.org/officeDocument/2006/relationships/notesMaster" Target="/ppt/notesMasters/notesMaster1.xml" Id="Rff96f9cfcb874746" /><Relationship Type="http://schemas.openxmlformats.org/officeDocument/2006/relationships/presProps" Target="/ppt/presProps.xml" Id="R33b4018517d64c30" /><Relationship Type="http://schemas.openxmlformats.org/officeDocument/2006/relationships/viewProps" Target="/ppt/viewProps.xml" Id="R5d11d7fea4814365" /><Relationship Type="http://schemas.openxmlformats.org/officeDocument/2006/relationships/tableStyles" Target="/ppt/tableStyles.xml" Id="R646c69731f054853" /><Relationship Type="http://schemas.openxmlformats.org/officeDocument/2006/relationships/slide" Target="/ppt/slides/slide1.xml" Id="R2eeea3c87e014f45" /><Relationship Type="http://schemas.openxmlformats.org/officeDocument/2006/relationships/slide" Target="/ppt/slides/slide2.xml" Id="R7547d166583c4e91" /><Relationship Type="http://schemas.openxmlformats.org/officeDocument/2006/relationships/slide" Target="/ppt/slides/slide3.xml" Id="R81437fe6ec314d49" /><Relationship Type="http://schemas.openxmlformats.org/officeDocument/2006/relationships/slide" Target="/ppt/slides/slide4.xml" Id="R001f8d85378b4c63" /><Relationship Type="http://schemas.openxmlformats.org/officeDocument/2006/relationships/slide" Target="/ppt/slides/slide5.xml" Id="R88870ef91b5c4176" /><Relationship Type="http://schemas.openxmlformats.org/officeDocument/2006/relationships/slide" Target="/ppt/slides/slide6.xml" Id="R6b806f8543c54249" /><Relationship Type="http://schemas.openxmlformats.org/officeDocument/2006/relationships/slide" Target="/ppt/slides/slide7.xml" Id="Rca860342a2964b3d" /><Relationship Type="http://schemas.openxmlformats.org/officeDocument/2006/relationships/slide" Target="/ppt/slides/slide8.xml" Id="R861789c705e94701" /><Relationship Type="http://schemas.openxmlformats.org/officeDocument/2006/relationships/slide" Target="/ppt/slides/slide9.xml" Id="Reff14ae927f9436f" /><Relationship Type="http://schemas.openxmlformats.org/officeDocument/2006/relationships/slide" Target="/ppt/slides/slide10.xml" Id="R1a68df9c936640ed" /><Relationship Type="http://schemas.openxmlformats.org/officeDocument/2006/relationships/slide" Target="/ppt/slides/slide11.xml" Id="R18b04215f9d4498b" /><Relationship Type="http://schemas.openxmlformats.org/officeDocument/2006/relationships/slide" Target="/ppt/slides/slide12.xml" Id="Rf061bf101eb84fda" /><Relationship Type="http://schemas.openxmlformats.org/officeDocument/2006/relationships/slide" Target="/ppt/slides/slide13.xml" Id="R11cefcf5a85746c3" /><Relationship Type="http://schemas.openxmlformats.org/officeDocument/2006/relationships/slide" Target="/ppt/slides/slide14.xml" Id="Rf7a4ad1c5b2c4bdb" /><Relationship Type="http://schemas.openxmlformats.org/officeDocument/2006/relationships/slide" Target="/ppt/slides/slide15.xml" Id="R40e8d731f9ef4032" /><Relationship Type="http://schemas.openxmlformats.org/officeDocument/2006/relationships/slide" Target="/ppt/slides/slide16.xml" Id="Re647cee49ad04cc9" /><Relationship Type="http://schemas.openxmlformats.org/officeDocument/2006/relationships/slide" Target="/ppt/slides/slide17.xml" Id="Rb1aecb4e37394ae8" /><Relationship Type="http://schemas.openxmlformats.org/officeDocument/2006/relationships/slide" Target="/ppt/slides/slide18.xml" Id="R383d0a9abc7c4ecc" /><Relationship Type="http://schemas.openxmlformats.org/officeDocument/2006/relationships/slide" Target="/ppt/slides/slide19.xml" Id="R19f7b2a07f4b4113" /><Relationship Type="http://schemas.openxmlformats.org/officeDocument/2006/relationships/slide" Target="/ppt/slides/slide20.xml" Id="Rc7c0f3c4d0d049d6" /><Relationship Type="http://schemas.openxmlformats.org/officeDocument/2006/relationships/slide" Target="/ppt/slides/slide21.xml" Id="R2ccb592d9b304ab6" /><Relationship Type="http://schemas.openxmlformats.org/officeDocument/2006/relationships/slide" Target="/ppt/slides/slide22.xml" Id="R32fd0c25eb1f4937" /><Relationship Type="http://schemas.openxmlformats.org/officeDocument/2006/relationships/slide" Target="/ppt/slides/slide23.xml" Id="R305701417e154518" /><Relationship Type="http://schemas.openxmlformats.org/officeDocument/2006/relationships/slide" Target="/ppt/slides/slide24.xml" Id="Rb0b2260b831e4094" /><Relationship Type="http://schemas.openxmlformats.org/officeDocument/2006/relationships/slide" Target="/ppt/slides/slide25.xml" Id="R8ae9cef566ff4737" /><Relationship Type="http://schemas.openxmlformats.org/officeDocument/2006/relationships/slide" Target="/ppt/slides/slide26.xml" Id="R37a6146400764947" /><Relationship Type="http://schemas.openxmlformats.org/officeDocument/2006/relationships/slide" Target="/ppt/slides/slide27.xml" Id="Ra10b7688e7b94c2f" /><Relationship Type="http://schemas.openxmlformats.org/officeDocument/2006/relationships/slide" Target="/ppt/slides/slide28.xml" Id="R7cd2a0eaa52c40d1" /><Relationship Type="http://schemas.openxmlformats.org/officeDocument/2006/relationships/slide" Target="/ppt/slides/slide29.xml" Id="Rfafba3dc869a4f47" /><Relationship Type="http://schemas.openxmlformats.org/officeDocument/2006/relationships/slide" Target="/ppt/slides/slide30.xml" Id="Rc8c0d252e2bf4730" /><Relationship Type="http://schemas.openxmlformats.org/officeDocument/2006/relationships/slide" Target="/ppt/slides/slide31.xml" Id="Rbfd0a060af6b40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ce0645a4fc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d2314eb59414e" /><Relationship Type="http://schemas.openxmlformats.org/officeDocument/2006/relationships/notesMaster" Target="/ppt/notesMasters/notesMaster1.xml" Id="R12eadd7a6d3b4b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e0874aa256431b" /><Relationship Type="http://schemas.openxmlformats.org/officeDocument/2006/relationships/notesMaster" Target="/ppt/notesMasters/notesMaster1.xml" Id="R50c7b3079795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31053cc9644b3" /><Relationship Type="http://schemas.openxmlformats.org/officeDocument/2006/relationships/notesMaster" Target="/ppt/notesMasters/notesMaster1.xml" Id="R1212913fac9544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a942bc2434acd" /><Relationship Type="http://schemas.openxmlformats.org/officeDocument/2006/relationships/notesMaster" Target="/ppt/notesMasters/notesMaster1.xml" Id="R404482649fa74a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ea74c366864f2b" /><Relationship Type="http://schemas.openxmlformats.org/officeDocument/2006/relationships/notesMaster" Target="/ppt/notesMasters/notesMaster1.xml" Id="R0baa30c1ab6848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cf0dc5868f413f" /><Relationship Type="http://schemas.openxmlformats.org/officeDocument/2006/relationships/notesMaster" Target="/ppt/notesMasters/notesMaster1.xml" Id="R5acde0dd84ee46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23865908c74275" /><Relationship Type="http://schemas.openxmlformats.org/officeDocument/2006/relationships/notesMaster" Target="/ppt/notesMasters/notesMaster1.xml" Id="R768bba92521f4f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9625fb82b342fa" /><Relationship Type="http://schemas.openxmlformats.org/officeDocument/2006/relationships/notesMaster" Target="/ppt/notesMasters/notesMaster1.xml" Id="Rc9446405440b4d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baacefd354a55" /><Relationship Type="http://schemas.openxmlformats.org/officeDocument/2006/relationships/notesMaster" Target="/ppt/notesMasters/notesMaster1.xml" Id="R40eb2792a20449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7ea7ceaa454e6b" /><Relationship Type="http://schemas.openxmlformats.org/officeDocument/2006/relationships/notesMaster" Target="/ppt/notesMasters/notesMaster1.xml" Id="Rd3fee4763ed041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cdd12d4c9d4552" /><Relationship Type="http://schemas.openxmlformats.org/officeDocument/2006/relationships/notesMaster" Target="/ppt/notesMasters/notesMaster1.xml" Id="Rf821fb8f9e1c45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de275e27c04713" /><Relationship Type="http://schemas.openxmlformats.org/officeDocument/2006/relationships/notesMaster" Target="/ppt/notesMasters/notesMaster1.xml" Id="R2fb4d9dbae434d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c168f476054498" /><Relationship Type="http://schemas.openxmlformats.org/officeDocument/2006/relationships/notesMaster" Target="/ppt/notesMasters/notesMaster1.xml" Id="R6616c7839f8845d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b4e1e674c84e96" /><Relationship Type="http://schemas.openxmlformats.org/officeDocument/2006/relationships/notesMaster" Target="/ppt/notesMasters/notesMaster1.xml" Id="R1f8abb05f4ba4b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c891d2f7e04144" /><Relationship Type="http://schemas.openxmlformats.org/officeDocument/2006/relationships/notesMaster" Target="/ppt/notesMasters/notesMaster1.xml" Id="Rc1b28d33a4bb40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68532837544817" /><Relationship Type="http://schemas.openxmlformats.org/officeDocument/2006/relationships/notesMaster" Target="/ppt/notesMasters/notesMaster1.xml" Id="R17ba348e91664e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135e1270cb4cbf" /><Relationship Type="http://schemas.openxmlformats.org/officeDocument/2006/relationships/notesMaster" Target="/ppt/notesMasters/notesMaster1.xml" Id="R678a905559dc429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46db70bb384dcb" /><Relationship Type="http://schemas.openxmlformats.org/officeDocument/2006/relationships/notesMaster" Target="/ppt/notesMasters/notesMaster1.xml" Id="Rdba594a0a89347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78490149304954" /><Relationship Type="http://schemas.openxmlformats.org/officeDocument/2006/relationships/notesMaster" Target="/ppt/notesMasters/notesMaster1.xml" Id="R1574c1de8e5b4f2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cb97e4f0944a08" /><Relationship Type="http://schemas.openxmlformats.org/officeDocument/2006/relationships/notesMaster" Target="/ppt/notesMasters/notesMaster1.xml" Id="Rd2c0bf9a6db04ab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285ec78cbf4865" /><Relationship Type="http://schemas.openxmlformats.org/officeDocument/2006/relationships/notesMaster" Target="/ppt/notesMasters/notesMaster1.xml" Id="R8d0ac2797d9948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8e61ad0f984bea" /><Relationship Type="http://schemas.openxmlformats.org/officeDocument/2006/relationships/notesMaster" Target="/ppt/notesMasters/notesMaster1.xml" Id="Rde2912dddf714b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bb0b8a87b5c475e" /><Relationship Type="http://schemas.openxmlformats.org/officeDocument/2006/relationships/notesMaster" Target="/ppt/notesMasters/notesMaster1.xml" Id="R2e91d97479b5403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72313bb308440a" /><Relationship Type="http://schemas.openxmlformats.org/officeDocument/2006/relationships/notesMaster" Target="/ppt/notesMasters/notesMaster1.xml" Id="R2af6f1e3da75420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59acbd318dc41b5" /><Relationship Type="http://schemas.openxmlformats.org/officeDocument/2006/relationships/notesMaster" Target="/ppt/notesMasters/notesMaster1.xml" Id="R152aa3155a4e433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dc173e5c0e4e01" /><Relationship Type="http://schemas.openxmlformats.org/officeDocument/2006/relationships/notesMaster" Target="/ppt/notesMasters/notesMaster1.xml" Id="R25c0f827e81d44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0198fa29b2b423a" /><Relationship Type="http://schemas.openxmlformats.org/officeDocument/2006/relationships/notesMaster" Target="/ppt/notesMasters/notesMaster1.xml" Id="Rcb37311033114bc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5d0746ee5ff490f" /><Relationship Type="http://schemas.openxmlformats.org/officeDocument/2006/relationships/notesMaster" Target="/ppt/notesMasters/notesMaster1.xml" Id="Rfb014d83bc504e1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44e4d8988634524" /><Relationship Type="http://schemas.openxmlformats.org/officeDocument/2006/relationships/notesMaster" Target="/ppt/notesMasters/notesMaster1.xml" Id="R48a0bca678834c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512094061524d79" /><Relationship Type="http://schemas.openxmlformats.org/officeDocument/2006/relationships/notesMaster" Target="/ppt/notesMasters/notesMaster1.xml" Id="R28e7abd2f365492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d0017fb4451404c" /><Relationship Type="http://schemas.openxmlformats.org/officeDocument/2006/relationships/notesMaster" Target="/ppt/notesMasters/notesMaster1.xml" Id="R331c6749592c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뒤에서 과목 설명을 길게 하지 말고 바로 가격 질문으로 넘어갑니다.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먼저 가격 하나를 적게 합니다. 검색하거나 정답을 맞히는 활동이 아닙니다. 앞·뒤에서 두 명씩 답을 듣고 바로 체험 화면을 엽니다.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개정본/실습/week01/hook-demo/index.html을 브라우저로 열고 사용 기간과 배터리 값을 바꿔 예측 결과가 달라지는 모습을 보여줍니다.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 멘트: 방금 여러분은 모델을 공부한 것이 아니라 서비스를 사용했습니다. 이번 학기에는 다른 사람이 직접 입력하고 결과를 받을 수 있는 화면과 주소까지 만듭니다.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수업용 로컬 체험 페이지: 개정본/실습/week01/hook-demo/index.html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네 단계를 차례로 짚은 뒤 오른쪽 결과물로 연결합니다. 정확도 경쟁이 아니라 화면·API·배포·운영이 다시 실행되는지를 평가한다고 설명합니다.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https://docs.aws.amazon.com/whitepapers/latest/ml-best-practices-public-sector-organizations/machine-learning-operations.html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그림은 매주 첫 슬라이드에 다시 나옵니다. 오늘 우리가 어디 있는지 매번 짚어줄 겁니다.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체크포인트는 매주 조금씩 쌓입니다. 한 주 빠지면 따라잡기 어렵습니다.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겁을 주는 게 아니라 습관을 만드는 겁니다. 실제 회사에서도 클라우드 비용 관리는 신입에게 처음 맡기는 일 중 하나라고 말해주세요.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리전 이야기를 특히 강조하세요. 오늘 실습에서 리전을 버지니아로 두고 헤매는 학생이 반드시 나옵니다.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2단계 MFA에서 절반이 막힙니다. 인증 앱을 미리 설치하라고 지난주에 공지했더라도 안 한 학생이 있습니다. 앱 이름을 칠판에 적어두세요.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표는 유인물로도 나눠줬습니다. 학생들에게 먼저 표를 보고 그래도 안 되면 손 들라고 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버킷 이름은 전 세계에서 유일해야 합니다. 중복 오류가 나면 뒤에 임의 숫자를 붙이라고 안내하세요.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 명령의 방향을 헷갈리는 학생이 많습니다. 왼쪽이 출발지, 오른쪽이 목적지라고 한 번 짚어주세요.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체크포인트를 못 낸 학생은 남은 45분 버퍼 시간에 개별로 봐주세요.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주에 낙오하면 2주차 EC2에서 더 크게 막힙니다. 오늘 반드시 전원 로그인까지는 시키세요.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주가 이 과목에서 가장 손이 많이 가는 회차입니다. 노트북을 꼭 가져오라고 두 번 말하세요.</a:t>
            </a:r>
            <a:endParaRPr/>
          </a:p>
          <a:p xmlns:a="http://schemas.openxmlformats.org/drawingml/2006/main">
            <a:r>
              <a:t>
[Sources]
- https://docs.aws.amazon.com/AmazonS3/latest/userguide/create-bucket-overview.html
- https://console.aws.amazon.com/s3/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https://docs.aws.amazon.com/AmazonS3/latest/userguide/create-bucket-overview.html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콘솔 홈 → 오른쪽 위 리전</a:t>
            </a:r>
          </a:p>
          <a:p xmlns:a="http://schemas.openxmlformats.org/drawingml/2006/main">
            <a:r>
              <a:t>- 확인: 아시아 태평양(서울)인지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https://console.aws.amazon.com/console/home?region=ap-northeast-2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Identity Center → 대시보드</a:t>
            </a:r>
          </a:p>
          <a:p xmlns:a="http://schemas.openxmlformats.org/drawingml/2006/main">
            <a:r>
              <a:t>- 확인: 액세스 포털과 인스턴스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https://ap-northeast-2.console.aws.amazon.com/singlesignon/home?region=ap-northeast-2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Dashboard</a:t>
            </a:r>
          </a:p>
          <a:p xmlns:a="http://schemas.openxmlformats.org/drawingml/2006/main">
            <a:r>
              <a:t>- 확인: 보안 권고와 자격 증명 유형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https://console.aws.amazon.com/iam/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IAM → Roles</a:t>
            </a:r>
          </a:p>
          <a:p xmlns:a="http://schemas.openxmlformats.org/drawingml/2006/main">
            <a:r>
              <a:t>- 확인: 학생 실습 역할 이름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https://console.aws.amazon.com/iam/home#/roles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</a:t>
            </a:r>
          </a:p>
          <a:p xmlns:a="http://schemas.openxmlformats.org/drawingml/2006/main">
            <a:r>
              <a:t>- 확인: 버킷 이름과 리전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https://console.aws.amazon.com/s3/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S3 → Buckets → Create bucket</a:t>
            </a:r>
          </a:p>
          <a:p xmlns:a="http://schemas.openxmlformats.org/drawingml/2006/main">
            <a:r>
              <a:t>- 확인: 서울 리전과 전역 고유 이름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Object Ownership</a:t>
            </a:r>
          </a:p>
          <a:p xmlns:a="http://schemas.openxmlformats.org/drawingml/2006/main">
            <a:r>
              <a:t>- 확인: Bucket owner enforced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Create bucket → Block Public Access</a:t>
            </a:r>
          </a:p>
          <a:p xmlns:a="http://schemas.openxmlformats.org/drawingml/2006/main">
            <a:r>
              <a:t>- 확인: 네 가지 차단 옵션 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https://s3.console.aws.amazon.com/s3/bucket/create?region=ap-northeast-2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Billing → Budgets</a:t>
            </a:r>
          </a:p>
          <a:p xmlns:a="http://schemas.openxmlformats.org/drawingml/2006/main">
            <a:r>
              <a:t>- 확인: 월 예산과 알림 임계값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https://console.aws.amazon.com/billing/home#/budgets/overview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상단 CloudShell 아이콘</a:t>
            </a:r>
          </a:p>
          <a:p xmlns:a="http://schemas.openxmlformats.org/drawingml/2006/main">
            <a:r>
              <a:t>- 확인: 서울 리전과 셸 준비 상태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https://docs.aws.amazon.com/IAM/latest/UserGuide/gs-identities.html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b443511c549b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d045d0c3c443e" /><Relationship Type="http://schemas.openxmlformats.org/officeDocument/2006/relationships/slideLayout" Target="/ppt/slideLayouts/slideLayout1.xml" Id="Rb2dd712000fb443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dd712000fb443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6358b87554df1" /><Relationship Type="http://schemas.openxmlformats.org/officeDocument/2006/relationships/notesSlide" Target="/ppt/notesSlides/notesSlide1.xml" Id="R19d64300d71248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461cd427b4c38" /><Relationship Type="http://schemas.openxmlformats.org/officeDocument/2006/relationships/notesSlide" Target="/ppt/notesSlides/notesSlide2.xml" Id="R7765ee2acb0645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a6e80dddf49d4" /><Relationship Type="http://schemas.openxmlformats.org/officeDocument/2006/relationships/notesSlide" Target="/ppt/notesSlides/notesSlide3.xml" Id="Rb3dab1873fea4d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067d6d764478c" /><Relationship Type="http://schemas.openxmlformats.org/officeDocument/2006/relationships/notesSlide" Target="/ppt/notesSlides/notesSlide4.xml" Id="R979233422457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096f723a641fd" /><Relationship Type="http://schemas.openxmlformats.org/officeDocument/2006/relationships/notesSlide" Target="/ppt/notesSlides/notesSlide5.xml" Id="R4e54461abd38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aab2443204f15" /><Relationship Type="http://schemas.openxmlformats.org/officeDocument/2006/relationships/notesSlide" Target="/ppt/notesSlides/notesSlide6.xml" Id="R572f506f03a642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6486e38e49c2" /><Relationship Type="http://schemas.openxmlformats.org/officeDocument/2006/relationships/notesSlide" Target="/ppt/notesSlides/notesSlide7.xml" Id="R5e3ab38bb6be46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55dd77bee40bc" /><Relationship Type="http://schemas.openxmlformats.org/officeDocument/2006/relationships/notesSlide" Target="/ppt/notesSlides/notesSlide8.xml" Id="R4b10e9c4c04a45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ba31ff5941a4" /><Relationship Type="http://schemas.openxmlformats.org/officeDocument/2006/relationships/notesSlide" Target="/ppt/notesSlides/notesSlide9.xml" Id="R6b4306f1291d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9a6c236874006" /><Relationship Type="http://schemas.openxmlformats.org/officeDocument/2006/relationships/notesSlide" Target="/ppt/notesSlides/notesSlide10.xml" Id="R1d441ce998e84cc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98576ae504aaf" /><Relationship Type="http://schemas.openxmlformats.org/officeDocument/2006/relationships/notesSlide" Target="/ppt/notesSlides/notesSlide11.xml" Id="R6b0289c6817343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5ea2c0b624e8c" /><Relationship Type="http://schemas.openxmlformats.org/officeDocument/2006/relationships/notesSlide" Target="/ppt/notesSlides/notesSlide12.xml" Id="R79096585a4b540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79722d98f4273" /><Relationship Type="http://schemas.openxmlformats.org/officeDocument/2006/relationships/notesSlide" Target="/ppt/notesSlides/notesSlide13.xml" Id="R9fe053a28b7540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d82926b4d460c" /><Relationship Type="http://schemas.openxmlformats.org/officeDocument/2006/relationships/notesSlide" Target="/ppt/notesSlides/notesSlide14.xml" Id="Re95cbf4783dd40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ef1d3950f441a" /><Relationship Type="http://schemas.openxmlformats.org/officeDocument/2006/relationships/notesSlide" Target="/ppt/notesSlides/notesSlide15.xml" Id="Re3fda87c9ac845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8e86d6d5346fb" /><Relationship Type="http://schemas.openxmlformats.org/officeDocument/2006/relationships/notesSlide" Target="/ppt/notesSlides/notesSlide16.xml" Id="R185fcaed08c84a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7ea1aee33428c" /><Relationship Type="http://schemas.openxmlformats.org/officeDocument/2006/relationships/notesSlide" Target="/ppt/notesSlides/notesSlide17.xml" Id="R8065820732764f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ff43624b74182" /><Relationship Type="http://schemas.openxmlformats.org/officeDocument/2006/relationships/notesSlide" Target="/ppt/notesSlides/notesSlide18.xml" Id="Re3073f4f975a40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ef3a5e9bc4c43" /><Relationship Type="http://schemas.openxmlformats.org/officeDocument/2006/relationships/notesSlide" Target="/ppt/notesSlides/notesSlide19.xml" Id="R19a016816bf548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449ca0fb1493d" /><Relationship Type="http://schemas.openxmlformats.org/officeDocument/2006/relationships/notesSlide" Target="/ppt/notesSlides/notesSlide20.xml" Id="R172e8f6d474143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7b86fcd294cad" /><Relationship Type="http://schemas.openxmlformats.org/officeDocument/2006/relationships/image" Target="/ppt/media/image.jpeg" Id="R4a1e7757df1f40a0" /><Relationship Type="http://schemas.openxmlformats.org/officeDocument/2006/relationships/hyperlink" Target="https://console.aws.amazon.com/s3/" TargetMode="External" Id="Rf1ceafc5d3554c60" /><Relationship Type="http://schemas.openxmlformats.org/officeDocument/2006/relationships/hyperlink" Target="https://docs.aws.amazon.com/AmazonS3/latest/userguide/create-bucket-overview.html" TargetMode="External" Id="R0caa64af1ad34fcf" /><Relationship Type="http://schemas.openxmlformats.org/officeDocument/2006/relationships/notesSlide" Target="/ppt/notesSlides/notesSlide21.xml" Id="R358706f546f34c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5b773308a4580" /><Relationship Type="http://schemas.openxmlformats.org/officeDocument/2006/relationships/hyperlink" Target="https://console.aws.amazon.com/console/home?region=ap-northeast-2" TargetMode="External" Id="R4058440703724ad0" /><Relationship Type="http://schemas.openxmlformats.org/officeDocument/2006/relationships/hyperlink" Target="https://docs.aws.amazon.com/IAM/latest/UserGuide/gs-identities.html" TargetMode="External" Id="Re7445f76fd574d71" /><Relationship Type="http://schemas.openxmlformats.org/officeDocument/2006/relationships/image" Target="/ppt/media/image2.jpeg" Id="Rc6aac4c7e0b64ebe" /><Relationship Type="http://schemas.openxmlformats.org/officeDocument/2006/relationships/notesSlide" Target="/ppt/notesSlides/notesSlide22.xml" Id="R45d937a4a469452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5d97185e74ce3" /><Relationship Type="http://schemas.openxmlformats.org/officeDocument/2006/relationships/hyperlink" Target="https://ap-northeast-2.console.aws.amazon.com/singlesignon/home?region=ap-northeast-2" TargetMode="External" Id="Re7ccdcbe7a714d4c" /><Relationship Type="http://schemas.openxmlformats.org/officeDocument/2006/relationships/hyperlink" Target="https://docs.aws.amazon.com/IAM/latest/UserGuide/gs-identities.html" TargetMode="External" Id="Rd58559acc352434e" /><Relationship Type="http://schemas.openxmlformats.org/officeDocument/2006/relationships/image" Target="/ppt/media/image3.jpeg" Id="R39c9a8602bdc4428" /><Relationship Type="http://schemas.openxmlformats.org/officeDocument/2006/relationships/notesSlide" Target="/ppt/notesSlides/notesSlide23.xml" Id="R76fa032cb02b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1fc92805f4ccb" /><Relationship Type="http://schemas.openxmlformats.org/officeDocument/2006/relationships/hyperlink" Target="https://console.aws.amazon.com/iam/" TargetMode="External" Id="Rcba844e78cb34763" /><Relationship Type="http://schemas.openxmlformats.org/officeDocument/2006/relationships/hyperlink" Target="https://docs.aws.amazon.com/IAM/latest/UserGuide/gs-identities.html" TargetMode="External" Id="Re670caf9a99640f4" /><Relationship Type="http://schemas.openxmlformats.org/officeDocument/2006/relationships/image" Target="/ppt/media/image4.jpeg" Id="R9d02a6587fa44869" /><Relationship Type="http://schemas.openxmlformats.org/officeDocument/2006/relationships/notesSlide" Target="/ppt/notesSlides/notesSlide24.xml" Id="R5bddee081fd945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a25603aad4f39" /><Relationship Type="http://schemas.openxmlformats.org/officeDocument/2006/relationships/hyperlink" Target="https://console.aws.amazon.com/iam/home#/roles" TargetMode="External" Id="Rdd84194d2d484589" /><Relationship Type="http://schemas.openxmlformats.org/officeDocument/2006/relationships/hyperlink" Target="https://docs.aws.amazon.com/IAM/latest/UserGuide/gs-identities.html" TargetMode="External" Id="R5196f18a9015482a" /><Relationship Type="http://schemas.openxmlformats.org/officeDocument/2006/relationships/image" Target="/ppt/media/image5.jpeg" Id="R337afd8840594c73" /><Relationship Type="http://schemas.openxmlformats.org/officeDocument/2006/relationships/notesSlide" Target="/ppt/notesSlides/notesSlide25.xml" Id="Rb7e977e0e0f643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139a6aa1a4c53" /><Relationship Type="http://schemas.openxmlformats.org/officeDocument/2006/relationships/hyperlink" Target="https://console.aws.amazon.com/s3/" TargetMode="External" Id="R92237a7362a24a4f" /><Relationship Type="http://schemas.openxmlformats.org/officeDocument/2006/relationships/hyperlink" Target="https://docs.aws.amazon.com/IAM/latest/UserGuide/gs-identities.html" TargetMode="External" Id="Rc4f1f56211b84ae5" /><Relationship Type="http://schemas.openxmlformats.org/officeDocument/2006/relationships/image" Target="/ppt/media/image6.jpeg" Id="Race49129408f4d34" /><Relationship Type="http://schemas.openxmlformats.org/officeDocument/2006/relationships/notesSlide" Target="/ppt/notesSlides/notesSlide26.xml" Id="Racb5245d60a04c8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5ede7346442e5" /><Relationship Type="http://schemas.openxmlformats.org/officeDocument/2006/relationships/hyperlink" Target="https://s3.console.aws.amazon.com/s3/bucket/create?region=ap-northeast-2" TargetMode="External" Id="Rbeed203679064bec" /><Relationship Type="http://schemas.openxmlformats.org/officeDocument/2006/relationships/hyperlink" Target="https://docs.aws.amazon.com/IAM/latest/UserGuide/gs-identities.html" TargetMode="External" Id="R71084a3b14744768" /><Relationship Type="http://schemas.openxmlformats.org/officeDocument/2006/relationships/image" Target="/ppt/media/image7.jpeg" Id="Rcf5f5a9f3a734486" /><Relationship Type="http://schemas.openxmlformats.org/officeDocument/2006/relationships/notesSlide" Target="/ppt/notesSlides/notesSlide27.xml" Id="R5cd90ab5fdd549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4ac8d359c4584" /><Relationship Type="http://schemas.openxmlformats.org/officeDocument/2006/relationships/hyperlink" Target="https://s3.console.aws.amazon.com/s3/bucket/create?region=ap-northeast-2" TargetMode="External" Id="Re33ccea8eef74b8a" /><Relationship Type="http://schemas.openxmlformats.org/officeDocument/2006/relationships/hyperlink" Target="https://docs.aws.amazon.com/IAM/latest/UserGuide/gs-identities.html" TargetMode="External" Id="R1bc3c62ec14c48a8" /><Relationship Type="http://schemas.openxmlformats.org/officeDocument/2006/relationships/image" Target="/ppt/media/image8.jpeg" Id="R9428d11e90e74f4c" /><Relationship Type="http://schemas.openxmlformats.org/officeDocument/2006/relationships/notesSlide" Target="/ppt/notesSlides/notesSlide28.xml" Id="R8a156c78a97641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a23f512ba48d8" /><Relationship Type="http://schemas.openxmlformats.org/officeDocument/2006/relationships/hyperlink" Target="https://s3.console.aws.amazon.com/s3/bucket/create?region=ap-northeast-2" TargetMode="External" Id="Rea6be056f4964c6f" /><Relationship Type="http://schemas.openxmlformats.org/officeDocument/2006/relationships/hyperlink" Target="https://docs.aws.amazon.com/IAM/latest/UserGuide/gs-identities.html" TargetMode="External" Id="R9b328b3ad22b4c31" /><Relationship Type="http://schemas.openxmlformats.org/officeDocument/2006/relationships/image" Target="/ppt/media/image9.jpeg" Id="R4ef2ee5bfed74544" /><Relationship Type="http://schemas.openxmlformats.org/officeDocument/2006/relationships/notesSlide" Target="/ppt/notesSlides/notesSlide29.xml" Id="Rf5d34a67ff35466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361fa7468425e" /><Relationship Type="http://schemas.openxmlformats.org/officeDocument/2006/relationships/hyperlink" Target="https://console.aws.amazon.com/billing/home#/budgets/overview" TargetMode="External" Id="Rd7803423ca744b66" /><Relationship Type="http://schemas.openxmlformats.org/officeDocument/2006/relationships/hyperlink" Target="https://docs.aws.amazon.com/IAM/latest/UserGuide/gs-identities.html" TargetMode="External" Id="R3a901da22e614a20" /><Relationship Type="http://schemas.openxmlformats.org/officeDocument/2006/relationships/image" Target="/ppt/media/image10.jpeg" Id="R8a84d9b0506f4d5f" /><Relationship Type="http://schemas.openxmlformats.org/officeDocument/2006/relationships/notesSlide" Target="/ppt/notesSlides/notesSlide30.xml" Id="Rf1b480b8969a405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38866501e4fec" /><Relationship Type="http://schemas.openxmlformats.org/officeDocument/2006/relationships/hyperlink" Target="https://ap-northeast-2.console.aws.amazon.com/cloudshell/home?region=ap-northeast-2" TargetMode="External" Id="R91e029fe3d944cdd" /><Relationship Type="http://schemas.openxmlformats.org/officeDocument/2006/relationships/hyperlink" Target="https://docs.aws.amazon.com/IAM/latest/UserGuide/gs-identities.html" TargetMode="External" Id="R3130b69e5076449d" /><Relationship Type="http://schemas.openxmlformats.org/officeDocument/2006/relationships/image" Target="/ppt/media/image11.jpeg" Id="R5edecc0d8c4b4dab" /><Relationship Type="http://schemas.openxmlformats.org/officeDocument/2006/relationships/notesSlide" Target="/ppt/notesSlides/notesSlide31.xml" Id="Rffc6ae889b684a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A7DB3-6FAF-4F0B-81A1-1FB51F2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BB789-2629-440C-937E-FCBE7438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569F22-C8B4-4AE3-9880-15C21AEB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01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BD3120-D1C9-4DE2-801E-DA3A6874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MLOps 개요와 클라우드 첫걸음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049037F-5270-471E-82C2-752C1A5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15주 뒤 팀이 만든 예측 서비스를 링크로 보여준다. 오늘은 첫 파일을 AWS에 올린다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3817679-883E-4637-82BA-90551539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3A6C14-BAB4-4F07-BDE9-0A7D98B7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2CFDFB-0B06-4623-8461-1301B78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2001070101_18v1.1   2001070201_18v1.3   2001070101_18v1.5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088564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B0861B-2980-444C-BD4D-62996518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먼저, 가격 하나만 정해봅시다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71168C-4810-49B9-8066-09EAA507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정답 없음 · 휴대폰 메모장에 적기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C1BC69-4874-4B1D-A17C-9805F65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4B473AF-81EF-41B4-8B06-FFBBF81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새 제품 가격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21499D-6CEE-4369-82CC-63D248C5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150만 원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9FB0CCF-56C2-40C4-9539-694B6AF6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FF4D19-3062-4651-A49F-D54544CF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사용 기간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5A44E37-163F-4BF8-B89D-4FF06E69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DCC461A-D786-43EE-9252-862B98F6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74D9FE0-0B6C-4207-B265-33FF7AD3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배터리 성능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7AC8EC9-1D0E-4B40-A26D-65EBC45F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78%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3CEA7BD-C167-4B0D-A6B8-46E1820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468A69-91CF-4756-BA10-B8E983CB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외관 상태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5567EB-BD3B-4420-8099-31873712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B등급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E9C597C-CE30-41D3-B2B0-9674F11D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F50B948-05FB-4925-9F54-D78C79F1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내가 올릴 가격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D16E13-CB0D-4F7B-A994-9C202E4F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______원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456D6E6-716A-4A7F-907B-F7058087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3DB4BE7-C0C8-4151-870F-0E3F66C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옆 사람과 가격 비교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10A189B-2C80-4C5E-8999-32F2F43F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30초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5FB3FA6-C349-4389-9A5C-BB74A9B2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D32A93-C138-4644-BE00-57EB726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아직 검색하지 않습니다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C3B7B87-D4FA-4081-B5C2-E4C39841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생각 먼저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AD8D18F-8640-4774-9CC1-25747D5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E3520D7-06B1-4767-B85F-2F2363B9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이제 예측 화면을 엽니다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DA50FF-5B1B-47B9-9D24-518A3BA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시작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CE89556-C001-4904-A4A7-049F1B5D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CA8B236-280B-489C-B1F6-36B1DB1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1222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AB9F7B-53C0-4953-87CB-0F504BC1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0B19FD-495F-4709-A417-0642560F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4B7F14-4EBB-4520-9B9E-B52BAE64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가격 예측 체험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717A318-15B6-41D6-83B2-4C80F332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AI를 배운 적이 없어도 바로 참여할 수 있습니다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40840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FCB66A-BA6E-4EE1-B134-0345C0F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여러분은 방금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모델이 아니라 서비스를 사용했습니다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B1F1CD-3A72-4636-8A0A-9765AEB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입력하고, 결과를 받고, 조건을 바꿨습니다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077060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B27745-7C16-49E1-816E-022C087E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버튼 한 번 뒤에 네 가지가 움직입니다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12F926-96DC-43A6-84E5-0787FBB9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사용자는 첫 화면만 보지만, 만드는 사람은 끝까지 책임집니다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1978E7-2988-4A26-B86F-6B246CB7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E63FB5-0807-447F-B42F-2C355044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FA09F7-C913-4A86-B576-C993C9CE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입력을 받는다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C8688F-161E-478A-A687-A89DC4B0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가격 · 사용 기간 · 배터리 · 외관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7165480-E5D2-4635-9AF8-3566A801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A80847-A44E-49C7-9C1C-B617D6B2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1D8983E-90D4-4CC6-84B5-74CDE21C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예측한다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A47002-19A4-4A1B-9A79-CB47D797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같은 입력에 같은 방식으로 답한다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A6DC5A0-7473-4A8D-8528-CC166BE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E2D26B-CB5F-428D-97AA-14B838AD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9839CBD-5BC3-4DA2-BE19-E7D7E165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결과를 전달한다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EB8E84-8FD5-4E3A-BAA3-D31D850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화면과 API가 같은 값을 보여준다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777D11-BCA9-4563-AED8-62EF471C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930650-F532-45CB-A508-B67DBD35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31CF93F-4DBA-4A2C-A888-F5EAB6B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상태를 확인한다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39344D-0E4A-4BB1-A2A7-799B2F17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오류 · 응답 시간 · 요청 수를 기록한다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5651C90-EC54-491D-925C-CF8A642C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79052B-C05A-4C13-BD77-1146843A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15주 뒤 팀 결과물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1B03728-AB87-463A-81E1-CDCF2C46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사람이 누르는 화면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프로그램이 호출하는 API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수정하면 다시 배포되는 구조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문제가 보이는 운영 화면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4EE77A7-FCCE-45CD-8D33-B7D09CBA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11A4DDB-EE50-433D-84FA-E1CE94D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857204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7F5983-172C-4C97-967E-ED48A52B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15주 로드맵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012A39-6A0B-46F9-9310-AE78AD0F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오늘의 파일 하나가 15주 뒤 서비스 주소로 이어집니다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4D3059C-50F9-4927-9F59-B411D9E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4D9188E-1551-4584-9D32-AC25ADDA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A069D2F-204D-4FB8-81AD-CF1FE94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DFA255-A6C5-4CFE-90FC-2506D15D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1–2주 · 클라우드 기초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984DFCD-D5F3-4522-AEC1-6FA66C3C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AWS 계정, S3, EC2 개발환경 구축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BB557E-5D39-408E-A90A-3E3DD6B3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C9130-1C1C-4308-9AAE-2C90F7C9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D879FCF-609A-4133-8977-06E9F3E5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D6EAE32-C0CC-4446-AB6C-ADA8D56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3–5주 · 데이터와 모델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26EA197-6008-409F-A061-DDC63DE8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문제 정의 → 전처리 → 베이스라인 모델 → 실험 관리(MLflow)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D418E89-F0E8-4078-A3DA-CE7BF2D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D17F34-3DD6-486E-A064-E8A3DE7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E19346-9AF9-4F8E-B084-FE534FE6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81E8E21-76CD-4C1E-A8E6-C4B96E3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6–8주 · 컨테이너와 서빙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E4B433E-0A44-421F-A697-065CEBA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Docker → FastAPI 예측 API → EC2 배포 + 데모 화면 (중간 시연)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B2AF721-CA8A-4DCB-B4F5-C92AC0EF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D8AF58-D270-4752-8411-CB13A6E6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EFD052-C552-4BE0-B2E1-0D373CD8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AEF6A25-CA7D-4A47-B054-99BDBB7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9–10주 · 관리형 서비스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284500-266E-41E5-B712-669E8F0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SageMaker로 학습·배포 체험, Bedrock으로 생성형 AI 붙이기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DDA6825-E464-497E-A44C-4A6F6202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E14528D-5E66-48A1-9D74-4665613B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0F754B0-455F-4E0D-B0B7-9CDE090C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D4D1470-8DAB-4106-B237-5C9F9E81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11–15주 · 자동화와 운영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9B1495D-480B-4F8A-8950-E09A5B5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GitHub Actions 자동 배포 → 모니터링 → 프로젝트 완성 → 최종 발표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21B91F2-DEFC-40FB-AF52-A8D445D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7F92703-E08F-47DE-A3CF-C44E708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734436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18D35D-880D-47B8-AF7D-24AEC0D8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평가 방법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7C716D-80FB-491A-BB71-D0C2331B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총 100점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04DB5E4-FEE1-4A7B-8485-E48F295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3304DF-AAB4-4DB1-8197-599AA7DD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126A9E-F532-4C10-BA2D-FFAA8247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29CF7A0-04B1-4161-9582-1DC0A065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출석·참여 10점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71DC671-B0FD-4D39-94AC-C6382BE1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성실히 나오면 받는 점수입니다.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CB049F4-DE3A-4BD4-A17F-4A71570D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116836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8912DA0-887E-4FED-8501-3C9FA480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92DA11A-5325-426A-88C0-104567DC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3545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D27854D-3A15-4DE9-B3FA-809891D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336292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주차별 체크포인트 25점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F48B9E0-81EE-4D32-A80F-6BC4A9BD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848356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매주 실습 결과를 스크린샷이나 URL로 제출합니다. 12회 × 약 2점.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84A3BAC-B055-4337-B90A-6B44FB6B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6C82B4E-A3BD-495B-8D3C-DAC7D8DD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65D54D2-25F4-45AA-9476-156A2655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BFF6E4-2448-4F1B-9BC7-82D66875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프로젝트 50점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10F9316-D3E8-467E-9202-D9D8E7E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M1 문제정의서 10 · M2 중간시연 15 · 최종 산출물 25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D577518-8D23-474B-AB70-F17B375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563624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3A3F18D-D903-4960-A83B-39DBD9E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802C2B4-3FBC-4772-93CD-FC851B0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246A259-13FA-4678-A78B-787E7E1E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최종 발표 15점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191B9FF-B609-47A7-BD93-2A7F4B8C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15주차 라이브 시연 포함. 상호평가 포함.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0E4FA2-83F6-454D-9322-66BF7488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48EB4CA-0624-48CE-B447-85A2CC0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481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FE5071-3D29-4677-8414-6A0D0BD6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시작 전에 반드시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12D733-2122-447E-A121-881FE243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과목에서 가장 중요한 규칙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DF50EA-716A-4F45-99AB-ACC6A2D4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419856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07E56C2-FD9B-40B5-87B6-253C05735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4AB27BB-0FDE-4791-B827-91B3440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1085312-A2C2-4D2F-B656-EB57ACB1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쓴 만큼 돈이 나갑니다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D75BBDB-22BC-49AB-B8C1-40C15FA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1396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실습에 쓰는 AWS는 학과 결제 계정입니다. 여러분이 만든 자원은 실제로 과금됩니다.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매 수업 종료 5분 전 '리소스 정리 타임'을 반드시 지킵니다. EC2 인스턴스는 중지(Stop).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리소스를 방치한 것이 적발되면 회당 2점 감점입니다.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이상하게 비싼 게 만들어졌다 싶으면 혼자 해결하지 말고 즉시 손 드세요. 야단맞지 않습니다.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DB5C27-1DC0-44CF-A13C-6ADC1ABF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DA963-79B0-4DC7-A24D-5B808F65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48824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38E479-E829-4D96-95D3-96B48A56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543FC28-7E8C-477D-B8E4-659C19F4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AD7C99C-83D8-4B86-8B8C-0AAA3E9C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기본 개념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45900C-4AA1-4EB6-B2F2-C8EE0351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오늘 알아야 할 최소한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946746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529314A-0CA4-4E84-A67A-B4BE770A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나올 용어 네 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EB8C35D-861E-453A-94FC-1E943B59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지금 다 외울 필요 없습니다. 실습하면서 몸으로 익힙니다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83447FA-0F97-49E5-8EA1-488943C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47A00F-1372-4808-ABE9-33FA9F34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9D7CA3-1085-4325-ADEB-504A183D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603452A-D426-4529-BFA9-AAC4E1B4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리전 (Region)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E41867D-914B-4D94-B298-8AD6FB5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서버가 물리적으로 놓인 지역입니다. 우리는 서울(ap-northeast-2)로 고정합니다. 리전이 다르면 만든 게 안 보입니다.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E07BC5E-5219-41AF-88F5-BE588D1A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6F2DC78-3718-42F4-BF86-613585C1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6AE8B6A-565E-41D2-8012-E566AC6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6542E2-3094-49D2-B31F-13E3497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IAM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4CBDC4-53E4-4DF8-A749-11FB82D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누가 무엇을 할 수 있는지 정하는 신분증 시스템. 여러분은 학번으로 된 계정을 받습니다.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25E0F95-9B3D-4165-8DF7-0FF2986F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2E90E88-5619-4EFD-9988-70724B2C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2E31DAE-30E4-4858-B83F-455CC36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698E29C-958F-4DA4-A3E8-D0D54A5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S3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01264CD-B94C-4FCE-9025-6B2F9038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클라우드 저장소. 웹하드라고 생각하면 되는데, 프로그램이 읽고 쓰기 좋게 만들어진 웹하드입니다.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AEB39F3-E337-4323-BC17-BE48586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FCC9282-9BFE-4AB1-A057-4A54A6DF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C68C196-60CC-4F89-8F95-83E946E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C31A101-5BD9-437A-B997-39C53A0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온디맨드 과금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021CCA9-0ECD-411F-BE4D-5C0F255F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쓴 시간만큼 냅니다. 켜두면 계속 나갑니다. 그래서 끄는 게 중요합니다.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9042AF6-DEB5-484B-A800-49658C1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56E5975-A567-48CE-A5E3-3D972F6B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40474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96A03A-F132-4A2A-93F7-C774A8AC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BF9DE1-9BED-4583-BA59-5A16AA05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1727D7F-C74A-41A1-8298-A41B26A9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AWS 콘솔 온보딩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FAA74E-4108-4F59-99B3-62E2B381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874482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6A266D-8810-4BA8-A67A-872C2B02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ACE73B5-8977-4A1C-BAEC-38D9D817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한 단계씩. 안 되면 바로 손 드세요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E1D11B-1E70-4416-A90B-EB290317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8DBEB5-2E40-4F62-B795-CF56AA90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9ECCCC-C37D-4B69-A9D0-C7B7C7D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4F171A4-BD18-4B62-ABCA-DC279C3D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AWS 콘솔 로그인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FA992F-0CED-42DD-AE6C-9EB0E644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배부된 계정 ID·사용자명·임시 비밀번호로 로그인 → 비밀번호 변경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B35716-6641-424A-9508-70BA1ED0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C298CF9-079E-4782-9455-B5E45634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686D74F-873E-4319-8E29-CBAC1EEA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F882724-7A7B-4FBC-A127-F638D137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MFA(2단계 인증) 설정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86AE39-8298-4A6C-9E68-E17C9CA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휴대폰에 인증 앱 설치 → QR 스캔 → 연속 두 번의 코드 입력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D5598BC-C355-4120-A3B0-3F15D244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54A3A0B-36B2-4894-BD06-C5D924F8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CE87B31-30E2-4711-844D-A6CECF23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12C484A-6A1D-4BAD-90ED-6FAF92D9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리전을 서울로 고정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204BCB5-88B1-4084-A951-19E0095C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우측 상단 리전 선택 → 아시아 태평양(서울) ap-northeast-2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8B5564-89EE-414B-9CE2-1E4C9290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F7E39CD-BD66-4477-8402-850BF7B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0D894E4-6781-4DFD-A31A-086A59CA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86988E4-6F28-41FF-82DC-F064D16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권한 확인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AAA0D02-A779-4082-BB01-0049999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IAM → 사용자 → 본인 계정에서 부여된 권한 확인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6906741-51E0-4921-8C68-3A38263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73B0984-31F3-4AC9-8010-FE95B3A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F0DFB78-2FBB-47E3-9501-EBA461CC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D97D16-AE60-4707-A664-4C7D1C4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예산 알람 확인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6448F13-24B6-473B-A816-A8240E3A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Billing → Budgets에서 본인 한도와 알람 이메일 확인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E0E06E5-1263-4016-A6D1-AB8E28F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72B0FF9E-113E-41C4-89D4-EEECA3B9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165468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ADFF47-3A7A-45E1-8767-B20750B0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5B253F-E323-4039-AFFC-6D572D77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97680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화면에서 계정 ID를 묻는다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IAM 사용자 로그인 URL이 아닌 루트 로그인 화면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배부된 전용 로그인 URL로 다시 접속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MFA QR을 못 읽는다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앱 미설치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앱 설치 후 재시도. 설치 안 되면 조교가 대체 절차 안내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콘솔이 계속 로딩만 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학교망에서 일부 요청 지연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무선망으로 전환하거나 브라우저 시크릿 창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만든 게 안 보인다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리전이 버지니아(us-east-1)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우측 상단 리전을 서울로 변경 후 새로고침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EEE56C-437E-4894-B410-5AF6E12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1CD63A6-415E-4BF8-8487-F2D63A7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21880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D221629-9A37-4576-902B-4A931DB6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BB27FEF-C0DF-43E7-A925-3AD59F2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D9E4902-23D0-40D7-AA62-3401EAE3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S3 버킷과 CLI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13BD9E8-7375-4FA3-863D-1509500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60분 · 각자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7188802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FA7816-4630-4B3C-8E89-D37D31A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과제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047F09D-8245-49BF-BE80-0C53B84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만든 버킷은 학기 내내 씁니다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06CD2D-4492-4149-8A4A-7D19FC2B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D8EA791-76E3-45CB-99F8-C4D3D774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53E2B4-A603-4FCB-BF5A-A84492C7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버킷 만들기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939585-9E0D-4969-A92D-0F508D0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이름 규칙: mlops-2026-&lt;학번&gt; · 리전은 반드시 서울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556E7B7-308E-45D9-BB5B-20A0898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922CD52-258E-48E0-A02E-176A6E2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017DAB3-573C-42AE-9D54-6483B0B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폴더 규칙 만들기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E058F47-CDA6-49AB-B087-499EC67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raw/ · processed/ · models/ 세 개를 만듭니다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58358D-4CF6-45F6-B93B-6F1F6A80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C0D665-9F77-4346-B615-D609FF2D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3DB3806-F585-49D0-A4E5-1902D8F9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 올리고 내리기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E9A25AA-5656-414A-9367-A9436CFC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예제 CSV를 raw/에 업로드하고 다시 다운로드해봅니다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736969-F887-4FA6-BD00-C448EBD1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4B59FA-C777-4843-93ED-D8890D4C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9879393-4703-464A-A680-7F26D21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CloudShell에서 같은 일을 명령어로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4214E8F-91C6-4E48-A8AD-F5429332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콘솔에서 클릭으로 한 일을 aws s3 명령으로 반복합니다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F3D69F6-1D0D-49FE-950A-2C9EC45D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647188"/>
            <a:ext cx="4324252" cy="2313432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7912EB5-BC31-4E22-B6B9-A35A1CA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866644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왜 CLI까지 하나요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104BCB-7A7B-4A54-BB52-DC9116E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342132"/>
            <a:ext cx="3775612" cy="1399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클릭은 기록이 안 남습니다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자동화하려면 명령이 필요합니다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12주차 자동 배포의 기초입니다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9EDDE6-3E15-4CB0-914B-5771722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737D77-04E3-4721-83D7-C35730D3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170478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3967770-FB99-4F06-89ED-BD73692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CloudShell에서 실행할 명령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25B56E1-30B5-41D3-A387-29AF404C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콘솔 우측 상단 터미널 아이콘 → CloudShell 실행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C1479E1-64F2-4BFF-B8E2-D9C334F3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A4849-4293-443F-927A-9D8FB236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630A50-CBD4-47AE-BFA1-A3D76915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내 버킷 목록 보기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버킷 안 내용 보기 (&lt;학번&gt;을 본인 학번으로)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 s3://mlops-2026-&lt;학번&gt;/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파일 올리기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cp bike.csv s3://mlops-2026-&lt;학번&gt;/raw/bike.csv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폴더째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 s3://mlops-2026-&lt;학번&gt;/raw/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5. 다시 내려받기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cp s3://mlops-2026-&lt;학번&gt;/raw/bike.csv ./확인용.csv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63B5789-E5CE-4D34-B46E-7A3E22C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&lt;학번&gt; 은 본인 학번으로 바꿔 넣습니다. 꺾쇠 기호는 지웁니다.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603A98-E210-4330-9915-216D04E8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13F4FC3-98F6-4B95-A7EE-857CF60A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995320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77948B6-E045-4841-A062-D7FC681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1478C82-952F-4366-88DF-EE0CE415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8F348F-0093-4898-B379-B2520FCA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257EBFE-A14C-452E-905D-B1DCCD6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63C692-F529-452E-8FDB-9C73D875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S3 버킷 이름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61743F6-3F29-4A75-ADA2-67D9A08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채팅이나 LMS에 텍스트로 제출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0EDD4BD-3E72-4EC5-A664-31D465F1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622831-DEAF-435C-A369-1110C37F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EC07DD-20BB-40C6-BB18-11BB8B71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raw/processed/models 폴더가 보이는 콘솔 화면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30B9AC-53C1-48D3-A9E0-28A9D0C2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53A99D-268E-4875-BA9B-2DFDD7FF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5A58AD3-6298-4357-871F-E40884F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7892DAD-4BC1-46C0-9576-11809FD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aws s3 ls 실행 결과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09C89A-13C2-4E99-9942-78867CEA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버킷 이름이 보여야 합니다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712503-5077-49B7-B60D-52E846DE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B092E98-E552-4F17-88AB-9D907FF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DB2B423-7188-4531-960F-2E380F4E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구성 희망서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222942-BC6B-4C4D-A1D2-9E59D8C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3~4인 · 관심 도메인 1순위 표기 · 다음 주까지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09EE33B-6F41-4E80-9327-5ABE849B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DF4E483-0C29-412E-907B-3B4A8B8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477556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220732-73E0-42F7-896F-8A4C781A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남은 45분은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4BA0241-CC4A-483A-806B-A5454DA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버퍼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25A509-3E31-468E-9C95-FD81F2D1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못 따라온 사람을 위한 시간입니다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9E8072-F3FD-475E-99A9-7B89DD2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다 끝낸 학생 — 부록의 명령어 치트시트를 훑고, 팀 구성 희망서를 작성하세요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막힌 학생 — 손 들고 기다리세요. 순서대로 갑니다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완전히 안 되는 학생 — 옆 사람 화면으로 먼저 눈으로 익히세요. 계정은 따로 봐드립니다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0939719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40E0ED-57F6-48DE-8DC9-1D4BA660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8AB6E8-3EBB-42C5-B2BB-8103423E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899D5A8-CCFD-44ED-9821-BB2D034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891192B-F9CC-40B1-A82B-E2725928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49B011-AFDF-4572-97BB-6CBB2186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모델은 서비스가 되어야 의미가 있다 · AWS 리전과 IAM · S3에 파일 올리고 내리기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610B70B-617D-4290-975E-BAB469B4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91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D548FC-CE08-41C5-8620-49DEC64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91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878A39-6CA7-4718-9E89-78ECF438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925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2AC773-BFD3-4B13-B5BC-520DBC2C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76600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서버를 직접 하나 빌립니다. EC2를 만들고 원격 접속해서 파이썬 환경을 세팅합니다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61B26B0-46CE-468C-B1F2-CF5708A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809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1D4A238-CCCB-4EAB-AA40-30BFDE4D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7809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7C90804-F32A-43FA-8654-5DB279F9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4152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C6EBB2D-3956-4F33-B521-8C24628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25568"/>
            <a:ext cx="5956347" cy="1191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노트북 · 오늘 만든 버킷 이름 · 팀 구성 희망서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C2AB1E7-F99C-4F5A-A3D2-1681A590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729484"/>
            <a:ext cx="4324252" cy="1892808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0431829-819A-44F7-8090-2968AF3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948940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오늘의 정리 타임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7D77F2-C07F-489C-86A6-0AF00D84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424428"/>
            <a:ext cx="3775612" cy="97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오늘은 EC2를 만들지 않았으므로 끌 것이 없습니다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다음 주부터는 매주 인스턴스 중지 확인을 합니다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FFA9A1-D7E4-4B6A-85AA-34AD944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1주차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298492D-53B8-45DF-B5B7-8FAF879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403127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7EE60EB7-A282-45CA-A847-5354CA6A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D6116D-7347-41FA-BF87-9AC82E93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D6C6C8F-F7DE-4EC9-B2EA-B64000BB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6771B1E1-6769-4BB3-860A-21BF843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AWS 역할로 로그인하고 S3에 수업용 데이터 구조를 만든다.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5FD01C7A-21C8-4AA5-BECF-030C3A8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IAM Identity Center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0AD2BA5A-2D8E-4AE7-A3A3-6BF2E4FD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서울 리전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D62FDB76-65B3-455B-B9AE-35116AD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raw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8E0F9556-3FA9-4C29-9095-159DC44B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6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processed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7A61EFCA-DE6A-4728-B4CC-1D267AFA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714625"/>
            <a:ext cx="202692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 models</a:t>
            </a:r>
          </a:p>
        </p:txBody>
      </p:sp>
      <p:cxnSp>
        <p:nvCxnSpPr>
          <p:cNvPr id="7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842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7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5394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0946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8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6498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4" name="read-order">
            <a:extLst xmlns:a="http://schemas.openxmlformats.org/drawingml/2006/main">
              <a:ext uri="{FF2B5EF4-FFF2-40B4-BE49-F238E27FC236}">
                <a16:creationId xmlns:a16="http://schemas.microsoft.com/office/drawing/2014/main" id="{11695CCF-CE5A-46C3-8F5C-C5712CA1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E41429D-0A4E-464B-BCDB-2791E833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3160884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e7757df1f40a0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1ceafc5d3554c60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caa64af1ad34fc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서울 리전 콘솔 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콘솔 홈 → 오른쪽 위 리전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아시아 태평양(서울)인지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058440703724ad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7445f76fd574d7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ac4c7e0b64ebe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IAM Identity Center 시작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Identity Center → 대시보드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액세스 포털과 인스턴스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7ccdcbe7a714d4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58559acc352434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9a8602bdc4428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IAM 대시보드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Dashboard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보안 권고와 자격 증명 유형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ba844e78cb3476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670caf9a99640f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2a6587fa44869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IAM 역할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IAM → Roles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학생 실습 역할 이름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d84194d2d48458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196f18a9015482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afd8840594c73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S3 버킷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버킷 이름과 리전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2237a7362a24a4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4f1f56211b84ae5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49129408f4d3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S3 버킷 만들기: 일반 구성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S3 → Buckets → Create bucket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전역 고유 이름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ed203679064be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1084a3b1474476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f5a9f3a734486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S3 버킷 만들기: 객체 소유권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Object Ownership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Bucket owner enforced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33ccea8eef74b8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bc3c62ec14c48a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8d11e90e74f4c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S3 버킷 만들기: 퍼블릭 액세스 차단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Create bucket → Block Public Access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네 가지 차단 옵션 유지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a6be056f4964c6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b328b3ad22b4c3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2ee5bfed7454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AWS Budgets 개요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Billing → Budgets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월 예산과 알림 임계값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7803423ca744b6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a901da22e614a2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4d9b0506f4d5f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CB65F77-B291-4358-96A8-42F83EB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01주차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E5DD89-2CCA-46A4-83C6-C55B18E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AWS CloudShell 시작 화면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66B4A-0CA6-4E0A-A732-6E3EDDB3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02F292C3-3A8E-49B0-968B-7EAF9DC3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46753CDA-0B1D-4D8B-B439-D5A8CB5A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상단 CloudShell 아이콘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79003814-4301-4789-9784-C60B8B5A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셸 준비 상태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EB7BAFE4-7DCC-4016-9F97-66FC81A5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1e029fe3d944cd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130b69e5076449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E5C79B2F-0C75-427A-956E-4BC7E603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ecc0d8c4b4da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2428074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2026-08-24T13:10:04.0420000Z</dcterms:created>
  <dcterms:modified xsi:type="dcterms:W3CDTF">2026-08-24T13:10:04.0420000Z</dcterms:modified>
</coreProperties>
</file>