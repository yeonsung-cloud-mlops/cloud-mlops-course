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9ace2905894409" /><Relationship Type="http://schemas.openxmlformats.org/officeDocument/2006/relationships/extended-properties" Target="/docProps/app.xml" Id="R21da807bc9324683" /><Relationship Type="http://schemas.openxmlformats.org/officeDocument/2006/relationships/officeDocument" Target="/ppt/presentation.xml" Id="Rb00272c4d8104f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f2d3259416421c"/>
  </p:sldMasterIdLst>
  <p:notesMasterIdLst>
    <p:notesMasterId xmlns:r="http://schemas.openxmlformats.org/officeDocument/2006/relationships" r:id="Rb5ae32b8a186491a"/>
  </p:notesMasterIdLst>
  <p:sldIdLst>
    <p:sldId xmlns:r="http://schemas.openxmlformats.org/officeDocument/2006/relationships" id="256" r:id="R9011d33b82ff4ef5"/>
    <p:sldId xmlns:r="http://schemas.openxmlformats.org/officeDocument/2006/relationships" id="257" r:id="R13cc267c80264b7a"/>
    <p:sldId xmlns:r="http://schemas.openxmlformats.org/officeDocument/2006/relationships" id="258" r:id="Rd1bb56ecd2594b14"/>
    <p:sldId xmlns:r="http://schemas.openxmlformats.org/officeDocument/2006/relationships" id="259" r:id="R28a6e843ac0e4c2a"/>
    <p:sldId xmlns:r="http://schemas.openxmlformats.org/officeDocument/2006/relationships" id="260" r:id="R722dfb2e321c4249"/>
    <p:sldId xmlns:r="http://schemas.openxmlformats.org/officeDocument/2006/relationships" id="261" r:id="R1640775c250d40d0"/>
    <p:sldId xmlns:r="http://schemas.openxmlformats.org/officeDocument/2006/relationships" id="262" r:id="Ra1ced9e207b34785"/>
    <p:sldId xmlns:r="http://schemas.openxmlformats.org/officeDocument/2006/relationships" id="263" r:id="R4e853665c4b746f9"/>
    <p:sldId xmlns:r="http://schemas.openxmlformats.org/officeDocument/2006/relationships" id="264" r:id="R2d6d49f2e3164f2a"/>
    <p:sldId xmlns:r="http://schemas.openxmlformats.org/officeDocument/2006/relationships" id="265" r:id="R9985a99bac3a4994"/>
    <p:sldId xmlns:r="http://schemas.openxmlformats.org/officeDocument/2006/relationships" id="266" r:id="Rbf40916028604b14"/>
    <p:sldId xmlns:r="http://schemas.openxmlformats.org/officeDocument/2006/relationships" id="267" r:id="Rfa6bb5657fa14244"/>
    <p:sldId xmlns:r="http://schemas.openxmlformats.org/officeDocument/2006/relationships" id="268" r:id="Rc7a8a81cc4c54bab"/>
    <p:sldId xmlns:r="http://schemas.openxmlformats.org/officeDocument/2006/relationships" id="269" r:id="R456748ccd0114292"/>
    <p:sldId xmlns:r="http://schemas.openxmlformats.org/officeDocument/2006/relationships" id="270" r:id="Rbcc510c47ce54c3b"/>
    <p:sldId xmlns:r="http://schemas.openxmlformats.org/officeDocument/2006/relationships" id="271" r:id="R311dec73387241b3"/>
    <p:sldId xmlns:r="http://schemas.openxmlformats.org/officeDocument/2006/relationships" id="272" r:id="R8e74bfa7f1ed47a1"/>
    <p:sldId xmlns:r="http://schemas.openxmlformats.org/officeDocument/2006/relationships" id="273" r:id="R345ec5e8a234441f"/>
    <p:sldId xmlns:r="http://schemas.openxmlformats.org/officeDocument/2006/relationships" id="274" r:id="Rd4135fb36c4e44d7"/>
    <p:sldId xmlns:r="http://schemas.openxmlformats.org/officeDocument/2006/relationships" id="275" r:id="Ra30b1dc842d142b3"/>
    <p:sldId xmlns:r="http://schemas.openxmlformats.org/officeDocument/2006/relationships" id="276" r:id="R91a682670763445e"/>
    <p:sldId xmlns:r="http://schemas.openxmlformats.org/officeDocument/2006/relationships" id="277" r:id="R4c5d2652594648b8"/>
    <p:sldId xmlns:r="http://schemas.openxmlformats.org/officeDocument/2006/relationships" id="278" r:id="R7b9561c893a84b02"/>
    <p:sldId xmlns:r="http://schemas.openxmlformats.org/officeDocument/2006/relationships" id="279" r:id="R416a17ffd80146bd"/>
    <p:sldId xmlns:r="http://schemas.openxmlformats.org/officeDocument/2006/relationships" id="280" r:id="Rf9d8d8911a10467e"/>
    <p:sldId xmlns:r="http://schemas.openxmlformats.org/officeDocument/2006/relationships" id="281" r:id="Rdd2db633f1344771"/>
    <p:sldId xmlns:r="http://schemas.openxmlformats.org/officeDocument/2006/relationships" id="282" r:id="R6943e44abc194aa8"/>
    <p:sldId xmlns:r="http://schemas.openxmlformats.org/officeDocument/2006/relationships" id="283" r:id="Ra9e6996346b2485b"/>
    <p:sldId xmlns:r="http://schemas.openxmlformats.org/officeDocument/2006/relationships" id="284" r:id="R144360e83c6b468b"/>
    <p:sldId xmlns:r="http://schemas.openxmlformats.org/officeDocument/2006/relationships" id="285" r:id="R89e41f5792e84dec"/>
    <p:sldId xmlns:r="http://schemas.openxmlformats.org/officeDocument/2006/relationships" id="286" r:id="R0e65ef17037f4bdb"/>
    <p:sldId xmlns:r="http://schemas.openxmlformats.org/officeDocument/2006/relationships" id="287" r:id="Rf756b3c41e1449cc"/>
    <p:sldId xmlns:r="http://schemas.openxmlformats.org/officeDocument/2006/relationships" id="288" r:id="R616b0befd3574878"/>
    <p:sldId xmlns:r="http://schemas.openxmlformats.org/officeDocument/2006/relationships" id="289" r:id="R881381360cfe4d06"/>
    <p:sldId xmlns:r="http://schemas.openxmlformats.org/officeDocument/2006/relationships" id="290" r:id="R24859474b1804aec"/>
    <p:sldId xmlns:r="http://schemas.openxmlformats.org/officeDocument/2006/relationships" id="291" r:id="R3f416ec4d66a40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51a31d9d8842ee" /><Relationship Type="http://schemas.openxmlformats.org/officeDocument/2006/relationships/slideMaster" Target="/ppt/slideMasters/slideMaster1.xml" Id="R73f2d3259416421c" /><Relationship Type="http://schemas.openxmlformats.org/officeDocument/2006/relationships/notesMaster" Target="/ppt/notesMasters/notesMaster1.xml" Id="Rb5ae32b8a186491a" /><Relationship Type="http://schemas.openxmlformats.org/officeDocument/2006/relationships/presProps" Target="/ppt/presProps.xml" Id="Ra10747c75d20456a" /><Relationship Type="http://schemas.openxmlformats.org/officeDocument/2006/relationships/viewProps" Target="/ppt/viewProps.xml" Id="R026948832a7c4676" /><Relationship Type="http://schemas.openxmlformats.org/officeDocument/2006/relationships/tableStyles" Target="/ppt/tableStyles.xml" Id="Rc9c936959a25483a" /><Relationship Type="http://schemas.openxmlformats.org/officeDocument/2006/relationships/slide" Target="/ppt/slides/slide1.xml" Id="R9011d33b82ff4ef5" /><Relationship Type="http://schemas.openxmlformats.org/officeDocument/2006/relationships/slide" Target="/ppt/slides/slide2.xml" Id="R13cc267c80264b7a" /><Relationship Type="http://schemas.openxmlformats.org/officeDocument/2006/relationships/slide" Target="/ppt/slides/slide3.xml" Id="Rd1bb56ecd2594b14" /><Relationship Type="http://schemas.openxmlformats.org/officeDocument/2006/relationships/slide" Target="/ppt/slides/slide4.xml" Id="R28a6e843ac0e4c2a" /><Relationship Type="http://schemas.openxmlformats.org/officeDocument/2006/relationships/slide" Target="/ppt/slides/slide5.xml" Id="R722dfb2e321c4249" /><Relationship Type="http://schemas.openxmlformats.org/officeDocument/2006/relationships/slide" Target="/ppt/slides/slide6.xml" Id="R1640775c250d40d0" /><Relationship Type="http://schemas.openxmlformats.org/officeDocument/2006/relationships/slide" Target="/ppt/slides/slide7.xml" Id="Ra1ced9e207b34785" /><Relationship Type="http://schemas.openxmlformats.org/officeDocument/2006/relationships/slide" Target="/ppt/slides/slide8.xml" Id="R4e853665c4b746f9" /><Relationship Type="http://schemas.openxmlformats.org/officeDocument/2006/relationships/slide" Target="/ppt/slides/slide9.xml" Id="R2d6d49f2e3164f2a" /><Relationship Type="http://schemas.openxmlformats.org/officeDocument/2006/relationships/slide" Target="/ppt/slides/slide10.xml" Id="R9985a99bac3a4994" /><Relationship Type="http://schemas.openxmlformats.org/officeDocument/2006/relationships/slide" Target="/ppt/slides/slide11.xml" Id="Rbf40916028604b14" /><Relationship Type="http://schemas.openxmlformats.org/officeDocument/2006/relationships/slide" Target="/ppt/slides/slide12.xml" Id="Rfa6bb5657fa14244" /><Relationship Type="http://schemas.openxmlformats.org/officeDocument/2006/relationships/slide" Target="/ppt/slides/slide13.xml" Id="Rc7a8a81cc4c54bab" /><Relationship Type="http://schemas.openxmlformats.org/officeDocument/2006/relationships/slide" Target="/ppt/slides/slide14.xml" Id="R456748ccd0114292" /><Relationship Type="http://schemas.openxmlformats.org/officeDocument/2006/relationships/slide" Target="/ppt/slides/slide15.xml" Id="Rbcc510c47ce54c3b" /><Relationship Type="http://schemas.openxmlformats.org/officeDocument/2006/relationships/slide" Target="/ppt/slides/slide16.xml" Id="R311dec73387241b3" /><Relationship Type="http://schemas.openxmlformats.org/officeDocument/2006/relationships/slide" Target="/ppt/slides/slide17.xml" Id="R8e74bfa7f1ed47a1" /><Relationship Type="http://schemas.openxmlformats.org/officeDocument/2006/relationships/slide" Target="/ppt/slides/slide18.xml" Id="R345ec5e8a234441f" /><Relationship Type="http://schemas.openxmlformats.org/officeDocument/2006/relationships/slide" Target="/ppt/slides/slide19.xml" Id="Rd4135fb36c4e44d7" /><Relationship Type="http://schemas.openxmlformats.org/officeDocument/2006/relationships/slide" Target="/ppt/slides/slide20.xml" Id="Ra30b1dc842d142b3" /><Relationship Type="http://schemas.openxmlformats.org/officeDocument/2006/relationships/slide" Target="/ppt/slides/slide21.xml" Id="R91a682670763445e" /><Relationship Type="http://schemas.openxmlformats.org/officeDocument/2006/relationships/slide" Target="/ppt/slides/slide22.xml" Id="R4c5d2652594648b8" /><Relationship Type="http://schemas.openxmlformats.org/officeDocument/2006/relationships/slide" Target="/ppt/slides/slide23.xml" Id="R7b9561c893a84b02" /><Relationship Type="http://schemas.openxmlformats.org/officeDocument/2006/relationships/slide" Target="/ppt/slides/slide24.xml" Id="R416a17ffd80146bd" /><Relationship Type="http://schemas.openxmlformats.org/officeDocument/2006/relationships/slide" Target="/ppt/slides/slide25.xml" Id="Rf9d8d8911a10467e" /><Relationship Type="http://schemas.openxmlformats.org/officeDocument/2006/relationships/slide" Target="/ppt/slides/slide26.xml" Id="Rdd2db633f1344771" /><Relationship Type="http://schemas.openxmlformats.org/officeDocument/2006/relationships/slide" Target="/ppt/slides/slide27.xml" Id="R6943e44abc194aa8" /><Relationship Type="http://schemas.openxmlformats.org/officeDocument/2006/relationships/slide" Target="/ppt/slides/slide28.xml" Id="Ra9e6996346b2485b" /><Relationship Type="http://schemas.openxmlformats.org/officeDocument/2006/relationships/slide" Target="/ppt/slides/slide29.xml" Id="R144360e83c6b468b" /><Relationship Type="http://schemas.openxmlformats.org/officeDocument/2006/relationships/slide" Target="/ppt/slides/slide30.xml" Id="R89e41f5792e84dec" /><Relationship Type="http://schemas.openxmlformats.org/officeDocument/2006/relationships/slide" Target="/ppt/slides/slide31.xml" Id="R0e65ef17037f4bdb" /><Relationship Type="http://schemas.openxmlformats.org/officeDocument/2006/relationships/slide" Target="/ppt/slides/slide32.xml" Id="Rf756b3c41e1449cc" /><Relationship Type="http://schemas.openxmlformats.org/officeDocument/2006/relationships/slide" Target="/ppt/slides/slide33.xml" Id="R616b0befd3574878" /><Relationship Type="http://schemas.openxmlformats.org/officeDocument/2006/relationships/slide" Target="/ppt/slides/slide34.xml" Id="R881381360cfe4d06" /><Relationship Type="http://schemas.openxmlformats.org/officeDocument/2006/relationships/slide" Target="/ppt/slides/slide35.xml" Id="R24859474b1804aec" /><Relationship Type="http://schemas.openxmlformats.org/officeDocument/2006/relationships/slide" Target="/ppt/slides/slide36.xml" Id="R3f416ec4d66a40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8e8e766e7b43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689e7e403f4b71" /><Relationship Type="http://schemas.openxmlformats.org/officeDocument/2006/relationships/notesMaster" Target="/ppt/notesMasters/notesMaster1.xml" Id="R258996d9bb6948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cba02490a842bf" /><Relationship Type="http://schemas.openxmlformats.org/officeDocument/2006/relationships/notesMaster" Target="/ppt/notesMasters/notesMaster1.xml" Id="R98c739fba97843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e6a12d82ef45ab" /><Relationship Type="http://schemas.openxmlformats.org/officeDocument/2006/relationships/notesMaster" Target="/ppt/notesMasters/notesMaster1.xml" Id="Rb6284cc42cb54c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58366fab17456d" /><Relationship Type="http://schemas.openxmlformats.org/officeDocument/2006/relationships/notesMaster" Target="/ppt/notesMasters/notesMaster1.xml" Id="R8d3cf7936c1c43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520d673a484ddd" /><Relationship Type="http://schemas.openxmlformats.org/officeDocument/2006/relationships/notesMaster" Target="/ppt/notesMasters/notesMaster1.xml" Id="Rb8185b2f5ccf49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2cbe408b6a4aae" /><Relationship Type="http://schemas.openxmlformats.org/officeDocument/2006/relationships/notesMaster" Target="/ppt/notesMasters/notesMaster1.xml" Id="R3efe10d72d8943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cd2c6090cd4209" /><Relationship Type="http://schemas.openxmlformats.org/officeDocument/2006/relationships/notesMaster" Target="/ppt/notesMasters/notesMaster1.xml" Id="R16a58554cccc40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70a790782a48c2" /><Relationship Type="http://schemas.openxmlformats.org/officeDocument/2006/relationships/notesMaster" Target="/ppt/notesMasters/notesMaster1.xml" Id="R17d4a1daf72245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4bae4356d84776" /><Relationship Type="http://schemas.openxmlformats.org/officeDocument/2006/relationships/notesMaster" Target="/ppt/notesMasters/notesMaster1.xml" Id="R330a97c5595648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f2b82ba7a34195" /><Relationship Type="http://schemas.openxmlformats.org/officeDocument/2006/relationships/notesMaster" Target="/ppt/notesMasters/notesMaster1.xml" Id="Re4e9aab96a6040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0a619bf1874807" /><Relationship Type="http://schemas.openxmlformats.org/officeDocument/2006/relationships/notesMaster" Target="/ppt/notesMasters/notesMaster1.xml" Id="Raf1196627cc240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7f69de8e894d7a" /><Relationship Type="http://schemas.openxmlformats.org/officeDocument/2006/relationships/notesMaster" Target="/ppt/notesMasters/notesMaster1.xml" Id="R732b4458a5fa40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0149fce4314030" /><Relationship Type="http://schemas.openxmlformats.org/officeDocument/2006/relationships/notesMaster" Target="/ppt/notesMasters/notesMaster1.xml" Id="R7f4069ee790f40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6b5d6f84f1426b" /><Relationship Type="http://schemas.openxmlformats.org/officeDocument/2006/relationships/notesMaster" Target="/ppt/notesMasters/notesMaster1.xml" Id="Re6b29875fd3548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6856879bd24e9b" /><Relationship Type="http://schemas.openxmlformats.org/officeDocument/2006/relationships/notesMaster" Target="/ppt/notesMasters/notesMaster1.xml" Id="R5f8ff368495545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f3adf7cfd148a0" /><Relationship Type="http://schemas.openxmlformats.org/officeDocument/2006/relationships/notesMaster" Target="/ppt/notesMasters/notesMaster1.xml" Id="Rafc3d64dbfed44e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c5986c4d14434e" /><Relationship Type="http://schemas.openxmlformats.org/officeDocument/2006/relationships/notesMaster" Target="/ppt/notesMasters/notesMaster1.xml" Id="R2936955abcf5406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75b68a16094ee2" /><Relationship Type="http://schemas.openxmlformats.org/officeDocument/2006/relationships/notesMaster" Target="/ppt/notesMasters/notesMaster1.xml" Id="Radb8269a049344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d5c14ad9b974d2b" /><Relationship Type="http://schemas.openxmlformats.org/officeDocument/2006/relationships/notesMaster" Target="/ppt/notesMasters/notesMaster1.xml" Id="R0977c51849c248e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807c9f024944793" /><Relationship Type="http://schemas.openxmlformats.org/officeDocument/2006/relationships/notesMaster" Target="/ppt/notesMasters/notesMaster1.xml" Id="Rf3167755e882451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2bf457258f04c01" /><Relationship Type="http://schemas.openxmlformats.org/officeDocument/2006/relationships/notesMaster" Target="/ppt/notesMasters/notesMaster1.xml" Id="R5fa4f263ea374b6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dcb9d3dad504179" /><Relationship Type="http://schemas.openxmlformats.org/officeDocument/2006/relationships/notesMaster" Target="/ppt/notesMasters/notesMaster1.xml" Id="Rfabba29d14d94ac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a6041a456b447b9" /><Relationship Type="http://schemas.openxmlformats.org/officeDocument/2006/relationships/notesMaster" Target="/ppt/notesMasters/notesMaster1.xml" Id="Rb333b09c77394f7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1a48080f2ef4b04" /><Relationship Type="http://schemas.openxmlformats.org/officeDocument/2006/relationships/notesMaster" Target="/ppt/notesMasters/notesMaster1.xml" Id="Rf9a9721ce97b4f5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51a86ef2d704181" /><Relationship Type="http://schemas.openxmlformats.org/officeDocument/2006/relationships/notesMaster" Target="/ppt/notesMasters/notesMaster1.xml" Id="Rf9f4f9a299a24ac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0b4a70e291c43e6" /><Relationship Type="http://schemas.openxmlformats.org/officeDocument/2006/relationships/notesMaster" Target="/ppt/notesMasters/notesMaster1.xml" Id="R8b100bc8d6d24ac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ea7e1599ee8417d" /><Relationship Type="http://schemas.openxmlformats.org/officeDocument/2006/relationships/notesMaster" Target="/ppt/notesMasters/notesMaster1.xml" Id="Rcc586ab37c47413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6beeb38e3694e11" /><Relationship Type="http://schemas.openxmlformats.org/officeDocument/2006/relationships/notesMaster" Target="/ppt/notesMasters/notesMaster1.xml" Id="Rfc6956b97f364e5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d3cbe5b4c0a41ae" /><Relationship Type="http://schemas.openxmlformats.org/officeDocument/2006/relationships/notesMaster" Target="/ppt/notesMasters/notesMaster1.xml" Id="R48e016801279416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9ad436d7b4a4c79" /><Relationship Type="http://schemas.openxmlformats.org/officeDocument/2006/relationships/notesMaster" Target="/ppt/notesMasters/notesMaster1.xml" Id="Ra447afcbfdca44c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934f004619e4c4f" /><Relationship Type="http://schemas.openxmlformats.org/officeDocument/2006/relationships/notesMaster" Target="/ppt/notesMasters/notesMaster1.xml" Id="Rca4bc77351a94ad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147d0499ffa4f69" /><Relationship Type="http://schemas.openxmlformats.org/officeDocument/2006/relationships/notesMaster" Target="/ppt/notesMasters/notesMaster1.xml" Id="R05cb915f251b424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9cfaff1202b44f2" /><Relationship Type="http://schemas.openxmlformats.org/officeDocument/2006/relationships/notesMaster" Target="/ppt/notesMasters/notesMaster1.xml" Id="Rf06dcd90420a4b5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630207afdaf41c8" /><Relationship Type="http://schemas.openxmlformats.org/officeDocument/2006/relationships/notesMaster" Target="/ppt/notesMasters/notesMaster1.xml" Id="Rb127eff25a71410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0f921bbee5e4d2e" /><Relationship Type="http://schemas.openxmlformats.org/officeDocument/2006/relationships/notesMaster" Target="/ppt/notesMasters/notesMaster1.xml" Id="R9c7db124d31d428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1f71618ad2a4dd2" /><Relationship Type="http://schemas.openxmlformats.org/officeDocument/2006/relationships/notesMaster" Target="/ppt/notesMasters/notesMaster1.xml" Id="R53722166368142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M1 제출 회차입니다. 시작할 때 완성본을 3분 안에 보여주고, RMSE 1204와 412 두 숫자를 칠판에 적어두세요. 이 두 숫자의 차이를 만드는 게 오늘 수업이라고 한 문장으로 정리하고 들어갑니다.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B는 앞 40분이 코드, 뒤 45분이 문서라고 미리 나눠서 말해주세요. 3시 30분에 M1을 제출한다는 시각을 칠판에 적어두면 팀들이 스스로 시간을 관리합니다.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기출문제를 다 외웠는데 시험에 그대로 나와서 100점을 받았다면 그게 실력이냐고 물어보세요. 학생들이 바로 아니라고 답합니다. 모델도 똑같고 이걸 과적합이라고 부른다고 이어가면 됩니다.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테스트를 보고 성능이 낮으니 모델을 바꿔볼까 하는 순간, 여러분의 머리를 통해 테스트 정보가 모델로 새어 들어간 겁니다. 그래서 테스트는 맨 마지막에 딱 한 번이라고 강하게 말해두세요.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따릉이 데이터를 무작위로 나눌지 시간 순으로 나눌지 학생들에게 물어보세요. 실제 서비스에서 우리가 예측하는 건 미래이니 평가도 미래를 맞히는 상황이어야 정직합니다. 시계열 팀은 반드시 시간 순 분할을 쓰라고 하세요.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3주차에 예측 시점에 알 수 있냐고 자문하게 했던 것의 정식 이름이 누수입니다. 고객 이탈 예측에 해지 신청일이 들어 있는 경우처럼 실무에서 아주 흔하다는 예를 들어주세요. 순회할 때 성능이 지나치게 좋은 팀부터 찾아가면 됩니다.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핵심은 사람이 조심하는 게 아니라 구조적으로 실수할 수 없게 만드는 것이라고 정리하세요. 결측 대체와 원-핫 인코딩도 똑같은 문제라서 전부 Pipeline 안에 넣는 게 정석입니다.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불량률 1%인 공정에서 무조건 정상이라고 답하는 모델의 정확도가 99%라는 예를 다시 한 번 쓰세요. 그리고 정밀도와 재현율 중 뭐가 중요한지는 기술이 아니라 비용이 정한다고 강조하세요. 암 진단과 스팸 필터가 좋은 대비입니다.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3주 동안 튜닝해서 RMSE 1100을 만들었는데 평균만 찍어도 1204라면 3주를 날린 겁니다. 그 사실을 3주 뒤가 아니라 오늘 5분 만에 알게 해주는 게 베이스라인이라고 말해주세요.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 목소리를 한 번 낮추고 시작하세요. 이 5분이 7주차에 학생들을 구합니다. 3주 뒤에 이 문장에 고마워하게 될 거라고 말해두면 기억에 남습니다.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실무에서 원인 찾는 데 며칠씩 걸리는 악명 높은 버그라고 말해주세요. 에러가 안 나기 때문에 무섭습니다. 순회할 때 Pipeline 밖에서 fit_transform 을 따로 부른 팀이 반드시 나오는데, 발견 즉시 되돌리게 하고 이 이야기를 짧게 반복하세요.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scikit-learn 버전을 반드시 1.5.2로 맞추게 하세요. 버전이 다르면 나중에 pkl 파일을 못 여는 사고가 납니다. 3주차 산출물이 없는 학생은 공용 버킷의 백업본을 복사해 오게 하고 그대로 진행시킵니다.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결측 대체와 표준화, 원-핫 인코딩이 전부 Pipeline 안에 들어가 있다는 점을 손으로 짚어주세요. 이 줄들이 있기 때문에 fit 이 학습 데이터에만 적용됩니다. 마지막 joblib 한 줄이 오늘의 결론입니다.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네 번째 행이 오늘의 핵심 순회 포인트입니다. 성능이 지나치게 좋은 학생을 찾으면 무조건 피처 목록을 같이 보세요. 아홉은 누수입니다.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 이론 마지막 소절을 손으로 확인시키세요. 이게 Pipeline을 통째로 저장한 대가이고, 7주차 API 코드도 이것과 똑같다고 한 번 더 짚어줍니다. 학생들이 가장 확실하게 납득하는 순간입니다.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구조는 절대 건드리지 말라고 두 번 말하세요. 컬럼 세 줄만 바꾸면 되도록 골격을 짜둔 겁니다. 분류 팀에게는 교체 블록을 그대로 복사해 쓰면 된다고 안내하고, 클래스 비율부터 확인하게 하세요.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높은 정확도나 실용적인 수준 같은 말이 남아 있으면 그 자리에서 오늘의 dummy 숫자를 근거로 다시 쓰게 하세요. 근거 없는 목표 수치는 오늘 이후로 인정하지 않는다고 선언하는 게 좋습니다.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성능이 dummy보다 나쁘게 나왔다는 팀이 나오면 아주 좋은 발견이라고 말해주세요. 대개 피처에 신호가 없거나, 타깃을 잘못 잡았거나, 전처리에서 데이터를 망가뜨린 세 가지입니다. 순서대로 확인하게 하세요.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만든 train_team.py 는 5주차에 MLflow 로깅을 넣을 바로 그 파일이고, pkl 은 7주차 FastAPI가 로드할 그 파일입니다. 버리지 말고 팀 저장소에 커밋하라고 하세요.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 파일이 로컬에만 있으면 다음 주에 없어질 수 있다고 말해주세요. S3에 올라간 것만 살아남습니다. 중지해도 EBS 요금은 계속 나가지만 그건 정상이고 학기 예산에 반영돼 있다고 안심시키세요.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주에는 서른 번 돌리다 보면 아까 그 좋았던 설정이 뭐였지가 반드시 터진다고 예고하세요. 그걸 기계가 대신 기억하게 만드는 도구가 MLflow입니다. 과제 표는 5주차 실습에서 MLflow 화면으로 다시 만듭니다.</a:t>
            </a:r>
            <a:endParaRPr/>
          </a:p>
          <a:p xmlns:a="http://schemas.openxmlformats.org/drawingml/2006/main">
            <a:r>
              <a:t>
[Sources]
- https://docs.aws.amazon.com/AmazonS3/latest/userguide/upload-objects.html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https://docs.aws.amazon.com/AmazonS3/latest/userguide/upload-objects.html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https://docs.aws.amazon.com/AmazonS3/latest/userguide/upload-objects.html</a:t>
            </a:r>
          </a:p>
          <a:p xmlns:a="http://schemas.openxmlformats.org/drawingml/2006/main">
            <a:r>
              <a:t>- https://console.aws.amazon.com/s3/</a:t>
            </a:r>
          </a:p>
          <a:p xmlns:a="http://schemas.openxmlformats.org/drawingml/2006/main">
            <a:r>
              <a:t>- AWS 공식 문서 화면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Dashboard</a:t>
            </a:r>
          </a:p>
          <a:p xmlns:a="http://schemas.openxmlformats.org/drawingml/2006/main">
            <a:r>
              <a:t>- 확인: 학습·모델·엔드포인트 현황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https://console.aws.amazon.com/sagemaker/</a:t>
            </a:r>
          </a:p>
          <a:p xmlns:a="http://schemas.openxmlformats.org/drawingml/2006/main">
            <a:r>
              <a:t>- https://docs.aws.amazon.com/sagemaker/latest/dg/how-it-works-training.html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Training &amp; tuning jobs</a:t>
            </a:r>
          </a:p>
          <a:p xmlns:a="http://schemas.openxmlformats.org/drawingml/2006/main">
            <a:r>
              <a:t>- 확인: 학습 작업 상태와 생성 시간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https://console.aws.amazon.com/sagemaker/home?region=ap-northeast-2#/training</a:t>
            </a:r>
          </a:p>
          <a:p xmlns:a="http://schemas.openxmlformats.org/drawingml/2006/main">
            <a:r>
              <a:t>- https://docs.aws.amazon.com/sagemaker/latest/dg/how-it-works-training.html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Notebooks</a:t>
            </a:r>
          </a:p>
          <a:p xmlns:a="http://schemas.openxmlformats.org/drawingml/2006/main">
            <a:r>
              <a:t>- 확인: 노트북 상태와 유형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https://console.aws.amazon.com/sagemaker/home?region=ap-northeast-2#/notebooks-and-git-repos</a:t>
            </a:r>
          </a:p>
          <a:p xmlns:a="http://schemas.openxmlformats.org/drawingml/2006/main">
            <a:r>
              <a:t>- https://docs.aws.amazon.com/sagemaker/latest/dg/how-it-works-training.html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Models</a:t>
            </a:r>
          </a:p>
          <a:p xmlns:a="http://schemas.openxmlformats.org/drawingml/2006/main">
            <a:r>
              <a:t>- 확인: 모델 이름과 실행 역할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https://console.aws.amazon.com/sagemaker/home?region=ap-northeast-2#/models</a:t>
            </a:r>
          </a:p>
          <a:p xmlns:a="http://schemas.openxmlformats.org/drawingml/2006/main">
            <a:r>
              <a:t>- https://docs.aws.amazon.com/sagemaker/latest/dg/how-it-works-training.html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SageMaker AI → Model governance</a:t>
            </a:r>
          </a:p>
          <a:p xmlns:a="http://schemas.openxmlformats.org/drawingml/2006/main">
            <a:r>
              <a:t>- 확인: 모델 관리 메뉴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https://console.aws.amazon.com/sagemaker/</a:t>
            </a:r>
          </a:p>
          <a:p xmlns:a="http://schemas.openxmlformats.org/drawingml/2006/main">
            <a:r>
              <a:t>- https://docs.aws.amazon.com/sagemaker/latest/dg/how-it-works-training.html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</a:t>
            </a:r>
          </a:p>
          <a:p xmlns:a="http://schemas.openxmlformats.org/drawingml/2006/main">
            <a:r>
              <a:t>- 확인: 학습 서버 상태와 유형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https://console.aws.amazon.com/ec2/home?region=ap-northeast-2#Instances:</a:t>
            </a:r>
          </a:p>
          <a:p xmlns:a="http://schemas.openxmlformats.org/drawingml/2006/main">
            <a:r>
              <a:t>- https://docs.aws.amazon.com/sagemaker/latest/dg/how-it-works-training.html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</a:t>
            </a:r>
          </a:p>
          <a:p xmlns:a="http://schemas.openxmlformats.org/drawingml/2006/main">
            <a:r>
              <a:t>- 확인: CLI 리전과 실행 환경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https://docs.aws.amazon.com/sagemaker/latest/dg/how-it-works-training.html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Buckets</a:t>
            </a:r>
          </a:p>
          <a:p xmlns:a="http://schemas.openxmlformats.org/drawingml/2006/main">
            <a:r>
              <a:t>- 확인: processed·models 경로를 둘 위치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https://console.aws.amazon.com/s3/</a:t>
            </a:r>
          </a:p>
          <a:p xmlns:a="http://schemas.openxmlformats.org/drawingml/2006/main">
            <a:r>
              <a:t>- https://docs.aws.amazon.com/sagemaker/latest/dg/how-it-works-training.html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Logs → Log groups</a:t>
            </a:r>
          </a:p>
          <a:p xmlns:a="http://schemas.openxmlformats.org/drawingml/2006/main">
            <a:r>
              <a:t>- 확인: 학습 로그 그룹과 최근 이벤트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https://console.aws.amazon.com/cloudwatch/home?region=ap-northeast-2#logsV2:log-groups</a:t>
            </a:r>
          </a:p>
          <a:p xmlns:a="http://schemas.openxmlformats.org/drawingml/2006/main">
            <a:r>
              <a:t>- https://docs.aws.amazon.com/sagemaker/latest/dg/how-it-works-training.html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Billing → Cost Explorer</a:t>
            </a:r>
          </a:p>
          <a:p xmlns:a="http://schemas.openxmlformats.org/drawingml/2006/main">
            <a:r>
              <a:t>- 확인: EC2·SageMaker 서비스별 비용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https://console.aws.amazon.com/costmanagement/home#/cost-explorer</a:t>
            </a:r>
          </a:p>
          <a:p xmlns:a="http://schemas.openxmlformats.org/drawingml/2006/main">
            <a:r>
              <a:t>- https://docs.aws.amazon.com/sagemaker/latest/dg/how-it-works-training.html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1a6cb82134a1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c20b2fe7724291" /><Relationship Type="http://schemas.openxmlformats.org/officeDocument/2006/relationships/slideLayout" Target="/ppt/slideLayouts/slideLayout1.xml" Id="Rd114b9e62b6c48b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14b9e62b6c48b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b43c0aa3f4fea" /><Relationship Type="http://schemas.openxmlformats.org/officeDocument/2006/relationships/notesSlide" Target="/ppt/notesSlides/notesSlide1.xml" Id="Re527770c0cf149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816fcd3784dae" /><Relationship Type="http://schemas.openxmlformats.org/officeDocument/2006/relationships/notesSlide" Target="/ppt/notesSlides/notesSlide2.xml" Id="R739aa9f92d8b4a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77a110adc44a5" /><Relationship Type="http://schemas.openxmlformats.org/officeDocument/2006/relationships/notesSlide" Target="/ppt/notesSlides/notesSlide3.xml" Id="R89d4219f468640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3fbe1d890409b" /><Relationship Type="http://schemas.openxmlformats.org/officeDocument/2006/relationships/notesSlide" Target="/ppt/notesSlides/notesSlide4.xml" Id="R14b33e5062e24c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ad7ba2fd64cd0" /><Relationship Type="http://schemas.openxmlformats.org/officeDocument/2006/relationships/notesSlide" Target="/ppt/notesSlides/notesSlide5.xml" Id="Re4a5cbc441e348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b5c7c89394614" /><Relationship Type="http://schemas.openxmlformats.org/officeDocument/2006/relationships/notesSlide" Target="/ppt/notesSlides/notesSlide6.xml" Id="R50f972f93bf143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01f0d09b746f4" /><Relationship Type="http://schemas.openxmlformats.org/officeDocument/2006/relationships/notesSlide" Target="/ppt/notesSlides/notesSlide7.xml" Id="R0cfc9c62fcac49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82f4b8de84d10" /><Relationship Type="http://schemas.openxmlformats.org/officeDocument/2006/relationships/notesSlide" Target="/ppt/notesSlides/notesSlide8.xml" Id="R54665eacd1fe45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43546119f441a" /><Relationship Type="http://schemas.openxmlformats.org/officeDocument/2006/relationships/notesSlide" Target="/ppt/notesSlides/notesSlide9.xml" Id="R4dc71bdc5eed4d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2af27b3f54736" /><Relationship Type="http://schemas.openxmlformats.org/officeDocument/2006/relationships/notesSlide" Target="/ppt/notesSlides/notesSlide10.xml" Id="Rec640956c3b848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cfa8e2f374b5b" /><Relationship Type="http://schemas.openxmlformats.org/officeDocument/2006/relationships/notesSlide" Target="/ppt/notesSlides/notesSlide11.xml" Id="R6f2f106a264349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e8b638dde4080" /><Relationship Type="http://schemas.openxmlformats.org/officeDocument/2006/relationships/notesSlide" Target="/ppt/notesSlides/notesSlide12.xml" Id="Ra5b91e58a00242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4c4d497b04138" /><Relationship Type="http://schemas.openxmlformats.org/officeDocument/2006/relationships/notesSlide" Target="/ppt/notesSlides/notesSlide13.xml" Id="R59993a791c434b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833914dc64570" /><Relationship Type="http://schemas.openxmlformats.org/officeDocument/2006/relationships/notesSlide" Target="/ppt/notesSlides/notesSlide14.xml" Id="R247f8f5e4c4a4c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a18129e0c4e53" /><Relationship Type="http://schemas.openxmlformats.org/officeDocument/2006/relationships/notesSlide" Target="/ppt/notesSlides/notesSlide15.xml" Id="Receff8f253dd47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261a115be45aa" /><Relationship Type="http://schemas.openxmlformats.org/officeDocument/2006/relationships/notesSlide" Target="/ppt/notesSlides/notesSlide16.xml" Id="Rd88fff56130645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0af56348a4003" /><Relationship Type="http://schemas.openxmlformats.org/officeDocument/2006/relationships/notesSlide" Target="/ppt/notesSlides/notesSlide17.xml" Id="R914e64c5714f48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8efb5500b418c" /><Relationship Type="http://schemas.openxmlformats.org/officeDocument/2006/relationships/notesSlide" Target="/ppt/notesSlides/notesSlide18.xml" Id="Rfeca29e53fb346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ae1c005194154" /><Relationship Type="http://schemas.openxmlformats.org/officeDocument/2006/relationships/notesSlide" Target="/ppt/notesSlides/notesSlide19.xml" Id="R21a0008fd9b248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a82e4f8744136" /><Relationship Type="http://schemas.openxmlformats.org/officeDocument/2006/relationships/notesSlide" Target="/ppt/notesSlides/notesSlide20.xml" Id="R7387dd7eb1864e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7387610274b80" /><Relationship Type="http://schemas.openxmlformats.org/officeDocument/2006/relationships/notesSlide" Target="/ppt/notesSlides/notesSlide21.xml" Id="Rcfec4ab8d4b0439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e7f6200f54798" /><Relationship Type="http://schemas.openxmlformats.org/officeDocument/2006/relationships/notesSlide" Target="/ppt/notesSlides/notesSlide22.xml" Id="R9b9a3e287cc34ac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5a81eecbb4f8f" /><Relationship Type="http://schemas.openxmlformats.org/officeDocument/2006/relationships/notesSlide" Target="/ppt/notesSlides/notesSlide23.xml" Id="R1d92b3eb9019448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6b3d9c3814d8e" /><Relationship Type="http://schemas.openxmlformats.org/officeDocument/2006/relationships/notesSlide" Target="/ppt/notesSlides/notesSlide24.xml" Id="R37b7396df7854b5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ca239e8b14f0e" /><Relationship Type="http://schemas.openxmlformats.org/officeDocument/2006/relationships/notesSlide" Target="/ppt/notesSlides/notesSlide25.xml" Id="R4b934faaeb5a470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3bf24f8f246be" /><Relationship Type="http://schemas.openxmlformats.org/officeDocument/2006/relationships/image" Target="/ppt/media/image.jpeg" Id="R5f23d44079f54df9" /><Relationship Type="http://schemas.openxmlformats.org/officeDocument/2006/relationships/hyperlink" Target="https://console.aws.amazon.com/s3/" TargetMode="External" Id="R1d0e158e4a6546bc" /><Relationship Type="http://schemas.openxmlformats.org/officeDocument/2006/relationships/hyperlink" Target="https://docs.aws.amazon.com/AmazonS3/latest/userguide/upload-objects.html" TargetMode="External" Id="R84b5b238e8154a09" /><Relationship Type="http://schemas.openxmlformats.org/officeDocument/2006/relationships/notesSlide" Target="/ppt/notesSlides/notesSlide26.xml" Id="Rbb87fb2b70e34e9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1c9b3cb414bad" /><Relationship Type="http://schemas.openxmlformats.org/officeDocument/2006/relationships/hyperlink" Target="https://console.aws.amazon.com/sagemaker/" TargetMode="External" Id="R2a1898d7db2742d2" /><Relationship Type="http://schemas.openxmlformats.org/officeDocument/2006/relationships/hyperlink" Target="https://docs.aws.amazon.com/sagemaker/latest/dg/how-it-works-training.html" TargetMode="External" Id="Reb49bfee30a54c5c" /><Relationship Type="http://schemas.openxmlformats.org/officeDocument/2006/relationships/image" Target="/ppt/media/image2.jpeg" Id="Rea0560f2d4ea416d" /><Relationship Type="http://schemas.openxmlformats.org/officeDocument/2006/relationships/notesSlide" Target="/ppt/notesSlides/notesSlide27.xml" Id="Rb652a43982a8450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5ca4983d84858" /><Relationship Type="http://schemas.openxmlformats.org/officeDocument/2006/relationships/hyperlink" Target="https://console.aws.amazon.com/sagemaker/home?region=ap-northeast-2#/training" TargetMode="External" Id="Rbda2a56892904c76" /><Relationship Type="http://schemas.openxmlformats.org/officeDocument/2006/relationships/hyperlink" Target="https://docs.aws.amazon.com/sagemaker/latest/dg/how-it-works-training.html" TargetMode="External" Id="Rc9744df49dad4f5f" /><Relationship Type="http://schemas.openxmlformats.org/officeDocument/2006/relationships/image" Target="/ppt/media/image3.jpeg" Id="R193363b5c0764bb1" /><Relationship Type="http://schemas.openxmlformats.org/officeDocument/2006/relationships/notesSlide" Target="/ppt/notesSlides/notesSlide28.xml" Id="R6a7cd2c692c04c9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a3cca82684744" /><Relationship Type="http://schemas.openxmlformats.org/officeDocument/2006/relationships/hyperlink" Target="https://console.aws.amazon.com/sagemaker/home?region=ap-northeast-2#/notebooks-and-git-repos" TargetMode="External" Id="Rb9af34b978484413" /><Relationship Type="http://schemas.openxmlformats.org/officeDocument/2006/relationships/hyperlink" Target="https://docs.aws.amazon.com/sagemaker/latest/dg/how-it-works-training.html" TargetMode="External" Id="R3fdb90f994ef4565" /><Relationship Type="http://schemas.openxmlformats.org/officeDocument/2006/relationships/image" Target="/ppt/media/image4.jpeg" Id="Rb3f2d836598147af" /><Relationship Type="http://schemas.openxmlformats.org/officeDocument/2006/relationships/notesSlide" Target="/ppt/notesSlides/notesSlide29.xml" Id="R78c112cb1a244dd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9b2092bac402d" /><Relationship Type="http://schemas.openxmlformats.org/officeDocument/2006/relationships/hyperlink" Target="https://console.aws.amazon.com/sagemaker/home?region=ap-northeast-2#/models" TargetMode="External" Id="Re6daeea6430441f3" /><Relationship Type="http://schemas.openxmlformats.org/officeDocument/2006/relationships/hyperlink" Target="https://docs.aws.amazon.com/sagemaker/latest/dg/how-it-works-training.html" TargetMode="External" Id="R5620caa9096a4481" /><Relationship Type="http://schemas.openxmlformats.org/officeDocument/2006/relationships/image" Target="/ppt/media/image5.jpeg" Id="Rcd9340d751794c8b" /><Relationship Type="http://schemas.openxmlformats.org/officeDocument/2006/relationships/notesSlide" Target="/ppt/notesSlides/notesSlide30.xml" Id="Rf83f2cd387ed455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9241975594d38" /><Relationship Type="http://schemas.openxmlformats.org/officeDocument/2006/relationships/hyperlink" Target="https://console.aws.amazon.com/sagemaker/" TargetMode="External" Id="Ra7375c2cb31c4db1" /><Relationship Type="http://schemas.openxmlformats.org/officeDocument/2006/relationships/hyperlink" Target="https://docs.aws.amazon.com/sagemaker/latest/dg/how-it-works-training.html" TargetMode="External" Id="R607fed3edbaa47b9" /><Relationship Type="http://schemas.openxmlformats.org/officeDocument/2006/relationships/image" Target="/ppt/media/image6.jpeg" Id="R0a534be11dfb4c2e" /><Relationship Type="http://schemas.openxmlformats.org/officeDocument/2006/relationships/notesSlide" Target="/ppt/notesSlides/notesSlide31.xml" Id="Ra2ccd03ea07b4d8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bd8142782490c" /><Relationship Type="http://schemas.openxmlformats.org/officeDocument/2006/relationships/hyperlink" Target="https://console.aws.amazon.com/ec2/home?region=ap-northeast-2#Instances:" TargetMode="External" Id="R27c449fbb4d442e1" /><Relationship Type="http://schemas.openxmlformats.org/officeDocument/2006/relationships/hyperlink" Target="https://docs.aws.amazon.com/sagemaker/latest/dg/how-it-works-training.html" TargetMode="External" Id="R5a561c66631c44c0" /><Relationship Type="http://schemas.openxmlformats.org/officeDocument/2006/relationships/image" Target="/ppt/media/image7.jpeg" Id="R7b8321a9f3a54890" /><Relationship Type="http://schemas.openxmlformats.org/officeDocument/2006/relationships/notesSlide" Target="/ppt/notesSlides/notesSlide32.xml" Id="R6c56ed05e2de41f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c89dfe3174f00" /><Relationship Type="http://schemas.openxmlformats.org/officeDocument/2006/relationships/hyperlink" Target="https://ap-northeast-2.console.aws.amazon.com/cloudshell/home?region=ap-northeast-2" TargetMode="External" Id="R4b9d018543a44935" /><Relationship Type="http://schemas.openxmlformats.org/officeDocument/2006/relationships/hyperlink" Target="https://docs.aws.amazon.com/sagemaker/latest/dg/how-it-works-training.html" TargetMode="External" Id="Ra693adad10254997" /><Relationship Type="http://schemas.openxmlformats.org/officeDocument/2006/relationships/image" Target="/ppt/media/image8.jpeg" Id="R8a28962e042147f6" /><Relationship Type="http://schemas.openxmlformats.org/officeDocument/2006/relationships/notesSlide" Target="/ppt/notesSlides/notesSlide33.xml" Id="R375f1976be974d3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3e1261a3e415a" /><Relationship Type="http://schemas.openxmlformats.org/officeDocument/2006/relationships/hyperlink" Target="https://console.aws.amazon.com/s3/" TargetMode="External" Id="Reecf93e422734e08" /><Relationship Type="http://schemas.openxmlformats.org/officeDocument/2006/relationships/hyperlink" Target="https://docs.aws.amazon.com/sagemaker/latest/dg/how-it-works-training.html" TargetMode="External" Id="R1333bb3981674475" /><Relationship Type="http://schemas.openxmlformats.org/officeDocument/2006/relationships/image" Target="/ppt/media/image9.jpeg" Id="R22b7632c3d8045f1" /><Relationship Type="http://schemas.openxmlformats.org/officeDocument/2006/relationships/notesSlide" Target="/ppt/notesSlides/notesSlide34.xml" Id="R7831c7d24b2a495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a2dbc7093467d" /><Relationship Type="http://schemas.openxmlformats.org/officeDocument/2006/relationships/hyperlink" Target="https://console.aws.amazon.com/cloudwatch/home?region=ap-northeast-2#logsV2:log-groups" TargetMode="External" Id="Rcb317c1127564cfe" /><Relationship Type="http://schemas.openxmlformats.org/officeDocument/2006/relationships/hyperlink" Target="https://docs.aws.amazon.com/sagemaker/latest/dg/how-it-works-training.html" TargetMode="External" Id="R9e22cb48501442a1" /><Relationship Type="http://schemas.openxmlformats.org/officeDocument/2006/relationships/image" Target="/ppt/media/image10.jpeg" Id="R3d9fbf5eac9346f4" /><Relationship Type="http://schemas.openxmlformats.org/officeDocument/2006/relationships/notesSlide" Target="/ppt/notesSlides/notesSlide35.xml" Id="R14d5887822e941a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7908229c14938" /><Relationship Type="http://schemas.openxmlformats.org/officeDocument/2006/relationships/hyperlink" Target="https://console.aws.amazon.com/costmanagement/home#/cost-explorer" TargetMode="External" Id="Rfee9743b864b4c64" /><Relationship Type="http://schemas.openxmlformats.org/officeDocument/2006/relationships/hyperlink" Target="https://docs.aws.amazon.com/sagemaker/latest/dg/how-it-works-training.html" TargetMode="External" Id="R6236d4b605594e90" /><Relationship Type="http://schemas.openxmlformats.org/officeDocument/2006/relationships/image" Target="/ppt/media/image11.jpeg" Id="R984b860db8924b08" /><Relationship Type="http://schemas.openxmlformats.org/officeDocument/2006/relationships/notesSlide" Target="/ppt/notesSlides/notesSlide36.xml" Id="R993f3179d22740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8BB20F-E5E7-4A1F-B5DE-2A5D74BB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37160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776335F-B8C8-4531-A3FA-62157B49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06240"/>
            <a:ext cx="2834640" cy="283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F00E1E7-14E0-4D78-B3D1-20291F91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5486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04</a:t>
            </a:r>
            <a:r>
              <a:rPr sz="2200">
                <a:solidFill>
                  <a:srgbClr val="6FD9BE"/>
                </a:solidFill>
                <a:latin typeface="맑은 고딕"/>
                <a:ea typeface="맑은 고딕"/>
                <a:cs typeface="맑은 고딕"/>
              </a:rPr>
              <a:t>  주차</a:t>
            </a:r>
            <a:endParaRPr sz="8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7B5F419-5BC7-4004-8A76-0AC2054F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베이스라인 모델 만들기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D7174C6-FF9D-42B9-B071-409AB1C2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6052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Pipeline으로 베이스라인 모델을 학습·평가하고 S3에 저장할 수 있다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0AADEF8-99A8-4AF2-9819-D39C8DC7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8412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6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EE790EB-4BBB-4354-AD0D-E2C41F50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94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FA3AB"/>
                </a:solidFill>
                <a:latin typeface="맑은 고딕"/>
                <a:ea typeface="맑은 고딕"/>
                <a:cs typeface="맑은 고딕"/>
              </a:rPr>
              <a:t>클라우드 MLOps · 연성대학교 · 230분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FD0142-980D-4A3E-8D57-BC6353B8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24144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NCS  2001070301_19v1.3   2001070306_19v1.1   2001070306_19v1.4   2001070307_19v1.1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8323479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5EF7989-AACE-411F-A3DB-9853328E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흐름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7A4DFB-DACA-450D-8D7A-4887867B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230분 · 오늘 M1 문제정의서를 제출합니다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481AEBC-564E-4EBF-96FD-3F9E2835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E4C3E0D-8493-4429-A594-185D8656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복습 퀴즈 + 오늘 만들 결과물 데모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A2E5F3-1090-4420-9D4A-DA417A36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148132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9FC871A-C7BB-4370-9D7D-5B39ABC2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8483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DC1BFF-833E-4C73-B0AE-0EB7639F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8483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이론 — 분할 · 누수 · 지표 · 베이스라인 · Pipeline 저장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708D466-F6EE-4194-89A6-C4353B90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08483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45분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74A7F44-0C35-47DB-B6E9-494EC3CE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A69CEFC-EBD5-4A20-A5D4-FF5D17E3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8833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311E621-3A08-4450-B2FA-D0EBDBE0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68833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D2B8D49-6147-4A25-B878-6A7D02EC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0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4DCC44C-EBA7-4E11-89C7-B3775E73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91840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— 공통 예제로 베이스라인 학습 후 S3 업로드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8462D6B-EF64-47CA-B6FF-909CEDF0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29184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50분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5277DD8-1787-42D0-AD19-F16D3013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95344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6D849F3-C8FA-4C8F-B39E-3E571566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95344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55721DC-208F-47D1-BC49-3936BAFC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895344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2BABB60-DCDA-4D08-9055-7C558F0E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59B195D-7495-498F-9777-58B5B92D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9884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— 팀 데이터 베이스라인 + M1 최종화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BB81F17-BC59-4312-9855-7E2F537C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449884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85분</a:t>
            </a:r>
            <a:endParaRPr sz="13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B71A911-B3FE-4085-9077-612AF9FD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0235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22ECC30-7516-4C56-B56D-A2E79DF8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0235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체크포인트 + M1 제출 + 다음 주 예고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071043A-BB1E-4FD7-9547-2264ECEA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10235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15분</a:t>
            </a:r>
            <a:endParaRPr sz="13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D89B2D2-19FC-4D29-B02E-538D646D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0585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EF12D62-DB91-4AA3-8E6B-CFDA7C06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0585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리소스 정리 타임</a:t>
            </a:r>
            <a:endParaRPr sz="13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43C24C3-9961-4BFC-A91A-39037A0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70585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5분</a:t>
            </a:r>
            <a:endParaRPr sz="13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B1A5A33-3A32-4196-A55F-7FE1B055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F51D245-A4AC-4B6D-9E01-284E6B3F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92018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2085A7-4CE3-4795-8E89-1F10B0ED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3EE286-A719-4AD1-A933-EF994C96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EA20883-2A80-4940-B9D5-857AE8DA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이론 — 정직하게 평가하기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ED76680-306C-4AF8-85A5-D8F27603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45분 · 오늘 이론이 M1의 평가지표와 성공기준이 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004565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5082148-B510-41D5-9316-4A1CA116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학습한 데이터로 다시 평가하면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실력이 아니라 암기력을 잰 겁니다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FB6896-3357-4013-AC21-8692FDDD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기출문제 100문제가 시험에 그대로 나온 상황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562243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032556-2BCE-471E-B637-19A83B8F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데이터를 세 덩어리로 나눕니다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22D611-5678-433F-8652-7AE6072D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학교 시험에 비유하면 이렇습니다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E08B466-1B50-4653-ACD8-072B8713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41E584-7D51-4B06-8703-78371302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0203177-30E6-46A1-A19D-6D077A0B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BE4E3AB-AD2A-454C-A49D-27C8960D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학습 (train) — 공부용 문제집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97829DE-C0B5-40D3-A6DC-90DACA3E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모델이 여기서 패턴을 배웁니다. 전체의 약 60%를 씁니다.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41ABF42-F92D-4AC1-A410-061D8869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832E0BF-EDE2-43E2-99EB-6829320B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3F9595-1CE7-45DB-8413-4308C9C6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7B60BF-4EB7-4AEA-B53C-D9D6287E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검증 (valid) — 모의고사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7EA842A-0B2C-480D-961C-49E9EC6D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여러 후보 중 어느 모델이 나은지, 설정값을 얼마로 할지 여기서 정합니다. 여러 번 봐도 됩니다.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5ACCEE3-3AB2-44D5-9935-1C0FF89B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13A07E1-4384-4E20-B712-9B401EA6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5A04F14-DC17-4A9D-961B-775451FD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FC23E75-F5C7-4C68-802B-C61D4D5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테스트 (test) — 수능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0FB66E3-8980-4E51-AB7F-9676E978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최종 보고용으로 딱 한 번만 봅니다. 보고 나서 모델을 고치는 순간 그건 더 이상 수능이 아닙니다.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2116D0E-7885-414E-B29C-327ADAAF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C97D295-174F-4765-A8DE-CE2A8AFD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524434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108C364-0747-406E-8C22-1E322FE2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분할 규칙 다섯 가지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F55BA9F-F282-4A31-9C21-68010453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순서를 어기면 그게 바로 누수입니다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B4E6F56-A074-48EA-A411-3FBB7013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22068DE-1272-4708-A324-92FCA6DE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8614FCC-137E-4A7F-B88B-E2491A6A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분할을 가장 먼저 한다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8609501-475E-4075-AC73-F5A0E4DD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전처리보다 먼저. 순서가 뒤집히면 누수다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FA254F4-A95F-4A1B-99BD-1789B4AB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9196AC6-242F-453F-A3CC-9E38B6C2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3D1AD60-AAC7-40DB-9112-37270C56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비율은 60 : 20 : 20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FB68440-59F1-4F03-A2CD-64A75C94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데이터가 아주 많으면 80:10:10도 쓴다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86D79A0-FB9F-4888-AC10-AF98FA7B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FFA4977-8A48-4384-A6C4-67695715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0B4AEE7-863E-4F53-98A7-34DBE3A4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시계열은 무작위 분할 금지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DCE1578-149B-45CF-A7D3-7761D79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시간 순으로 앞에서부터 자른다. 우리가 맞히는 건 미래다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663FB37-19A1-4592-A27E-831BE887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366AAD5-0BD5-4C1E-9DFD-6BFE988E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ABA366A-1AAE-4771-A132-8F6C9A02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테스트는 최종 1회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56F3A75-CEAD-4EE5-93BE-F18F8632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보고 나서 모델을 고치면 그 순간 오염된다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AAD5918-9F75-44E7-BBD2-733CC31B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899A411-BD3B-4548-BBB9-581AA94F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1FEAA54-B872-4704-93F0-121CE1D9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random_state=42 로 고정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37FF1A8-F362-40FD-8555-7BF5E228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매번 같은 분할이 나와야 비교가 가능하다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F8D2814-3992-406D-A383-8B988A5E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2B067DD-71D8-4FD4-9B3B-546EFB96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데이터가 적으면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BC9AF78-BFD2-4262-8015-9251749D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교차검증을 쓴다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5조각 내 돌아가며 검증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테스트는 그래도 따로 뗀다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A3A8EB0-1287-4114-BF8C-A63A8147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89FA638-20AD-4157-985D-88073AF4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372658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B57EF38-5BFE-493C-9A57-638C0DC3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데이터 누수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38EB28-826B-46C2-B7DF-96A9BB65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이론에서 가장 무서운 이야기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ECEF493-5C69-4AB3-9FC2-214BC38A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9DB9339-2765-4049-B0FF-204338EB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DA6E680-184F-48D0-90F9-5B551C39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D7614F9-41B8-47BE-B75A-3EE30040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성능이 이상하게 좋으면 기뻐하기 전에 누수를 의심합니다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042F482-01D1-4F79-9A05-79650ADC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버그는 에러를 띄워주지만 누수는 정확도 99%를 띄워준다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얼굴 1 — 답이 들어 있는 컬럼. 하루 총 대여량, 해지 신청일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얼굴 2 — 분할 전에 fit 해버린 스케일러·결측 대체·인코더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경고 신호 — R2 0.99, 정확도 100%, 검증과 테스트가 똑같이 완벽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자문할 문장 — 예측하는 그 순간에 이 값을 알 수 있는가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27DD220-CAE2-49AA-83A2-C0B09C52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B120DCA-79F9-497B-9AC8-91F0DC91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511075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5F6A34E-784A-490B-948A-FFEF4464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스케일링 하나로 갈립니다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4764D4-B752-468F-ACB3-21D647A2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여러분이 실제로 저지를 실수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C271481-CDB9-4A8F-8693-0A3DBEDB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53412"/>
            <a:ext cx="5364328" cy="3346704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557353B-4576-48AC-BE58-772F0135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53412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B01A3D-AB5D-4C0A-A3B9-0692891A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153412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틀린 방법 — 누수 발생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04D8C7-7E36-4271-8308-38D387C4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84932"/>
            <a:ext cx="4852264" cy="2432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전체 데이터로 scaler.fit_transform 을 먼저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그다음 train_test_split 으로 나눈다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테스트의 평균 정보가 학습에 이미 반영됨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미래 정보가 과거로 흘러 들어간 상태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성능이 비현실적으로 좋게 나온다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BDAF65D-157B-4AC6-B58F-1F6C65EB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153412"/>
            <a:ext cx="5364328" cy="3346704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4584152-AEE4-4CC7-BD9E-177AC98B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153412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D4E5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1828FAE-0A7B-4A7D-8E67-57F12217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896" y="2153412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올바른 방법 — Pipeline 안에서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DD3C893-4A73-49CD-88E4-812A3D45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2884932"/>
            <a:ext cx="4852264" cy="2432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train_test_split 을 가장 먼저 한다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전처리를 Pipeline 단계로 집어넣는다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fit 은 학습 데이터에만 적용된다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검증·테스트에는 transform 만 적용된다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사람이 순서를 지키려 애쓸 필요가 없다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A77E035-A7ED-49B6-A789-183D6520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6DAC62F-42FA-4C9A-B234-10434CF5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36121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D448E6-F820-4A40-8A45-052EC683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지표는 문제가 정합니다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136DB6D-AE4F-489B-B1BD-3995CFBE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주 지표는 반드시 하나. 나머지는 보조 지표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 유형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상황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지표와 이유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클래스 균형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 — 직관적이고 해석이 쉽다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불균형 (불량·이탈·사기)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F1 — 정확도가 무의미해진다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놓치면 큰일 (질병·고장)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Recall — 미검출 비용이 크다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오경보가 큰일 (스팸)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Precision — 오탐 비용이 크다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큰 오차가 특히 치명적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RMSE — 제곱해서 큰 오차에 벌점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오차가 동등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MAE — 단위가 그대로라 설명이 쉽다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812C0CF-E870-4590-A06D-4E3DDED8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29C000F-C5BC-4EE4-B40C-3F28DDDA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87060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9119A41-BAEA-4E8F-ADBA-45B87743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평균만 찍은 베이스라인 RMSE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520385-E051-4CFF-9D67-476C8168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64429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1204</a:t>
            </a:r>
            <a:endParaRPr sz="7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3F33105-4213-4107-941F-C118E2EA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377" y="1417320"/>
            <a:ext cx="619239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모델을 썼더니 412가 나왔습니다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086A7B9-0B90-4706-8434-D0B00D15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9000"/>
            <a:ext cx="11057839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회귀는 DummyRegressor, 분류는 DummyClassifier 로 만든다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기준선이 없으면 내 점수가 좋은지 나쁜지 알 수 없다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개선 폭은 dummy 지표 빼기 모델 지표. 이게 진짜 성과다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베이스라인은 결승선이 아니라 출발선. 그러나 오늘 반드시 넘는 선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9799176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8BB419E-29A7-45B4-9530-A538FEEF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저장하는 것은 모델이 아니라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Pipeline 전체입니다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E81858C-4229-43E1-B9E4-0D574E5C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오늘 수업에서 제일 중요한 5분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4612328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B0D8AA-637D-42FA-BB3B-E7454A25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모델만 저장하면 생기는 일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7E1F518-4766-4CCC-8245-3965C3C4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학습-서빙 스큐 · 7주차에 다시 만납니다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0848A4A-02D0-46F1-BC7C-C2558894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7F813B7-5AA0-46E5-B959-DC0568E6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ED61F39-3730-48C2-871A-D53FB562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7주차에 API를 만든다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9D738DB-BA80-4583-A6E7-31D7B17F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사용자가 temp 21.5, weekday Mon 같은 값을 그대로 보낸다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F0CF579-7E99-4998-9581-ABA6C0B4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124AE31-04C0-4EA4-93A8-D137ADA5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B325A74-D4D2-417F-9ED8-F2F7D2DD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모델은 문자열을 못 먹는다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5040CAB-1F60-44C7-98D0-0FF36046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학습 때 했던 인코딩과 스케일링을 서빙에서 다시 짜야 한다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062AE6-4050-419A-BA79-72CF7E95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8203776-B3FA-4D5A-A48A-292E67B9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9FD9735-2D88-4D90-90D8-BA0969A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여기서 어긋난다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318AE3D-DD98-4762-A4EA-53EF8A46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평균값이 다르고 요일 컬럼 순서가 다르다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AF8A1B1-82F4-47C5-AC52-FDEDA6F1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7A4F24D-CB1F-47B5-A17B-9AC67A3B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DEA79F4-8C71-4899-B8A6-A0CEC743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에러는 안 난다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84631F3-A6B8-4AF3-8CA7-0D52B628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예측은 나온다. 그런데 틀린 값이 나온다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722C576-D63A-4A35-8AA7-33380C0C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9D33931-6408-4BD1-8A22-BA8A6977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E867FAC-6D0C-44BF-9D09-68F3D215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묶어서 통째로 저장하면 끝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A1F4584-A2C9-4E01-84F1-99BBC166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평균·범주 목록·컬럼 순서까지 파일 하나에 들어간다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8D3F2AC-7EA8-4BE1-A75D-1D740E39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78E4D80-9B24-4721-B0FD-068C2B4F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서빙 코드는 한 줄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A051C50-F17F-430C-8CD9-0E0E59EF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pipe.predict(원본 표)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전처리를 다시 안 짠다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7주차 FastAPI가 이걸 쓴다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AC9FC95-7AD0-4A5A-8EB6-79AACFFE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978D870-7B15-44D7-97B4-397CE94B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230874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62CAFAD-AE4A-4864-B1EC-E0C2E612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AC99A68-AE0A-47FE-A863-AECBB858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43DD12-6DF4-4F47-A0C6-E133B9B4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A — 공통 예제 베이스라인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5FFD0E7-905F-4CC2-9303-042F56C7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50분 · 다 함께 따라합니다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59812283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22D436-3AFB-4CB2-A43D-AEDD64E3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5F5C45-C0A8-4660-85F4-422F912F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빈 함수 두 개만 직접 입력합니다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1C08D70-331C-480F-9FC3-F16626EF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E8FD55-672B-46E1-B538-E06566FE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50431F2-BF74-4BEF-8E5B-A0DC3DF2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CD0F234-0DE2-43B6-BF06-E7C2C83F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서버 시작하고 접속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B6C5F7F-09BC-4AF1-820D-8ED175FD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인스턴스 Start → 새 IP로 접속 → 가상환경 활성화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3B31103-B419-4A94-81FD-35DFD94F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11EFF20-C4C9-4BA1-BBDC-0A2BC98A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AA03B81-6563-44DB-A180-9525F310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920825F-F78A-4A47-A132-29241AC2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패키지 버전 맞추기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F93233E-91DA-448A-AEBC-EE4F030B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28090"/>
                </a:solidFill>
                <a:latin typeface="Consolas"/>
                <a:ea typeface="Consolas"/>
                <a:cs typeface="Consolas"/>
              </a:rPr>
              <a:t>pip install -r requirements-week04.txt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F566F8A-0904-44C2-9E59-EEABFBBF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94348D1-3E15-4247-96A2-8E1F03F3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448009D-B62D-4721-A992-4D6BB75B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12CEBE3-DC37-41DC-98FF-48E659BA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입력 데이터 확인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E340D13-A697-4911-AA01-C5266672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processed/bike_processed.csv 와 컬럼 이름을 눈으로 본다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3A8E8B6-E596-4562-92CA-1B8B7937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D22D968-B201-4C10-9F9F-26D9469B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1383BD0-28CF-42D1-9CA4-E96DEA9F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D48D2C4-4B5A-40C2-9E02-7EF9EA7E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빈 함수 두 개 채우기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30B0240-6840-40E7-8AE5-395E69A6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split_data 와 build_pipeline 만 직접 입력한다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182F38F-F577-4EF4-987B-5D5774C4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BD813E-38C2-4DF6-9BD6-201C0A56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4F60355-485A-446A-A52C-DE746FBA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5758615-4854-4632-A4B0-583FA705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실행하고 S3에 올린다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021105E-2CF3-481D-8BAC-1E27C151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28090"/>
                </a:solidFill>
                <a:latin typeface="Consolas"/>
                <a:ea typeface="Consolas"/>
                <a:cs typeface="Consolas"/>
              </a:rPr>
              <a:t>python train_baseline.py --bucket mlops-2026-&lt;학번&gt;</a:t>
            </a:r>
            <a:endParaRPr sz="11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9BC1617-5360-4079-A7BC-F490D9CE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5D6B80C-E0C3-49B8-B86C-7C14874D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5782051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5958A9-4F44-4E4B-9298-C57E6FB2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전처리와 모델을 하나로 묶기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C27117-09F8-4BF7-91BE-F591B49D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숫자 열과 문자 열에 서로 다른 처리를 지정합니다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3297587-A255-4869-87C9-2307B431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8FE845B-B1FC-4EC2-B502-3AFD8122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EA6890C-1DA8-4D43-8F4A-0F4FB9CC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def build_pipeline(model):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"""전처리와 모델을 하나의 Pipeline으로 묶는다"""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numeric = Pipeline([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("impute", SimpleImputer(strategy="median")),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("scale", StandardScaler()),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])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categorical = Pipeline([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("impute", SimpleImputer(strategy="most_frequent")),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("onehot", OneHotEncoder(handle_unknown="ignore")),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])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preprocess = ColumnTransformer([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("num", numeric, NUM_COLS),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  ("cat", categorical, CAT_COLS),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])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return Pipeline([("pre", preprocess), ("model", model)])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joblib.dump(rf, "baseline_bike.pkl")   # 모델이 아니라 Pipeline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2D82CF-CE3E-46FA-96D4-6515B028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handle_unknown="ignore" 는 처음 보는 범주가 와도 죽지 않게 해줍니다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C70437A-C741-4B19-BB09-20E6D915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B680B-562E-4CCD-B908-A31F8CC0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2306437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F79D21-D75B-4E86-A6BA-E043614E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여기서 막히면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F0415C-2BB1-42ED-B25B-94933605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A에서 실제로 터지는 문제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필요한 컬럼이 없다며 중단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3주차 산출물의 컬럼명이 스크립트와 다름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출력된 현재 컬럼 목록을 보고 NUM_COLS·CAT_COLS·TARGET 수정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AccessDenied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버킷명 오타 또는 남의 버킷 지정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aws s3 ls 로 본인 버킷명 재확인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sparse_output 인자 오류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scikit-learn 1.2 미만 버전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pip install -U scikit-learn==1.5.2 후 재실행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R2가 0.999, RMSE가 한 자릿수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누수. 타깃이 피처에 섞임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합계·비율 같은 타깃 파생 컬럼을 피처에서 제거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학습이 3분 넘게 안 끝난다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트리 개수 과다 또는 메모리 부족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--n-estimators 100 --max-depth 8 로 재실행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MemoryError 또는 접속 끊김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메모리 부족으로 프로세스가 죽음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df.sample(20000) 으로 줄여 재시도 후 조교 호출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C4CBCD7-A47D-4716-B504-A2FFF585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0B36936-FA12-4044-A47E-C269BE48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686176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BA0D1E3-2D96-4E36-890A-108D42A7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저장한 Pipeline을 다시 불러 예측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2C8D1A-F9C2-4C1E-AF83-CE27F10C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전처리를 하나도 안 한 원본 형태를 그대로 넣습니다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699D673-EB44-44DC-9ECB-65EDCA33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C8D503E-EF31-4244-913C-643797F7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397C11D-8012-4202-BE13-88560E38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import joblib, pandas as pd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pipe = joblib.load("baseline_bike_20260302.pkl")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사람이 읽을 수 있는 원본 형태의 입력 두 건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sample = pd.DataFrame([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{"temp": 21.5, "humidity": 55, "windspeed": 2.1, "rainfall": 0.0,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"hour": 18, "weekday": "Mon", "season": "spring", "holiday": 0},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{"temp": -3.0, "humidity": 80, "windspeed": 5.4, "rainfall": 1.2,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"hour": 3, "weekday": "Sun", "season": "winter", "holiday": 1},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])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print(sample)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print("예측 대여량:", pipe.predict(sample).round(1))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B47F352-ABF8-4483-9119-3C55445E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Mon, spring 같은 문자열을 그대로 넣었는데 예측 숫자가 나옵니다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A7C74A6-93C5-42AA-9249-C63D278C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65A944C-D8C0-4961-B258-85F6AC2F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313488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5A7B5EC-AED4-4BD7-96FE-FCC02254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4B9D033-F9CA-4460-A3C8-74E646CD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2A39EB0-EAE5-41A4-A8B0-8BDDBA32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B — 팀 데이터와 M1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0392D4C-149A-4ED2-9EE8-863E335E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85분 · 앞 40분은 코드, 뒤 45분은 문서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6029558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3068C5B-20F8-4006-B629-E44D6DB6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데이터로 옮기는 법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F157F2C-ECBD-45C0-96E2-8BE52407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같은 골격에 자기 데이터만 갈아 끼웁니다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BB312D5-4FAC-4D89-BDDB-FFA21C8B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B32FF4B-82C6-48E2-A9C4-86F2E08C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9392F0-AC1F-4B45-BD0F-65503046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파일을 복사한다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ED890E-6FEF-40F1-AE8A-415CE32D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cp train_baseline.py train_team.py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EBD437C-007F-485E-B398-7390842D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1E4E62-FA73-4A18-8D6A-8FFAEBEB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C78BB13-73B7-4A27-813A-883FFB6D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세 줄만 고친다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B2F201B-399A-4C6C-8BEC-62522564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NUM_COLS · CAT_COLS · TARGET 를 우리 데이터 컬럼으로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C0FC4DE-A705-47A8-8B2A-A4F3781D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3BC7393-6EC3-423E-909D-8F31C656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97E0668-6222-41C8-A3A2-03ACDA88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구조는 절대 건드리지 않는다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D15D52-5580-4E93-8CDD-B66A2194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Pipeline을 해체하는 순간 7주차 스큐가 예약된다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6754EB0-8829-47A7-BD05-7E7D9B76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0EA3467-6B14-48E3-A140-2C2CB831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844CD82-5474-45AA-9669-41CF131D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분류 팀은 교체 블록을 붙인다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CF9E033-A7E3-4774-9703-D5A888AE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DummyClassifier · RandomForestClassifier · F1 평가 함수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1567158-C78B-461C-99B2-0B07D2CA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E3A4F70-5E55-4E1E-B36B-2AC8ADD0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76876C9-2F28-4F5E-9750-D778D07E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숫자 두 개를 받아 적는다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4201914-794D-421F-A5C4-213BEE9B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dummy 성능과 우리 모델 성능. 오늘 손에 넣을 전부다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F717AD7-6758-40A6-9E6C-40EAF4A5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7DE8BAF-B082-4957-8D07-1DE2ABA5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분류 팀 추가 설정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C22C376-F6B4-4097-BEEF-1D63C75D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분할에 stratify=y 추가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class_weight 는 balanced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주 지표는 F1 또는 Recall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94B7DB2-A2A3-4E3F-90B7-D733C322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2E555C8-ED4E-4A59-B771-12DB3124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5441260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3FA3CC-CE1E-44C8-8E2C-DA3D7A40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M1 최종본 여섯 항목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03F1DFE-3455-4C15-9E3D-BCC322C8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나온 숫자를 반영하지 않은 문서는 반려합니다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48309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나쁜 예에서 좋은 예로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따릉이 예측 → 운영팀이 재배치 수량을 정하기 위한 시간별 대여량 예측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공공데이터 → 서울열린데이터광장, 2024년, 8,760행, CC BY, 개인정보 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목록에 하루 총합 컬럼이 있으면 누수 → 피처에서 제거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대여량 → rent_count, 정수, 시간당 대여 건수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평가지표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 → 주 지표 RMSE. 큰 오차의 피해가 크기 때문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성공 기준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 90% → 검증 RMSE 846 이하 (베이스라인 1204 대비 30% 개선)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5FF9516-7675-4003-B37C-DC53E228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9CEB254-D291-4138-8800-9ABA028C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318447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B5BD5EC-A07F-41A1-9674-3168DAAE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베이스라인 성능표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F9B61E-F5BE-4998-B098-B51575E1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LMS 제출 양식과 같은 항목입니다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006719E-9762-4D60-BAC2-0D91E30F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860C9C3-3308-4468-9180-29AB6997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90D3990-F03F-4C77-B96C-3B6EE59C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106006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분할 방식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A3D3AC6-AF39-4E72-9FC1-914B6409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10600639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무작위인지 시간 순인지 적는다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F957020-3D74-4CF6-8FC4-EB63FBC7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0B8F1C3-8A96-4EC4-AD6E-763CA9BE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0485316-AD64-4E26-A32A-6BA931A0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106006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주 지표 하나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45E6798-FB3B-437C-8758-9DBDB1CB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10600639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RMSE · MAE · F1 · Recall · Precision 중 한 개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16D2A82-2D02-469C-949A-705AA4ED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B7BB040-1A08-44AB-B3C9-0E7B51A9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427CF85-58A9-4DE6-8BA1-1D53AFA4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106006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dummy 검증 성능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31847BE-14C4-4C01-AF39-22E0EE6E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10600639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아무 생각 없이 찍었을 때의 숫자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FEA562B-6C22-43A8-BD59-C916F509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618DA1-3C59-4E30-B83F-28A54420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701E13F-864C-4696-9838-B7D42694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106006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모델 검증 성능과 개선 폭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B34D0EC-F099-474F-B801-C8E7F4B1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10600639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개선 폭이 0 이하면 모델을 쓸 이유가 없다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CD214B-385D-4FED-8334-A98F4453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39FBA34-DB41-42D0-8547-DAA979A7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E7F1937-AF98-4E64-A800-0EDA5279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10600639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모델 S3 경로와 학습 시간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0AC515D-1E45-4CF2-BBBD-21F1574F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10600639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models/ 아래 pkl 경로를 팀 README에 적어 둔다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4219F6F-96EC-4DE1-BB65-2E901647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2327C31-3A6C-4B58-AD0C-AB6CE040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1510681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5061EBF-6DB1-48B4-9DDE-677C5DFE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체크포인트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9A2B3D-B411-420C-B8AF-1031C8BE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체크포인트 2.0점 + M1 별도 10점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B504418-5821-45B1-8A52-2E64F95C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23644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3F282FF-93DA-4BE9-92F1-31833869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29384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B4F79EB-CDE1-47E1-84EB-FE0B74B9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824228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공통 예제 학습 로그와 metrics.json</a:t>
            </a:r>
            <a:endParaRPr sz="14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6429067-87CC-4116-9C18-68334C38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180844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1단계부터 6단계 로그가 전부 보이게 · 스크린샷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3362E62-61E2-4C4D-BC04-92718B02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4892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F48D5B1-139F-4E0D-87C0-ED1BA8D2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70632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B24C172-8724-4883-A2CF-6A844348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6547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S3 models/ 폴더 콘솔 화면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6F8656F-6F45-4F8A-A03C-AF859118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22092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pkl 과 metrics 파일이 보이고 버킷명이 나올 것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D2B79E-3BED-4205-94BA-FA9D15C7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06140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86C37DD-838A-43A4-B2FF-B088ABE0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11880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F4D4D02-F834-4EF6-816A-58C91322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506724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베이스라인 성능표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A4C7416-1750-40DC-B5F7-A6762ADE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863340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dummy 와 모델, 개선 폭 포함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9E6F7AD-3FBF-4108-A5C3-B3CDA5E7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47388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22002EB-620C-41AF-BB40-BC1BD710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53128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038C6ED-7147-4553-B358-55D60787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34797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predict_sample 실행 결과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4AEC0F8-EA16-4643-811E-5D54B9FF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704588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문자열을 그대로 넣었는데 예측이 나온 화면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0996BE0-FE60-48C8-BC9B-A852BB3A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8636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20A644B-8116-4AB2-BE03-695EB27E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294376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0D5FD9D-AFB2-4995-AC03-E7399199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8922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M1 문제정의서 최종본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6689B44-98EC-4CDF-BF9E-F6F43C6A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545836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PDF · 팀 대표 1인 제출 · 파일명 M1_T&lt;팀번호&gt;_문제정의서.pdf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B6164D9-1C1F-4E3E-B28B-FC2B971B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FC8E3DF-8BE0-432A-A50A-37AD2FEA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4044675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B6B996C-29EB-4829-9861-5E083306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수업 끝나기 전 반드시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1722EA6-905A-4D12-928E-07F7C19C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5분 · 조교가 1:1로 확인합니다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AB20CD1-8894-4ADB-98D2-0375D9E1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E9BFA-64DB-48B8-8D0C-63035DAC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34F8C45-7A4C-4790-A50F-1BC45347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9374FCC-DBD8-4E2B-B97C-367FFD2B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종료(Terminate)가 아니라 중지(Stop)입니다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92834F2-3B6B-4828-8FAD-42594329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콘솔 또는 aws ec2 stop-instances 로 인스턴스를 중지한다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상태가 stopped 인지 눈으로 확인하고 조교 체크를 받는다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pkl 과 metrics.json 이 S3 models/ 에 있는지 확인한다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실습 중 만든 큰 CSV가 서버 홈에 쌓여 있지 않은지 본다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M1 제출을 완료했는지 마지막으로 확인한다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1845C24-EBDA-4D60-B3B6-A480183A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F6DD1B2-F946-440E-9979-A6D60395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7110185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8264651-5376-4DB5-BC2E-0660FE3D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· 다음 주 예고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D2C07A-8F5E-4211-A0A4-816C0F62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299BD3A-3A51-4AF2-A0FF-2F341424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B8B06D5-11F8-407A-89A4-1DED4E37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24358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배운 것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AE5359B-6972-4F2B-A278-B845AA29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27632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분할부터 먼저 · 지표는 문제가 정한다 · Pipeline 전체를 저장한다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B6F75C5-8F7C-4ECF-B474-D3F720AF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377A3D3-6D41-4F10-A0B8-9F9827A9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D38841A-E638-40E4-8564-22F86864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8031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만든 것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AA20B73-F69A-4A87-AE92-82DF42BD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64358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S3 models/ 에 올라간 pkl 하나와 metrics.json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94F3386-80C9-483A-B8BF-BAE15007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A94AFFF-2C00-4365-B005-BA8CC41A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2F18EBB-E2EB-44A1-B21C-C3103D1F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1703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3EA182A-92E3-49D3-BD30-1F277AF9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01084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한 번 돌린 모델을 서른 번 돌립니다. 기록은 MLflow가 대신합니다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6AC69CA-A9EF-4DD8-B70B-0F1F940D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9ED6F4F-C169-4EC9-9F2A-40516877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8C71FB1-D173-4250-9E76-9FA1A897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95376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과제</a:t>
            </a:r>
            <a:endParaRPr sz="15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CD29E25-5E04-42DC-BC68-49B95443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37810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max_depth 를 바꿔 3회 실행하고 표 채우기 · M1 발표 준비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15D8A22-1C2F-4A1A-8007-799D2212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308860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C390B66-6724-4B9C-8803-4AB25688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528316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다음 주 첫 15분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F515CD8-14B3-46A3-8BA3-B5AEF75A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003804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팀별 M1 3분 발표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슬라이드 없이 문서 화면으로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주 지표와 고른 이유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dummy 와 모델 두 숫자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E398FDD-A6E5-4769-A161-E9290DCA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4주차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CD55B6E-AE8D-4843-9375-4F033016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770704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6107B5E-D6B5-4C04-9B9C-10847862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0B3497-8197-4FD2-8CA5-54FC5D59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 시스템에서 데이터가 흐르는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021EF4-F08B-434A-94A4-8BC88169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84E89D95-2DEB-46CF-8712-A0370629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66F"/>
                </a:solidFill>
              </a:defRPr>
            </a:pPr>
            <a:r>
              <a:rPr sz="1650" b="0">
                <a:solidFill>
                  <a:srgbClr val="42566F"/>
                </a:solidFill>
              </a:rPr>
              <a:t>데이터 누수 없이 기준 모델을 만들고 모델과 성능표를 함께 저장한다.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7223ECA5-A98A-4C71-8550-E5CCCCA8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processed data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3E5789DF-EAAF-4B23-81E2-D687589E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1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train/valid/test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4F5098FE-FB60-4A06-88CF-C2D25CEA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Pipeline fit</a:t>
            </a:r>
          </a:p>
        </p:txBody>
      </p:sp>
      <p:sp>
        <p:nvSpPr>
          <p:cNvPr id="8" name="node-4">
            <a:extLst xmlns:a="http://schemas.openxmlformats.org/drawingml/2006/main">
              <a:ext uri="{FF2B5EF4-FFF2-40B4-BE49-F238E27FC236}">
                <a16:creationId xmlns:a16="http://schemas.microsoft.com/office/drawing/2014/main" id="{CFBF4226-28D9-4E06-814B-4D995A00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metrics.json</a:t>
            </a:r>
          </a:p>
        </p:txBody>
      </p:sp>
      <p:sp>
        <p:nvSpPr>
          <p:cNvPr id="9" name="node-5">
            <a:extLst xmlns:a="http://schemas.openxmlformats.org/drawingml/2006/main">
              <a:ext uri="{FF2B5EF4-FFF2-40B4-BE49-F238E27FC236}">
                <a16:creationId xmlns:a16="http://schemas.microsoft.com/office/drawing/2014/main" id="{8A7A578F-D9F9-4FE6-9D68-B09F688D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model.pkl</a:t>
            </a:r>
          </a:p>
        </p:txBody>
      </p:sp>
      <p:sp>
        <p:nvSpPr>
          <p:cNvPr id="10" name="node-6">
            <a:extLst xmlns:a="http://schemas.openxmlformats.org/drawingml/2006/main">
              <a:ext uri="{FF2B5EF4-FFF2-40B4-BE49-F238E27FC236}">
                <a16:creationId xmlns:a16="http://schemas.microsoft.com/office/drawing/2014/main" id="{6B4670A7-9E10-464E-A7CD-0D8BED3E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S3 models</a:t>
            </a:r>
          </a:p>
        </p:txBody>
      </p:sp>
      <p:cxnSp>
        <p:nvCxnSpPr>
          <p:cNvPr id="5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225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1021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6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817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6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8613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6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409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sp>
        <p:nvSpPr>
          <p:cNvPr id="16" name="read-order">
            <a:extLst xmlns:a="http://schemas.openxmlformats.org/drawingml/2006/main">
              <a:ext uri="{FF2B5EF4-FFF2-40B4-BE49-F238E27FC236}">
                <a16:creationId xmlns:a16="http://schemas.microsoft.com/office/drawing/2014/main" id="{372F9C78-8FE1-43E7-B0BC-8A9C646B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왼쪽에서 오른쪽으로 읽습니다. 각 화살표는 다음 단계가 바로 앞 단계의 결과를 입력으로 사용한다는 뜻입니다.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302E567B-50E4-41AC-B73E-0E267610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확인 질문: 어느 단계가 실패했는지 파일·로그·URL로 증명할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2758064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69B8CA7-CA9A-49F4-A96F-AD6F0CF0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148141-C63E-482C-B563-9374BFA5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AWS 화면으로 가는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011AFF-1A25-4F1E-9EF0-7F6043A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3d44079f54df9"/>
          <a:stretch xmlns:a="http://schemas.openxmlformats.org/drawingml/2006/main"/>
        </p:blipFill>
        <p:spPr>
          <a:xfrm xmlns:a="http://schemas.openxmlformats.org/drawingml/2006/main">
            <a:off x="2069810" y="1666875"/>
            <a:ext cx="281363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A6B19694-D92D-4BC3-96A8-9995278A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D99D04E-6090-4C14-91F0-B7897200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팀 버킷 → models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CA50F3-936F-4144-867A-8D6E45B1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리전과 계정/역할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이름과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비용이 발생하는 실행 자원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작업 뒤 중지·삭제 여부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79BF0AAE-C9D3-4814-9956-2FA5386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d0e158e4a6546bc"/>
              </a:rPr>
              <a:t>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4b5b238e8154a0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082BD422-6AC9-4043-863E-B1EFCEDD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화면 모양은 바뀔 수 있습니다. 버튼 위치보다 메뉴 이름과 리소스 상태를 기준으로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87998763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69B8CA7-CA9A-49F4-A96F-AD6F0CF0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148141-C63E-482C-B563-9374BFA5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01: SageMaker AI 대시보드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011AFF-1A25-4F1E-9EF0-7F6043A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A6B19694-D92D-4BC3-96A8-9995278A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D99D04E-6090-4C14-91F0-B7897200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Dashboard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CA50F3-936F-4144-867A-8D6E45B1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학습·모델·엔드포인트 현황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79BF0AAE-C9D3-4814-9956-2FA5386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a1898d7db2742d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b49bfee30a54c5c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082BD422-6AC9-4043-863E-B1EFCEDD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560f2d4ea416d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7998763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69B8CA7-CA9A-49F4-A96F-AD6F0CF0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148141-C63E-482C-B563-9374BFA5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02: SageMaker 학습 및 튜닝 작업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011AFF-1A25-4F1E-9EF0-7F6043A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A6B19694-D92D-4BC3-96A8-9995278A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D99D04E-6090-4C14-91F0-B7897200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Training &amp; tuning jobs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CA50F3-936F-4144-867A-8D6E45B1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학습 작업 상태와 생성 시간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79BF0AAE-C9D3-4814-9956-2FA5386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da2a56892904c7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9744df49dad4f5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082BD422-6AC9-4043-863E-B1EFCEDD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363b5c0764bb1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799876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69B8CA7-CA9A-49F4-A96F-AD6F0CF0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148141-C63E-482C-B563-9374BFA5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03: SageMaker Notebook 환경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011AFF-1A25-4F1E-9EF0-7F6043A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A6B19694-D92D-4BC3-96A8-9995278A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D99D04E-6090-4C14-91F0-B7897200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Notebooks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CA50F3-936F-4144-867A-8D6E45B1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노트북 상태와 유형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79BF0AAE-C9D3-4814-9956-2FA5386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9af34b97848441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fdb90f994ef4565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082BD422-6AC9-4043-863E-B1EFCEDD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2d836598147af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7998763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69B8CA7-CA9A-49F4-A96F-AD6F0CF0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148141-C63E-482C-B563-9374BFA5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04: SageMaker 모델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011AFF-1A25-4F1E-9EF0-7F6043A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A6B19694-D92D-4BC3-96A8-9995278A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D99D04E-6090-4C14-91F0-B7897200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Models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CA50F3-936F-4144-867A-8D6E45B1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모델 이름과 실행 역할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79BF0AAE-C9D3-4814-9956-2FA5386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6daeea6430441f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620caa9096a448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082BD422-6AC9-4043-863E-B1EFCEDD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340d751794c8b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7998763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69B8CA7-CA9A-49F4-A96F-AD6F0CF0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148141-C63E-482C-B563-9374BFA5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05: SageMaker 모델 관리 진입 화면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011AFF-1A25-4F1E-9EF0-7F6043A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A6B19694-D92D-4BC3-96A8-9995278A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D99D04E-6090-4C14-91F0-B7897200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SageMaker AI → Model governance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CA50F3-936F-4144-867A-8D6E45B1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모델 관리 메뉴 위치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79BF0AAE-C9D3-4814-9956-2FA5386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7375c2cb31c4db1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07fed3edbaa47b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082BD422-6AC9-4043-863E-B1EFCEDD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34be11dfb4c2e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7998763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69B8CA7-CA9A-49F4-A96F-AD6F0CF0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148141-C63E-482C-B563-9374BFA5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06: 베이스라인 학습용 EC2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011AFF-1A25-4F1E-9EF0-7F6043A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A6B19694-D92D-4BC3-96A8-9995278A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D99D04E-6090-4C14-91F0-B7897200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CA50F3-936F-4144-867A-8D6E45B1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학습 서버 상태와 유형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79BF0AAE-C9D3-4814-9956-2FA5386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7c449fbb4d442e1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a561c66631c44c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082BD422-6AC9-4043-863E-B1EFCEDD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321a9f3a54890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7998763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69B8CA7-CA9A-49F4-A96F-AD6F0CF0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148141-C63E-482C-B563-9374BFA5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07: 학습 명령용 CloudShell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011AFF-1A25-4F1E-9EF0-7F6043A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A6B19694-D92D-4BC3-96A8-9995278A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D99D04E-6090-4C14-91F0-B7897200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CA50F3-936F-4144-867A-8D6E45B1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CLI 리전과 실행 환경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79BF0AAE-C9D3-4814-9956-2FA5386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b9d018543a44935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693adad1025499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082BD422-6AC9-4043-863E-B1EFCEDD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8962e042147f6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7998763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69B8CA7-CA9A-49F4-A96F-AD6F0CF0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148141-C63E-482C-B563-9374BFA5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08: 모델 아티팩트용 S3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011AFF-1A25-4F1E-9EF0-7F6043A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A6B19694-D92D-4BC3-96A8-9995278A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D99D04E-6090-4C14-91F0-B7897200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Buckets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CA50F3-936F-4144-867A-8D6E45B1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processed·models 경로를 둘 위치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79BF0AAE-C9D3-4814-9956-2FA5386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ecf93e422734e0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333bb3981674475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082BD422-6AC9-4043-863E-B1EFCEDD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7632c3d8045f1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7998763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69B8CA7-CA9A-49F4-A96F-AD6F0CF0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148141-C63E-482C-B563-9374BFA5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09: CloudWatch 학습 로그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011AFF-1A25-4F1E-9EF0-7F6043A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A6B19694-D92D-4BC3-96A8-9995278A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D99D04E-6090-4C14-91F0-B7897200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Logs → Log groups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CA50F3-936F-4144-867A-8D6E45B1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학습 로그 그룹과 최근 이벤트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79BF0AAE-C9D3-4814-9956-2FA5386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b317c1127564cfe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e22cb48501442a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082BD422-6AC9-4043-863E-B1EFCEDD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fbf5eac9346f4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7998763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69B8CA7-CA9A-49F4-A96F-AD6F0CF0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04주차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148141-C63E-482C-B563-9374BFA5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10: 학습 비용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011AFF-1A25-4F1E-9EF0-7F6043A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A6B19694-D92D-4BC3-96A8-9995278A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D99D04E-6090-4C14-91F0-B7897200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Billing → Cost Explorer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CA50F3-936F-4144-867A-8D6E45B1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EC2·SageMaker 서비스별 비용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79BF0AAE-C9D3-4814-9956-2FA5386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ee9743b864b4c6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236d4b605594e9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082BD422-6AC9-4043-863E-B1EFCEDD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b860db8924b08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7998763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2026-08-24T06:36:17.7040000Z</dcterms:created>
  <dcterms:modified xsi:type="dcterms:W3CDTF">2026-08-24T06:36:17.7040000Z</dcterms:modified>
</coreProperties>
</file>