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2a7571f92a44de" /><Relationship Type="http://schemas.openxmlformats.org/officeDocument/2006/relationships/extended-properties" Target="/docProps/app.xml" Id="R66052853ce034e38" /><Relationship Type="http://schemas.openxmlformats.org/officeDocument/2006/relationships/officeDocument" Target="/ppt/presentation.xml" Id="Rd74db8438ea247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0ddfc1683c4081"/>
  </p:sldMasterIdLst>
  <p:notesMasterIdLst>
    <p:notesMasterId xmlns:r="http://schemas.openxmlformats.org/officeDocument/2006/relationships" r:id="R326188724e41450a"/>
  </p:notesMasterIdLst>
  <p:sldIdLst>
    <p:sldId xmlns:r="http://schemas.openxmlformats.org/officeDocument/2006/relationships" id="256" r:id="Ra4c2985958704a77"/>
    <p:sldId xmlns:r="http://schemas.openxmlformats.org/officeDocument/2006/relationships" id="257" r:id="R59791b3b793f44d2"/>
    <p:sldId xmlns:r="http://schemas.openxmlformats.org/officeDocument/2006/relationships" id="258" r:id="R55149c9913924781"/>
    <p:sldId xmlns:r="http://schemas.openxmlformats.org/officeDocument/2006/relationships" id="259" r:id="Rdcbe4168f71646c4"/>
    <p:sldId xmlns:r="http://schemas.openxmlformats.org/officeDocument/2006/relationships" id="260" r:id="Re9257f37143646cd"/>
    <p:sldId xmlns:r="http://schemas.openxmlformats.org/officeDocument/2006/relationships" id="261" r:id="R89bdc88a5c7e4a6e"/>
    <p:sldId xmlns:r="http://schemas.openxmlformats.org/officeDocument/2006/relationships" id="262" r:id="R52a05f6421624442"/>
    <p:sldId xmlns:r="http://schemas.openxmlformats.org/officeDocument/2006/relationships" id="263" r:id="Rae65310401794294"/>
    <p:sldId xmlns:r="http://schemas.openxmlformats.org/officeDocument/2006/relationships" id="264" r:id="R1c68f0f853b24dd3"/>
    <p:sldId xmlns:r="http://schemas.openxmlformats.org/officeDocument/2006/relationships" id="265" r:id="R6e65b3ad022a4d08"/>
    <p:sldId xmlns:r="http://schemas.openxmlformats.org/officeDocument/2006/relationships" id="266" r:id="R5c4538424c864472"/>
    <p:sldId xmlns:r="http://schemas.openxmlformats.org/officeDocument/2006/relationships" id="267" r:id="R521ade678dec4da4"/>
    <p:sldId xmlns:r="http://schemas.openxmlformats.org/officeDocument/2006/relationships" id="268" r:id="Rf521dbb5e78c42fe"/>
    <p:sldId xmlns:r="http://schemas.openxmlformats.org/officeDocument/2006/relationships" id="269" r:id="Rf1b443d8a7cd4c78"/>
    <p:sldId xmlns:r="http://schemas.openxmlformats.org/officeDocument/2006/relationships" id="270" r:id="R2bf98655885e442a"/>
    <p:sldId xmlns:r="http://schemas.openxmlformats.org/officeDocument/2006/relationships" id="271" r:id="R325865e04ff5476d"/>
    <p:sldId xmlns:r="http://schemas.openxmlformats.org/officeDocument/2006/relationships" id="272" r:id="Rf4abc12b4ed94087"/>
    <p:sldId xmlns:r="http://schemas.openxmlformats.org/officeDocument/2006/relationships" id="273" r:id="Rdfae9ac62b97475e"/>
    <p:sldId xmlns:r="http://schemas.openxmlformats.org/officeDocument/2006/relationships" id="274" r:id="R548f894a6ff74ad7"/>
    <p:sldId xmlns:r="http://schemas.openxmlformats.org/officeDocument/2006/relationships" id="275" r:id="R3da20c9397814869"/>
    <p:sldId xmlns:r="http://schemas.openxmlformats.org/officeDocument/2006/relationships" id="276" r:id="R47dbded50e8341ae"/>
    <p:sldId xmlns:r="http://schemas.openxmlformats.org/officeDocument/2006/relationships" id="277" r:id="R3d8b33a15e124690"/>
    <p:sldId xmlns:r="http://schemas.openxmlformats.org/officeDocument/2006/relationships" id="278" r:id="Rbfbe8d7aea2d46ff"/>
    <p:sldId xmlns:r="http://schemas.openxmlformats.org/officeDocument/2006/relationships" id="279" r:id="R2f186e14611f4526"/>
    <p:sldId xmlns:r="http://schemas.openxmlformats.org/officeDocument/2006/relationships" id="280" r:id="R3f24f6891bdd47a2"/>
    <p:sldId xmlns:r="http://schemas.openxmlformats.org/officeDocument/2006/relationships" id="281" r:id="R99ca19fe6e154a3d"/>
    <p:sldId xmlns:r="http://schemas.openxmlformats.org/officeDocument/2006/relationships" id="282" r:id="R3ff19de3fc4c4333"/>
    <p:sldId xmlns:r="http://schemas.openxmlformats.org/officeDocument/2006/relationships" id="283" r:id="R2268e1e2a33742c3"/>
    <p:sldId xmlns:r="http://schemas.openxmlformats.org/officeDocument/2006/relationships" id="284" r:id="R17f30f57b9274cd7"/>
    <p:sldId xmlns:r="http://schemas.openxmlformats.org/officeDocument/2006/relationships" id="285" r:id="R23880dd0c395474b"/>
    <p:sldId xmlns:r="http://schemas.openxmlformats.org/officeDocument/2006/relationships" id="286" r:id="R94424f5b19504c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9fd71620054cd1" /><Relationship Type="http://schemas.openxmlformats.org/officeDocument/2006/relationships/slideMaster" Target="/ppt/slideMasters/slideMaster1.xml" Id="Rc20ddfc1683c4081" /><Relationship Type="http://schemas.openxmlformats.org/officeDocument/2006/relationships/notesMaster" Target="/ppt/notesMasters/notesMaster1.xml" Id="R326188724e41450a" /><Relationship Type="http://schemas.openxmlformats.org/officeDocument/2006/relationships/presProps" Target="/ppt/presProps.xml" Id="Ra94e66fdc1f34786" /><Relationship Type="http://schemas.openxmlformats.org/officeDocument/2006/relationships/tableStyles" Target="/ppt/tableStyles.xml" Id="Rf137ed5da2654043" /><Relationship Type="http://schemas.openxmlformats.org/officeDocument/2006/relationships/slide" Target="/ppt/slides/slide1.xml" Id="Ra4c2985958704a77" /><Relationship Type="http://schemas.openxmlformats.org/officeDocument/2006/relationships/slide" Target="/ppt/slides/slide2.xml" Id="R59791b3b793f44d2" /><Relationship Type="http://schemas.openxmlformats.org/officeDocument/2006/relationships/slide" Target="/ppt/slides/slide3.xml" Id="R55149c9913924781" /><Relationship Type="http://schemas.openxmlformats.org/officeDocument/2006/relationships/slide" Target="/ppt/slides/slide4.xml" Id="Rdcbe4168f71646c4" /><Relationship Type="http://schemas.openxmlformats.org/officeDocument/2006/relationships/slide" Target="/ppt/slides/slide5.xml" Id="Re9257f37143646cd" /><Relationship Type="http://schemas.openxmlformats.org/officeDocument/2006/relationships/slide" Target="/ppt/slides/slide6.xml" Id="R89bdc88a5c7e4a6e" /><Relationship Type="http://schemas.openxmlformats.org/officeDocument/2006/relationships/slide" Target="/ppt/slides/slide7.xml" Id="R52a05f6421624442" /><Relationship Type="http://schemas.openxmlformats.org/officeDocument/2006/relationships/slide" Target="/ppt/slides/slide8.xml" Id="Rae65310401794294" /><Relationship Type="http://schemas.openxmlformats.org/officeDocument/2006/relationships/slide" Target="/ppt/slides/slide9.xml" Id="R1c68f0f853b24dd3" /><Relationship Type="http://schemas.openxmlformats.org/officeDocument/2006/relationships/slide" Target="/ppt/slides/slide10.xml" Id="R6e65b3ad022a4d08" /><Relationship Type="http://schemas.openxmlformats.org/officeDocument/2006/relationships/slide" Target="/ppt/slides/slide11.xml" Id="R5c4538424c864472" /><Relationship Type="http://schemas.openxmlformats.org/officeDocument/2006/relationships/slide" Target="/ppt/slides/slide12.xml" Id="R521ade678dec4da4" /><Relationship Type="http://schemas.openxmlformats.org/officeDocument/2006/relationships/slide" Target="/ppt/slides/slide13.xml" Id="Rf521dbb5e78c42fe" /><Relationship Type="http://schemas.openxmlformats.org/officeDocument/2006/relationships/slide" Target="/ppt/slides/slide14.xml" Id="Rf1b443d8a7cd4c78" /><Relationship Type="http://schemas.openxmlformats.org/officeDocument/2006/relationships/slide" Target="/ppt/slides/slide15.xml" Id="R2bf98655885e442a" /><Relationship Type="http://schemas.openxmlformats.org/officeDocument/2006/relationships/slide" Target="/ppt/slides/slide16.xml" Id="R325865e04ff5476d" /><Relationship Type="http://schemas.openxmlformats.org/officeDocument/2006/relationships/slide" Target="/ppt/slides/slide17.xml" Id="Rf4abc12b4ed94087" /><Relationship Type="http://schemas.openxmlformats.org/officeDocument/2006/relationships/slide" Target="/ppt/slides/slide18.xml" Id="Rdfae9ac62b97475e" /><Relationship Type="http://schemas.openxmlformats.org/officeDocument/2006/relationships/slide" Target="/ppt/slides/slide19.xml" Id="R548f894a6ff74ad7" /><Relationship Type="http://schemas.openxmlformats.org/officeDocument/2006/relationships/slide" Target="/ppt/slides/slide20.xml" Id="R3da20c9397814869" /><Relationship Type="http://schemas.openxmlformats.org/officeDocument/2006/relationships/slide" Target="/ppt/slides/slide21.xml" Id="R47dbded50e8341ae" /><Relationship Type="http://schemas.openxmlformats.org/officeDocument/2006/relationships/slide" Target="/ppt/slides/slide22.xml" Id="R3d8b33a15e124690" /><Relationship Type="http://schemas.openxmlformats.org/officeDocument/2006/relationships/slide" Target="/ppt/slides/slide23.xml" Id="Rbfbe8d7aea2d46ff" /><Relationship Type="http://schemas.openxmlformats.org/officeDocument/2006/relationships/slide" Target="/ppt/slides/slide24.xml" Id="R2f186e14611f4526" /><Relationship Type="http://schemas.openxmlformats.org/officeDocument/2006/relationships/slide" Target="/ppt/slides/slide25.xml" Id="R3f24f6891bdd47a2" /><Relationship Type="http://schemas.openxmlformats.org/officeDocument/2006/relationships/slide" Target="/ppt/slides/slide26.xml" Id="R99ca19fe6e154a3d" /><Relationship Type="http://schemas.openxmlformats.org/officeDocument/2006/relationships/slide" Target="/ppt/slides/slide27.xml" Id="R3ff19de3fc4c4333" /><Relationship Type="http://schemas.openxmlformats.org/officeDocument/2006/relationships/slide" Target="/ppt/slides/slide28.xml" Id="R2268e1e2a33742c3" /><Relationship Type="http://schemas.openxmlformats.org/officeDocument/2006/relationships/slide" Target="/ppt/slides/slide29.xml" Id="R17f30f57b9274cd7" /><Relationship Type="http://schemas.openxmlformats.org/officeDocument/2006/relationships/slide" Target="/ppt/slides/slide30.xml" Id="R23880dd0c395474b" /><Relationship Type="http://schemas.openxmlformats.org/officeDocument/2006/relationships/slide" Target="/ppt/slides/slide31.xml" Id="R94424f5b19504c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004340139e45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83e3a3ac714a8a" /><Relationship Type="http://schemas.openxmlformats.org/officeDocument/2006/relationships/notesMaster" Target="/ppt/notesMasters/notesMaster1.xml" Id="Rfc075c6b8ac540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235a8b934d4680" /><Relationship Type="http://schemas.openxmlformats.org/officeDocument/2006/relationships/notesMaster" Target="/ppt/notesMasters/notesMaster1.xml" Id="R1dc836efa8644c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87d547cd184acb" /><Relationship Type="http://schemas.openxmlformats.org/officeDocument/2006/relationships/notesMaster" Target="/ppt/notesMasters/notesMaster1.xml" Id="R0cc5ad1ec85841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9e272f7f02480c" /><Relationship Type="http://schemas.openxmlformats.org/officeDocument/2006/relationships/notesMaster" Target="/ppt/notesMasters/notesMaster1.xml" Id="R05d065905fd34a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754b5333684306" /><Relationship Type="http://schemas.openxmlformats.org/officeDocument/2006/relationships/notesMaster" Target="/ppt/notesMasters/notesMaster1.xml" Id="Rf0b862520e1141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95d29563414756" /><Relationship Type="http://schemas.openxmlformats.org/officeDocument/2006/relationships/notesMaster" Target="/ppt/notesMasters/notesMaster1.xml" Id="Rf7846fd5d50849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6b986ecd324fc9" /><Relationship Type="http://schemas.openxmlformats.org/officeDocument/2006/relationships/notesMaster" Target="/ppt/notesMasters/notesMaster1.xml" Id="R542b00b3fd8d46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5e559f860648ae" /><Relationship Type="http://schemas.openxmlformats.org/officeDocument/2006/relationships/notesMaster" Target="/ppt/notesMasters/notesMaster1.xml" Id="R04c7cda569a849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240d6b5bfc48de" /><Relationship Type="http://schemas.openxmlformats.org/officeDocument/2006/relationships/notesMaster" Target="/ppt/notesMasters/notesMaster1.xml" Id="Raf2b65f9396940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45e3698b2146ca" /><Relationship Type="http://schemas.openxmlformats.org/officeDocument/2006/relationships/notesMaster" Target="/ppt/notesMasters/notesMaster1.xml" Id="Rf127604ecbfe49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37a44f01c045dd" /><Relationship Type="http://schemas.openxmlformats.org/officeDocument/2006/relationships/notesMaster" Target="/ppt/notesMasters/notesMaster1.xml" Id="Rd32eb7e4214a4b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03efda8315458b" /><Relationship Type="http://schemas.openxmlformats.org/officeDocument/2006/relationships/notesMaster" Target="/ppt/notesMasters/notesMaster1.xml" Id="R59e70e4a572145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12a47b98a34fd5" /><Relationship Type="http://schemas.openxmlformats.org/officeDocument/2006/relationships/notesMaster" Target="/ppt/notesMasters/notesMaster1.xml" Id="R75f677dd238a49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c065903e52e482f" /><Relationship Type="http://schemas.openxmlformats.org/officeDocument/2006/relationships/notesMaster" Target="/ppt/notesMasters/notesMaster1.xml" Id="R1a991df3565240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8d76101b98c4010" /><Relationship Type="http://schemas.openxmlformats.org/officeDocument/2006/relationships/notesMaster" Target="/ppt/notesMasters/notesMaster1.xml" Id="Rf833820d9f20473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343aa2173914193" /><Relationship Type="http://schemas.openxmlformats.org/officeDocument/2006/relationships/notesMaster" Target="/ppt/notesMasters/notesMaster1.xml" Id="R29a61bd4e65c43a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73845983b1e44f8" /><Relationship Type="http://schemas.openxmlformats.org/officeDocument/2006/relationships/notesMaster" Target="/ppt/notesMasters/notesMaster1.xml" Id="R17251f32fb16427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fb3c5a2553444cf" /><Relationship Type="http://schemas.openxmlformats.org/officeDocument/2006/relationships/notesMaster" Target="/ppt/notesMasters/notesMaster1.xml" Id="Rd50aab3bc6ff4de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537841828fc4dc9" /><Relationship Type="http://schemas.openxmlformats.org/officeDocument/2006/relationships/notesMaster" Target="/ppt/notesMasters/notesMaster1.xml" Id="R3b9618f76099495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b85c2b2351f4c4c" /><Relationship Type="http://schemas.openxmlformats.org/officeDocument/2006/relationships/notesMaster" Target="/ppt/notesMasters/notesMaster1.xml" Id="R3df4fca42a4e4fc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b9efc07d7784ae4" /><Relationship Type="http://schemas.openxmlformats.org/officeDocument/2006/relationships/notesMaster" Target="/ppt/notesMasters/notesMaster1.xml" Id="Rfe133e2f478b4ad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f6b22a7d92c41cf" /><Relationship Type="http://schemas.openxmlformats.org/officeDocument/2006/relationships/notesMaster" Target="/ppt/notesMasters/notesMaster1.xml" Id="Rc4dad2436c85427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d2daae5254a4a79" /><Relationship Type="http://schemas.openxmlformats.org/officeDocument/2006/relationships/notesMaster" Target="/ppt/notesMasters/notesMaster1.xml" Id="R37714149c43f45c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0f14288afc2495b" /><Relationship Type="http://schemas.openxmlformats.org/officeDocument/2006/relationships/notesMaster" Target="/ppt/notesMasters/notesMaster1.xml" Id="R8326d922c4744e1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72c7f37b5304987" /><Relationship Type="http://schemas.openxmlformats.org/officeDocument/2006/relationships/notesMaster" Target="/ppt/notesMasters/notesMaster1.xml" Id="Rfb6e1a2b53e14ac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19e9e34a46d4e46" /><Relationship Type="http://schemas.openxmlformats.org/officeDocument/2006/relationships/notesMaster" Target="/ppt/notesMasters/notesMaster1.xml" Id="R9e6666640acf4de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a6454258ac84892" /><Relationship Type="http://schemas.openxmlformats.org/officeDocument/2006/relationships/notesMaster" Target="/ppt/notesMasters/notesMaster1.xml" Id="R85fc846aa94446f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b4276df35bb462a" /><Relationship Type="http://schemas.openxmlformats.org/officeDocument/2006/relationships/notesMaster" Target="/ppt/notesMasters/notesMaster1.xml" Id="Recbfeb8271e546e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ad0cebc3d414dd4" /><Relationship Type="http://schemas.openxmlformats.org/officeDocument/2006/relationships/notesMaster" Target="/ppt/notesMasters/notesMaster1.xml" Id="R9957299d57a1405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568c8eb3539459a" /><Relationship Type="http://schemas.openxmlformats.org/officeDocument/2006/relationships/notesMaster" Target="/ppt/notesMasters/notesMaster1.xml" Id="Rb73fe25d3837431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24d8e7091774a29" /><Relationship Type="http://schemas.openxmlformats.org/officeDocument/2006/relationships/notesMaster" Target="/ppt/notesMasters/notesMaster1.xml" Id="R627453cd3d874c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https://docs.aws.amazon.com/AmazonS3/latest/userguide/using-folders.html</a:t>
            </a:r>
          </a:p>
          <a:p xmlns:a="http://schemas.openxmlformats.org/drawingml/2006/main">
            <a:r>
              <a:t>- https://mlflow.org/docs/latest/ml/tracking/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https://docs.aws.amazon.com/AmazonECR/latest/userguide/repository-create.html</a:t>
            </a:r>
          </a:p>
          <a:p xmlns:a="http://schemas.openxmlformats.org/drawingml/2006/main">
            <a:r>
              <a:t>- https://fastapi.tiangolo.com/tutorial/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로컬 NCS 학습모듈 LM2001070308 인공지능 모델 관리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https://console.aws.amazon.com/console/home</a:t>
            </a:r>
          </a:p>
          <a:p xmlns:a="http://schemas.openxmlformats.org/drawingml/2006/main">
            <a:r>
              <a:t>- AWS 공식 문서 화면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S3 → ysu-mlops-lab-20260824-a7c9</a:t>
            </a:r>
          </a:p>
          <a:p xmlns:a="http://schemas.openxmlformats.org/drawingml/2006/main">
            <a:r>
              <a:t>- 확인: S3 버킷 목록에서 팀 버킷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https://docs.aws.amazon.com/AmazonS3/latest/userguide/Welcome.html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S3 → ysu-mlops-lab-20260824-a7c9</a:t>
            </a:r>
          </a:p>
          <a:p xmlns:a="http://schemas.openxmlformats.org/drawingml/2006/main">
            <a:r>
              <a:t>- 확인: 팀 버킷의 최상위 경로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https://docs.aws.amazon.com/AmazonS3/latest/userguide/Welcome.html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S3 → ysu-mlops-lab-20260824-a7c9</a:t>
            </a:r>
          </a:p>
          <a:p xmlns:a="http://schemas.openxmlformats.org/drawingml/2006/main">
            <a:r>
              <a:t>- 확인: datasets 데이터 경로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https://docs.aws.amazon.com/AmazonS3/latest/userguide/Welcome.html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S3 → ysu-mlops-lab-20260824-a7c9</a:t>
            </a:r>
          </a:p>
          <a:p xmlns:a="http://schemas.openxmlformats.org/drawingml/2006/main">
            <a:r>
              <a:t>- 확인: models 산출물 경로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https://docs.aws.amazon.com/AmazonS3/latest/userguide/Welcome.html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S3 → ysu-mlops-lab-20260824-a7c9</a:t>
            </a:r>
          </a:p>
          <a:p xmlns:a="http://schemas.openxmlformats.org/drawingml/2006/main">
            <a:r>
              <a:t>- 확인: 버전 관리와 암호화 속성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https://docs.aws.amazon.com/AmazonS3/latest/userguide/Welcome.html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S3 → ysu-mlops-lab-20260824-a7c9</a:t>
            </a:r>
          </a:p>
          <a:p xmlns:a="http://schemas.openxmlformats.org/drawingml/2006/main">
            <a:r>
              <a:t>- 확인: 퍼블릭 액세스 차단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https://docs.aws.amazon.com/AmazonS3/latest/userguide/Welcome.html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ECR → ysu-mlops-api</a:t>
            </a:r>
          </a:p>
          <a:p xmlns:a="http://schemas.openxmlformats.org/drawingml/2006/main">
            <a:r>
              <a:t>- 확인: ECR 팀 저장소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https://docs.aws.amazon.com/AmazonECR/latest/userguide/Repositories.html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ECR → ysu-mlops-api</a:t>
            </a:r>
          </a:p>
          <a:p xmlns:a="http://schemas.openxmlformats.org/drawingml/2006/main">
            <a:r>
              <a:t>- 확인: ECR 이미지 태그 1.0과 1.1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https://docs.aws.amazon.com/AmazonECR/latest/userguide/Repositories.html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ECR → ysu-mlops-api</a:t>
            </a:r>
          </a:p>
          <a:p xmlns:a="http://schemas.openxmlformats.org/drawingml/2006/main">
            <a:r>
              <a:t>- 확인: API 이미지 1.0 다이제스트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https://docs.aws.amazon.com/AmazonECR/latest/userguide/Repositories.html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ECR → ysu-mlops-api</a:t>
            </a:r>
          </a:p>
          <a:p xmlns:a="http://schemas.openxmlformats.org/drawingml/2006/main">
            <a:r>
              <a:t>- 확인: SageMaker 호환 이미지 1.1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https://docs.aws.amazon.com/AmazonECR/latest/userguide/Repositories.html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ysu-mlops-lab-ec2</a:t>
            </a:r>
          </a:p>
          <a:p xmlns:a="http://schemas.openxmlformats.org/drawingml/2006/main">
            <a:r>
              <a:t>- 확인: 통합 점검 전 EC2 중지 상태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https://docs.aws.amazon.com/AWSEC2/latest/UserGuide/Stop_Start.html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ysu-mlops-lab-ec2</a:t>
            </a:r>
          </a:p>
          <a:p xmlns:a="http://schemas.openxmlformats.org/drawingml/2006/main">
            <a:r>
              <a:t>- 확인: 인스턴스 시작 작업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https://docs.aws.amazon.com/AWSEC2/latest/UserGuide/Stop_Start.html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ysu-mlops-lab-ec2</a:t>
            </a:r>
          </a:p>
          <a:p xmlns:a="http://schemas.openxmlformats.org/drawingml/2006/main">
            <a:r>
              <a:t>- 확인: 통합 점검용 EC2 실행 상태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https://docs.aws.amazon.com/AWSEC2/latest/UserGuide/Stop_Start.html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S3부터 UI까지 통합 점검 명령 입력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SSM Online 대상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통합 점검 명령 접수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통합 점검 전체 성공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서울 리전·datasets/models·ECR 1.0/1.1·두 컨테이너 Up·API healthy·UI 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통합 점검 명령 기록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ysu-mlops-lab-ec2</a:t>
            </a:r>
          </a:p>
          <a:p xmlns:a="http://schemas.openxmlformats.org/drawingml/2006/main">
            <a:r>
              <a:t>- 확인: 실습 종료 인스턴스 중지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https://docs.aws.amazon.com/AWSEC2/latest/UserGuide/Stop_Start.html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ysu-mlops-lab-ec2</a:t>
            </a:r>
          </a:p>
          <a:p xmlns:a="http://schemas.openxmlformats.org/drawingml/2006/main">
            <a:r>
              <a:t>- 확인: EC2 중지 요청 완료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https://docs.aws.amazon.com/AWSEC2/latest/UserGuide/Stop_Start.html</a:t>
            </a:r>
          </a:p>
          <a:p xmlns:a="http://schemas.openxmlformats.org/drawingml/2006/main">
            <a:r>
              <a:t>- https://docs.aws.amazon.com/AWSEC2/latest/UserGuide/monitoring-system-instance-status-check.html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407ce98cc24a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2f39f467fc465e" /><Relationship Type="http://schemas.openxmlformats.org/officeDocument/2006/relationships/slideLayout" Target="/ppt/slideLayouts/slideLayout1.xml" Id="R091f69446bc640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1f69446bc640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6a01684154d4f" /><Relationship Type="http://schemas.openxmlformats.org/officeDocument/2006/relationships/notesSlide" Target="/ppt/notesSlides/notesSlide1.xml" Id="R5799b7a37ff14d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85b2e16374f80" /><Relationship Type="http://schemas.openxmlformats.org/officeDocument/2006/relationships/notesSlide" Target="/ppt/notesSlides/notesSlide2.xml" Id="R4b86627d570045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dda69aa344ba4" /><Relationship Type="http://schemas.openxmlformats.org/officeDocument/2006/relationships/notesSlide" Target="/ppt/notesSlides/notesSlide3.xml" Id="R191aa333bc5347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c8ba14d7e4d80" /><Relationship Type="http://schemas.openxmlformats.org/officeDocument/2006/relationships/notesSlide" Target="/ppt/notesSlides/notesSlide4.xml" Id="R15b73cb68b5f4e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aaeb2973848cf" /><Relationship Type="http://schemas.openxmlformats.org/officeDocument/2006/relationships/notesSlide" Target="/ppt/notesSlides/notesSlide5.xml" Id="R9ddf6c7e95554c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98058f3fa44f6" /><Relationship Type="http://schemas.openxmlformats.org/officeDocument/2006/relationships/notesSlide" Target="/ppt/notesSlides/notesSlide6.xml" Id="R67a83dbe446449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e556f1d954019" /><Relationship Type="http://schemas.openxmlformats.org/officeDocument/2006/relationships/notesSlide" Target="/ppt/notesSlides/notesSlide7.xml" Id="Rc7edf443925a43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de11e0cd54aa8" /><Relationship Type="http://schemas.openxmlformats.org/officeDocument/2006/relationships/notesSlide" Target="/ppt/notesSlides/notesSlide8.xml" Id="Raf0939ff406f44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fda4f8efc434a" /><Relationship Type="http://schemas.openxmlformats.org/officeDocument/2006/relationships/image" Target="/ppt/media/image.jpeg" Id="R0d3836b3a6834bea" /><Relationship Type="http://schemas.openxmlformats.org/officeDocument/2006/relationships/hyperlink" Target="https://console.aws.amazon.com/console/home" TargetMode="External" Id="R4fb54b2fb5b541ff" /><Relationship Type="http://schemas.openxmlformats.org/officeDocument/2006/relationships/hyperlink" Target="https://docs.aws.amazon.com/AWSEC2/latest/UserGuide/monitoring-system-instance-status-check.html" TargetMode="External" Id="Rb284878df18b40c0" /><Relationship Type="http://schemas.openxmlformats.org/officeDocument/2006/relationships/notesSlide" Target="/ppt/notesSlides/notesSlide9.xml" Id="Rd8c08bd095ec4d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32fcdbb394551" /><Relationship Type="http://schemas.openxmlformats.org/officeDocument/2006/relationships/notesSlide" Target="/ppt/notesSlides/notesSlide10.xml" Id="Rfc585541e6d34b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1aa95a20c40ed" /><Relationship Type="http://schemas.openxmlformats.org/officeDocument/2006/relationships/hyperlink" Target="https://docs.aws.amazon.com/AmazonS3/latest/userguide/Welcome.html" TargetMode="External" Id="Rb54c05626a39478b" /><Relationship Type="http://schemas.openxmlformats.org/officeDocument/2006/relationships/hyperlink" Target="https://docs.aws.amazon.com/AWSEC2/latest/UserGuide/monitoring-system-instance-status-check.html" TargetMode="External" Id="R05befa594fb04fa7" /><Relationship Type="http://schemas.openxmlformats.org/officeDocument/2006/relationships/image" Target="/ppt/media/image2.jpeg" Id="Rbdfd06fab1ec4dd8" /><Relationship Type="http://schemas.openxmlformats.org/officeDocument/2006/relationships/notesSlide" Target="/ppt/notesSlides/notesSlide11.xml" Id="R8f4a3fdbd38f42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6a1896d524f8f" /><Relationship Type="http://schemas.openxmlformats.org/officeDocument/2006/relationships/hyperlink" Target="https://docs.aws.amazon.com/AmazonS3/latest/userguide/Welcome.html" TargetMode="External" Id="R2678725442ce4a88" /><Relationship Type="http://schemas.openxmlformats.org/officeDocument/2006/relationships/hyperlink" Target="https://docs.aws.amazon.com/AWSEC2/latest/UserGuide/monitoring-system-instance-status-check.html" TargetMode="External" Id="R7f7fbd5edadd4a52" /><Relationship Type="http://schemas.openxmlformats.org/officeDocument/2006/relationships/image" Target="/ppt/media/image3.jpeg" Id="Ra6b7edb883d946fa" /><Relationship Type="http://schemas.openxmlformats.org/officeDocument/2006/relationships/notesSlide" Target="/ppt/notesSlides/notesSlide12.xml" Id="R9e481e922d024d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5cf2ca7cc49c9" /><Relationship Type="http://schemas.openxmlformats.org/officeDocument/2006/relationships/hyperlink" Target="https://docs.aws.amazon.com/AmazonS3/latest/userguide/Welcome.html" TargetMode="External" Id="Rf8ff0f2704e54c6f" /><Relationship Type="http://schemas.openxmlformats.org/officeDocument/2006/relationships/hyperlink" Target="https://docs.aws.amazon.com/AWSEC2/latest/UserGuide/monitoring-system-instance-status-check.html" TargetMode="External" Id="R09c4641389dd434c" /><Relationship Type="http://schemas.openxmlformats.org/officeDocument/2006/relationships/image" Target="/ppt/media/image4.jpeg" Id="R4bf9ba3f404d4d36" /><Relationship Type="http://schemas.openxmlformats.org/officeDocument/2006/relationships/notesSlide" Target="/ppt/notesSlides/notesSlide13.xml" Id="Re60eb837b4ef4d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b70c2da444567" /><Relationship Type="http://schemas.openxmlformats.org/officeDocument/2006/relationships/hyperlink" Target="https://docs.aws.amazon.com/AmazonS3/latest/userguide/Welcome.html" TargetMode="External" Id="R8ccb59887daf4e6c" /><Relationship Type="http://schemas.openxmlformats.org/officeDocument/2006/relationships/hyperlink" Target="https://docs.aws.amazon.com/AWSEC2/latest/UserGuide/monitoring-system-instance-status-check.html" TargetMode="External" Id="R6a35281d7fbf40b1" /><Relationship Type="http://schemas.openxmlformats.org/officeDocument/2006/relationships/image" Target="/ppt/media/image5.jpeg" Id="Rb94c2704c6474950" /><Relationship Type="http://schemas.openxmlformats.org/officeDocument/2006/relationships/notesSlide" Target="/ppt/notesSlides/notesSlide14.xml" Id="R99eaf930ecd146a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5d507cca948d9" /><Relationship Type="http://schemas.openxmlformats.org/officeDocument/2006/relationships/hyperlink" Target="https://docs.aws.amazon.com/AmazonS3/latest/userguide/Welcome.html" TargetMode="External" Id="R5188a1af346040df" /><Relationship Type="http://schemas.openxmlformats.org/officeDocument/2006/relationships/hyperlink" Target="https://docs.aws.amazon.com/AWSEC2/latest/UserGuide/monitoring-system-instance-status-check.html" TargetMode="External" Id="R54a2ac44e4fd49f1" /><Relationship Type="http://schemas.openxmlformats.org/officeDocument/2006/relationships/image" Target="/ppt/media/image6.jpeg" Id="R6173528a18b34f19" /><Relationship Type="http://schemas.openxmlformats.org/officeDocument/2006/relationships/notesSlide" Target="/ppt/notesSlides/notesSlide15.xml" Id="R272749449f5c4f6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c9ee8e81c492d" /><Relationship Type="http://schemas.openxmlformats.org/officeDocument/2006/relationships/hyperlink" Target="https://docs.aws.amazon.com/AmazonS3/latest/userguide/Welcome.html" TargetMode="External" Id="R80e4dcd6a2004216" /><Relationship Type="http://schemas.openxmlformats.org/officeDocument/2006/relationships/hyperlink" Target="https://docs.aws.amazon.com/AWSEC2/latest/UserGuide/monitoring-system-instance-status-check.html" TargetMode="External" Id="Rf87505fc2fe948b8" /><Relationship Type="http://schemas.openxmlformats.org/officeDocument/2006/relationships/image" Target="/ppt/media/image7.jpeg" Id="R90e154c03de345a2" /><Relationship Type="http://schemas.openxmlformats.org/officeDocument/2006/relationships/notesSlide" Target="/ppt/notesSlides/notesSlide16.xml" Id="Re48abd5f91b44a9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dd11b0414451e" /><Relationship Type="http://schemas.openxmlformats.org/officeDocument/2006/relationships/hyperlink" Target="https://docs.aws.amazon.com/AmazonECR/latest/userguide/Repositories.html" TargetMode="External" Id="Rdc01063372854052" /><Relationship Type="http://schemas.openxmlformats.org/officeDocument/2006/relationships/hyperlink" Target="https://docs.aws.amazon.com/AWSEC2/latest/UserGuide/monitoring-system-instance-status-check.html" TargetMode="External" Id="R1c371c9d66374460" /><Relationship Type="http://schemas.openxmlformats.org/officeDocument/2006/relationships/image" Target="/ppt/media/image8.jpeg" Id="R5f2b1c1150574c5b" /><Relationship Type="http://schemas.openxmlformats.org/officeDocument/2006/relationships/notesSlide" Target="/ppt/notesSlides/notesSlide17.xml" Id="R6f1463c709b1460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7a13465f24114" /><Relationship Type="http://schemas.openxmlformats.org/officeDocument/2006/relationships/hyperlink" Target="https://docs.aws.amazon.com/AmazonECR/latest/userguide/Repositories.html" TargetMode="External" Id="R17a62b620c2c4422" /><Relationship Type="http://schemas.openxmlformats.org/officeDocument/2006/relationships/hyperlink" Target="https://docs.aws.amazon.com/AWSEC2/latest/UserGuide/monitoring-system-instance-status-check.html" TargetMode="External" Id="R976974cb2c9a4847" /><Relationship Type="http://schemas.openxmlformats.org/officeDocument/2006/relationships/image" Target="/ppt/media/image9.jpeg" Id="Re3c04c16c83e4a8a" /><Relationship Type="http://schemas.openxmlformats.org/officeDocument/2006/relationships/notesSlide" Target="/ppt/notesSlides/notesSlide18.xml" Id="R146749acd09b404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4149514bd4210" /><Relationship Type="http://schemas.openxmlformats.org/officeDocument/2006/relationships/hyperlink" Target="https://docs.aws.amazon.com/AmazonECR/latest/userguide/Repositories.html" TargetMode="External" Id="R0581d12380cd4f0b" /><Relationship Type="http://schemas.openxmlformats.org/officeDocument/2006/relationships/hyperlink" Target="https://docs.aws.amazon.com/AWSEC2/latest/UserGuide/monitoring-system-instance-status-check.html" TargetMode="External" Id="R7519c84c51064ec2" /><Relationship Type="http://schemas.openxmlformats.org/officeDocument/2006/relationships/image" Target="/ppt/media/image10.jpeg" Id="Rb4a19528d77048bd" /><Relationship Type="http://schemas.openxmlformats.org/officeDocument/2006/relationships/notesSlide" Target="/ppt/notesSlides/notesSlide19.xml" Id="R6c861c2413b74bc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e42162fe84228" /><Relationship Type="http://schemas.openxmlformats.org/officeDocument/2006/relationships/hyperlink" Target="https://docs.aws.amazon.com/AmazonECR/latest/userguide/Repositories.html" TargetMode="External" Id="R96a1b3fb8be249e1" /><Relationship Type="http://schemas.openxmlformats.org/officeDocument/2006/relationships/hyperlink" Target="https://docs.aws.amazon.com/AWSEC2/latest/UserGuide/monitoring-system-instance-status-check.html" TargetMode="External" Id="Re355deb1a65c48d8" /><Relationship Type="http://schemas.openxmlformats.org/officeDocument/2006/relationships/image" Target="/ppt/media/image11.jpeg" Id="Ra152991e09304538" /><Relationship Type="http://schemas.openxmlformats.org/officeDocument/2006/relationships/notesSlide" Target="/ppt/notesSlides/notesSlide20.xml" Id="Re11ad72c32834b2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bfb3ec8f24248" /><Relationship Type="http://schemas.openxmlformats.org/officeDocument/2006/relationships/hyperlink" Target="https://docs.aws.amazon.com/AWSEC2/latest/UserGuide/Stop_Start.html" TargetMode="External" Id="R1675f1c5df954c63" /><Relationship Type="http://schemas.openxmlformats.org/officeDocument/2006/relationships/hyperlink" Target="https://docs.aws.amazon.com/AWSEC2/latest/UserGuide/monitoring-system-instance-status-check.html" TargetMode="External" Id="R2da9434f1ed14401" /><Relationship Type="http://schemas.openxmlformats.org/officeDocument/2006/relationships/image" Target="/ppt/media/image12.jpeg" Id="R3af6e66636314801" /><Relationship Type="http://schemas.openxmlformats.org/officeDocument/2006/relationships/notesSlide" Target="/ppt/notesSlides/notesSlide21.xml" Id="R0d718848c86e4b5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8cb9085b34f16" /><Relationship Type="http://schemas.openxmlformats.org/officeDocument/2006/relationships/hyperlink" Target="https://docs.aws.amazon.com/AWSEC2/latest/UserGuide/Stop_Start.html" TargetMode="External" Id="R79157303cab34eb8" /><Relationship Type="http://schemas.openxmlformats.org/officeDocument/2006/relationships/hyperlink" Target="https://docs.aws.amazon.com/AWSEC2/latest/UserGuide/monitoring-system-instance-status-check.html" TargetMode="External" Id="Rcdddceea261d4b7e" /><Relationship Type="http://schemas.openxmlformats.org/officeDocument/2006/relationships/image" Target="/ppt/media/image13.jpeg" Id="R81ecca57430a46e8" /><Relationship Type="http://schemas.openxmlformats.org/officeDocument/2006/relationships/notesSlide" Target="/ppt/notesSlides/notesSlide22.xml" Id="Rc618b29b128f4c1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1648d507346fc" /><Relationship Type="http://schemas.openxmlformats.org/officeDocument/2006/relationships/hyperlink" Target="https://docs.aws.amazon.com/AWSEC2/latest/UserGuide/Stop_Start.html" TargetMode="External" Id="R89976001436747d8" /><Relationship Type="http://schemas.openxmlformats.org/officeDocument/2006/relationships/hyperlink" Target="https://docs.aws.amazon.com/AWSEC2/latest/UserGuide/monitoring-system-instance-status-check.html" TargetMode="External" Id="R78059c68dcb24ece" /><Relationship Type="http://schemas.openxmlformats.org/officeDocument/2006/relationships/image" Target="/ppt/media/image14.jpeg" Id="Rdff97e2a03a54455" /><Relationship Type="http://schemas.openxmlformats.org/officeDocument/2006/relationships/notesSlide" Target="/ppt/notesSlides/notesSlide23.xml" Id="R07caba4c18874dd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eeae1ac5c43ab" /><Relationship Type="http://schemas.openxmlformats.org/officeDocument/2006/relationships/hyperlink" Target="https://docs.aws.amazon.com/systems-manager/latest/userguide/run-command.html" TargetMode="External" Id="R6fcb638ab2ba44dd" /><Relationship Type="http://schemas.openxmlformats.org/officeDocument/2006/relationships/hyperlink" Target="https://docs.aws.amazon.com/AWSEC2/latest/UserGuide/monitoring-system-instance-status-check.html" TargetMode="External" Id="Ree7fc7fbe04945e3" /><Relationship Type="http://schemas.openxmlformats.org/officeDocument/2006/relationships/image" Target="/ppt/media/image15.jpeg" Id="R40c41419f68b4a7c" /><Relationship Type="http://schemas.openxmlformats.org/officeDocument/2006/relationships/notesSlide" Target="/ppt/notesSlides/notesSlide24.xml" Id="R3ab8d1574de8458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669014ae7400a" /><Relationship Type="http://schemas.openxmlformats.org/officeDocument/2006/relationships/hyperlink" Target="https://docs.aws.amazon.com/systems-manager/latest/userguide/run-command.html" TargetMode="External" Id="Rb10ec03ebc034631" /><Relationship Type="http://schemas.openxmlformats.org/officeDocument/2006/relationships/hyperlink" Target="https://docs.aws.amazon.com/AWSEC2/latest/UserGuide/monitoring-system-instance-status-check.html" TargetMode="External" Id="R497fdf7af110484c" /><Relationship Type="http://schemas.openxmlformats.org/officeDocument/2006/relationships/image" Target="/ppt/media/image16.jpeg" Id="Rdadf10a8bd864794" /><Relationship Type="http://schemas.openxmlformats.org/officeDocument/2006/relationships/notesSlide" Target="/ppt/notesSlides/notesSlide25.xml" Id="R94fd6a289ab04f1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91d2f577b4eb1" /><Relationship Type="http://schemas.openxmlformats.org/officeDocument/2006/relationships/hyperlink" Target="https://docs.aws.amazon.com/systems-manager/latest/userguide/run-command.html" TargetMode="External" Id="Ra74019de18f24cca" /><Relationship Type="http://schemas.openxmlformats.org/officeDocument/2006/relationships/hyperlink" Target="https://docs.aws.amazon.com/AWSEC2/latest/UserGuide/monitoring-system-instance-status-check.html" TargetMode="External" Id="R7c1d79a4e14e4382" /><Relationship Type="http://schemas.openxmlformats.org/officeDocument/2006/relationships/image" Target="/ppt/media/image17.jpeg" Id="R935bb2b89f99487d" /><Relationship Type="http://schemas.openxmlformats.org/officeDocument/2006/relationships/notesSlide" Target="/ppt/notesSlides/notesSlide26.xml" Id="R2eba43b00c044d4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a2c6e2eac4b1f" /><Relationship Type="http://schemas.openxmlformats.org/officeDocument/2006/relationships/hyperlink" Target="https://docs.aws.amazon.com/systems-manager/latest/userguide/run-command.html" TargetMode="External" Id="Rf5851bc94919414b" /><Relationship Type="http://schemas.openxmlformats.org/officeDocument/2006/relationships/hyperlink" Target="https://docs.aws.amazon.com/AWSEC2/latest/UserGuide/monitoring-system-instance-status-check.html" TargetMode="External" Id="Rf1273f49581740ff" /><Relationship Type="http://schemas.openxmlformats.org/officeDocument/2006/relationships/image" Target="/ppt/media/image18.jpeg" Id="Rbdffd0ab45e847a1" /><Relationship Type="http://schemas.openxmlformats.org/officeDocument/2006/relationships/notesSlide" Target="/ppt/notesSlides/notesSlide27.xml" Id="Rcc95a70d46c641e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39f06056a4b15" /><Relationship Type="http://schemas.openxmlformats.org/officeDocument/2006/relationships/hyperlink" Target="https://docs.aws.amazon.com/systems-manager/latest/userguide/run-command.html" TargetMode="External" Id="Raf6de094a83d4e37" /><Relationship Type="http://schemas.openxmlformats.org/officeDocument/2006/relationships/hyperlink" Target="https://docs.aws.amazon.com/AWSEC2/latest/UserGuide/monitoring-system-instance-status-check.html" TargetMode="External" Id="R1328651ac8724b56" /><Relationship Type="http://schemas.openxmlformats.org/officeDocument/2006/relationships/image" Target="/ppt/media/image19.jpeg" Id="R4d531faa43fb4e08" /><Relationship Type="http://schemas.openxmlformats.org/officeDocument/2006/relationships/notesSlide" Target="/ppt/notesSlides/notesSlide28.xml" Id="R5c3d30b806d04c2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bd4ef0510473c" /><Relationship Type="http://schemas.openxmlformats.org/officeDocument/2006/relationships/hyperlink" Target="https://docs.aws.amazon.com/systems-manager/latest/userguide/run-command.html" TargetMode="External" Id="Rc9f6df53ae3f47af" /><Relationship Type="http://schemas.openxmlformats.org/officeDocument/2006/relationships/hyperlink" Target="https://docs.aws.amazon.com/AWSEC2/latest/UserGuide/monitoring-system-instance-status-check.html" TargetMode="External" Id="Reeab00040ad9425b" /><Relationship Type="http://schemas.openxmlformats.org/officeDocument/2006/relationships/image" Target="/ppt/media/image20.jpeg" Id="Rce1cec0474a3409d" /><Relationship Type="http://schemas.openxmlformats.org/officeDocument/2006/relationships/notesSlide" Target="/ppt/notesSlides/notesSlide29.xml" Id="Re067b00dcce84d5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775283c0641b9" /><Relationship Type="http://schemas.openxmlformats.org/officeDocument/2006/relationships/hyperlink" Target="https://docs.aws.amazon.com/AWSEC2/latest/UserGuide/Stop_Start.html" TargetMode="External" Id="R5fe143629b274926" /><Relationship Type="http://schemas.openxmlformats.org/officeDocument/2006/relationships/hyperlink" Target="https://docs.aws.amazon.com/AWSEC2/latest/UserGuide/monitoring-system-instance-status-check.html" TargetMode="External" Id="Re90cd6556e9b46f9" /><Relationship Type="http://schemas.openxmlformats.org/officeDocument/2006/relationships/image" Target="/ppt/media/image21.jpeg" Id="R359df3a2b916447a" /><Relationship Type="http://schemas.openxmlformats.org/officeDocument/2006/relationships/notesSlide" Target="/ppt/notesSlides/notesSlide30.xml" Id="R0e84eec368b2442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4e13802e742b9" /><Relationship Type="http://schemas.openxmlformats.org/officeDocument/2006/relationships/hyperlink" Target="https://docs.aws.amazon.com/AWSEC2/latest/UserGuide/Stop_Start.html" TargetMode="External" Id="R50bc32d5f25c4bb2" /><Relationship Type="http://schemas.openxmlformats.org/officeDocument/2006/relationships/hyperlink" Target="https://docs.aws.amazon.com/AWSEC2/latest/UserGuide/monitoring-system-instance-status-check.html" TargetMode="External" Id="R5fd6833bb4aa4dfc" /><Relationship Type="http://schemas.openxmlformats.org/officeDocument/2006/relationships/image" Target="/ppt/media/image22.jpeg" Id="Re6e577431ff04222" /><Relationship Type="http://schemas.openxmlformats.org/officeDocument/2006/relationships/notesSlide" Target="/ppt/notesSlides/notesSlide31.xml" Id="Rf29049ba652e4f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6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week">
            <a:extLst xmlns:a="http://schemas.openxmlformats.org/drawingml/2006/main">
              <a:ext uri="{FF2B5EF4-FFF2-40B4-BE49-F238E27FC236}">
                <a16:creationId xmlns:a16="http://schemas.microsoft.com/office/drawing/2014/main" id="{375648A3-1C88-47EE-8745-A4560631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E77722"/>
                </a:solidFill>
              </a:defRPr>
            </a:pPr>
            <a:r>
              <a:rPr sz="2100" b="1">
                <a:solidFill>
                  <a:srgbClr val="E77722"/>
                </a:solidFill>
              </a:rPr>
              <a:t>09주차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57C4A1F-DE2C-43B6-8BB7-52E7305D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프로젝트 통합·보강</a:t>
            </a:r>
          </a:p>
        </p:txBody>
      </p:sp>
      <p:sp>
        <p:nvSpPr>
          <p:cNvPr id="3" name="outcome">
            <a:extLst xmlns:a="http://schemas.openxmlformats.org/drawingml/2006/main">
              <a:ext uri="{FF2B5EF4-FFF2-40B4-BE49-F238E27FC236}">
                <a16:creationId xmlns:a16="http://schemas.microsoft.com/office/drawing/2014/main" id="{B0EBEFBC-FD5D-49A7-B86C-6191A371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DBE6F2"/>
                </a:solidFill>
              </a:defRPr>
            </a:pPr>
            <a:r>
              <a:rPr sz="1950" b="0">
                <a:solidFill>
                  <a:srgbClr val="DBE6F2"/>
                </a:solidFill>
              </a:rPr>
              <a:t>데이터부터 화면까지 한 구간씩 확인하고 끊긴 지점을 스스로 복구한다.</a:t>
            </a:r>
          </a:p>
        </p:txBody>
      </p:sp>
      <p:sp>
        <p:nvSpPr>
          <p:cNvPr id="4" name="tagline">
            <a:extLst xmlns:a="http://schemas.openxmlformats.org/drawingml/2006/main">
              <a:ext uri="{FF2B5EF4-FFF2-40B4-BE49-F238E27FC236}">
                <a16:creationId xmlns:a16="http://schemas.microsoft.com/office/drawing/2014/main" id="{B4AD92BF-9CED-428C-B902-2F668020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한 번에 전체를 고치지 않습니다. 데이터 → 모델 → 이미지 → API → 화면 순서로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943811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4F3EB8E-5D90-4D97-9895-E5920FBF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886165-EC8A-4D60-8D31-9EC6C85C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오늘의 통과 기준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E8304F1-9123-4C1C-A678-7827ECCB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A0D17-9625-4534-89CB-E4448EBF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571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criterion-0">
            <a:extLst xmlns:a="http://schemas.openxmlformats.org/drawingml/2006/main">
              <a:ext uri="{FF2B5EF4-FFF2-40B4-BE49-F238E27FC236}">
                <a16:creationId xmlns:a16="http://schemas.microsoft.com/office/drawing/2014/main" id="{A530B28A-841D-409F-A108-0CE80A2B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7145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263C"/>
                </a:solidFill>
              </a:defRPr>
            </a:pPr>
            <a:r>
              <a:rPr sz="1650" b="0">
                <a:solidFill>
                  <a:srgbClr val="15263C"/>
                </a:solidFill>
              </a:rPr>
              <a:t>S3 원본과 가공 데이터가 구분되어 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BFB09-EDFD-4686-B6DD-7979B532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571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criterion-1">
            <a:extLst xmlns:a="http://schemas.openxmlformats.org/drawingml/2006/main">
              <a:ext uri="{FF2B5EF4-FFF2-40B4-BE49-F238E27FC236}">
                <a16:creationId xmlns:a16="http://schemas.microsoft.com/office/drawing/2014/main" id="{A5EC91C5-4D8B-4EF7-9111-389AE594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812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263C"/>
                </a:solidFill>
              </a:defRPr>
            </a:pPr>
            <a:r>
              <a:rPr sz="1650" b="0">
                <a:solidFill>
                  <a:srgbClr val="15263C"/>
                </a:solidFill>
              </a:rPr>
              <a:t>학습 실행과 MLflow 실험 ID가 남는다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73D97-60AB-4E7D-92AF-D44A6C61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571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criterion-2">
            <a:extLst xmlns:a="http://schemas.openxmlformats.org/drawingml/2006/main">
              <a:ext uri="{FF2B5EF4-FFF2-40B4-BE49-F238E27FC236}">
                <a16:creationId xmlns:a16="http://schemas.microsoft.com/office/drawing/2014/main" id="{6FA42150-3901-4CDF-93B6-F369C94F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480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263C"/>
                </a:solidFill>
              </a:defRPr>
            </a:pPr>
            <a:r>
              <a:rPr sz="1650" b="0">
                <a:solidFill>
                  <a:srgbClr val="15263C"/>
                </a:solidFill>
              </a:rPr>
              <a:t>Docker 이미지와 ECR 태그가 연결된다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C7D04-D226-43CA-A9E9-5C8E732B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571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criterion-3">
            <a:extLst xmlns:a="http://schemas.openxmlformats.org/drawingml/2006/main">
              <a:ext uri="{FF2B5EF4-FFF2-40B4-BE49-F238E27FC236}">
                <a16:creationId xmlns:a16="http://schemas.microsoft.com/office/drawing/2014/main" id="{1A48D66C-96DE-4122-9D83-997026E4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14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263C"/>
                </a:solidFill>
              </a:defRPr>
            </a:pPr>
            <a:r>
              <a:rPr sz="1650" b="0">
                <a:solidFill>
                  <a:srgbClr val="15263C"/>
                </a:solidFill>
              </a:rPr>
              <a:t>/health와 /predict가 정상 응답한다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59259-FCFA-4111-BA8D-697F3AEE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571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criterion-4">
            <a:extLst xmlns:a="http://schemas.openxmlformats.org/drawingml/2006/main">
              <a:ext uri="{FF2B5EF4-FFF2-40B4-BE49-F238E27FC236}">
                <a16:creationId xmlns:a16="http://schemas.microsoft.com/office/drawing/2014/main" id="{1343C1BB-2881-44A9-917A-B63C3A93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3815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263C"/>
                </a:solidFill>
              </a:defRPr>
            </a:pPr>
            <a:r>
              <a:rPr sz="1650" b="0">
                <a:solidFill>
                  <a:srgbClr val="15263C"/>
                </a:solidFill>
              </a:rPr>
              <a:t>Streamlit에서 실제 예측 1건이 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48D8C-57AE-4C14-8FF8-7DE9183A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571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criterion-5">
            <a:extLst xmlns:a="http://schemas.openxmlformats.org/drawingml/2006/main">
              <a:ext uri="{FF2B5EF4-FFF2-40B4-BE49-F238E27FC236}">
                <a16:creationId xmlns:a16="http://schemas.microsoft.com/office/drawing/2014/main" id="{6A9AA31E-1CEC-4DD5-828E-B106D599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482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5263C"/>
                </a:solidFill>
              </a:defRPr>
            </a:pPr>
            <a:r>
              <a:rPr sz="1650" b="1">
                <a:solidFill>
                  <a:srgbClr val="15263C"/>
                </a:solidFill>
              </a:rPr>
              <a:t>실패 원인과 해결 방법을 이슈표에 남긴다</a:t>
            </a:r>
          </a:p>
        </p:txBody>
      </p:sp>
    </p:spTree>
    <p:extLst>
      <p:ext uri="{BB962C8B-B14F-4D97-AF65-F5344CB8AC3E}">
        <p14:creationId xmlns:p14="http://schemas.microsoft.com/office/powerpoint/2010/main" val="14111422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805EB560-988D-4151-A324-91B9BECE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89CE0C-C073-4512-8AF4-6E9F0AA4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문제를 찾는 순서: 입력부터 확인한다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5BFB550-E5FB-41A2-947B-0DB5E39C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A0B89-E303-4E86-B9F9-552EDD28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9526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263C"/>
                </a:solidFill>
              </a:defRPr>
            </a:pPr>
            <a:r>
              <a:rPr sz="1575" b="1">
                <a:solidFill>
                  <a:srgbClr val="15263C"/>
                </a:solidFill>
              </a:rPr>
              <a:t>1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5263C"/>
                </a:solidFill>
              </a:defRPr>
            </a:pPr>
            <a:r>
              <a:rPr sz="1575" b="1">
                <a:solidFill>
                  <a:srgbClr val="15263C"/>
                </a:solidFill>
              </a:rPr>
              <a:t>입력이 존재하는가?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921A9-BFC1-4D2A-A71A-DC8E9D46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33625"/>
            <a:ext cx="19526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263C"/>
                </a:solidFill>
              </a:defRPr>
            </a:pPr>
            <a:r>
              <a:rPr sz="1575" b="1">
                <a:solidFill>
                  <a:srgbClr val="15263C"/>
                </a:solidFill>
              </a:rPr>
              <a:t>2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5263C"/>
                </a:solidFill>
              </a:defRPr>
            </a:pPr>
            <a:r>
              <a:rPr sz="1575" b="1">
                <a:solidFill>
                  <a:srgbClr val="15263C"/>
                </a:solidFill>
              </a:rPr>
              <a:t>이름과 형식이 맞는가?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D8C7E-0750-40CD-8E79-BDA0538F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19526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263C"/>
                </a:solidFill>
              </a:defRPr>
            </a:pPr>
            <a:r>
              <a:rPr sz="1575" b="1">
                <a:solidFill>
                  <a:srgbClr val="15263C"/>
                </a:solidFill>
              </a:rPr>
              <a:t>3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5263C"/>
                </a:solidFill>
              </a:defRPr>
            </a:pPr>
            <a:r>
              <a:rPr sz="1575" b="1">
                <a:solidFill>
                  <a:srgbClr val="15263C"/>
                </a:solidFill>
              </a:rPr>
              <a:t>실행 결과가 남는가?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8761D-53A0-42DB-A327-7900C207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33625"/>
            <a:ext cx="19526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263C"/>
                </a:solidFill>
              </a:defRPr>
            </a:pPr>
            <a:r>
              <a:rPr sz="1575" b="1">
                <a:solidFill>
                  <a:srgbClr val="15263C"/>
                </a:solidFill>
              </a:rPr>
              <a:t>4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5263C"/>
                </a:solidFill>
              </a:defRPr>
            </a:pPr>
            <a:r>
              <a:rPr sz="1575" b="1">
                <a:solidFill>
                  <a:srgbClr val="15263C"/>
                </a:solidFill>
              </a:rPr>
              <a:t>다음 단계가 그 결과를 읽는가?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9CF98-751E-4FA1-9C13-1ACAF7D2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9526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14288">
            <a:solidFill>
              <a:srgbClr val="E7772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263C"/>
                </a:solidFill>
              </a:defRPr>
            </a:pPr>
            <a:r>
              <a:rPr sz="1575" b="1">
                <a:solidFill>
                  <a:srgbClr val="15263C"/>
                </a:solidFill>
              </a:rPr>
              <a:t>5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5263C"/>
                </a:solidFill>
              </a:defRPr>
            </a:pPr>
            <a:r>
              <a:rPr sz="1575" b="1">
                <a:solidFill>
                  <a:srgbClr val="15263C"/>
                </a:solidFill>
              </a:rPr>
              <a:t>되돌아갈 기준점이 있는가?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7AC12471-0840-4A55-A51B-D4025C9A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E77722"/>
                </a:solidFill>
              </a:defRPr>
            </a:pPr>
            <a:r>
              <a:rPr sz="1950" b="1">
                <a:solidFill>
                  <a:srgbClr val="E77722"/>
                </a:solidFill>
              </a:rPr>
              <a:t>앞 단계가 실패했는데 뒤 단계를 먼저 고치지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246939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5A1C8A83-4D7F-47B6-B57E-A0905C70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C985A1-1587-4140-B945-4ABD8720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1단계: 데이터와 모델 결과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4F4BDCB-60B5-4506-AFC7-3581D0A0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data-check">
            <a:extLst xmlns:a="http://schemas.openxmlformats.org/drawingml/2006/main">
              <a:ext uri="{FF2B5EF4-FFF2-40B4-BE49-F238E27FC236}">
                <a16:creationId xmlns:a16="http://schemas.microsoft.com/office/drawing/2014/main" id="{8AE24C45-8FE8-4AFF-B1DA-9559DDFF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5263C"/>
                </a:solidFill>
              </a:defRPr>
            </a:pPr>
            <a:r>
              <a:rPr sz="2100" b="1">
                <a:solidFill>
                  <a:srgbClr val="15263C"/>
                </a:solidFill>
              </a:rPr>
              <a:t>S3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5263C"/>
                </a:solidFill>
              </a:defRPr>
            </a:pPr>
            <a:r>
              <a:rPr sz="2100" b="1">
                <a:solidFill>
                  <a:srgbClr val="15263C"/>
                </a:solidFill>
              </a:rPr>
              <a:t>raw / processed / models</a:t>
            </a:r>
          </a:p>
        </p:txBody>
      </p:sp>
      <p:sp>
        <p:nvSpPr>
          <p:cNvPr id="5" name="arrow-1">
            <a:extLst xmlns:a="http://schemas.openxmlformats.org/drawingml/2006/main">
              <a:ext uri="{FF2B5EF4-FFF2-40B4-BE49-F238E27FC236}">
                <a16:creationId xmlns:a16="http://schemas.microsoft.com/office/drawing/2014/main" id="{CE925C2B-C86A-48C7-A80A-8352E4F0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24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E77722"/>
                </a:solidFill>
              </a:defRPr>
            </a:pPr>
            <a:r>
              <a:rPr sz="3150" b="1">
                <a:solidFill>
                  <a:srgbClr val="E77722"/>
                </a:solidFill>
              </a:rPr>
              <a:t>→</a:t>
            </a:r>
          </a:p>
        </p:txBody>
      </p:sp>
      <p:sp>
        <p:nvSpPr>
          <p:cNvPr id="6" name="run-check">
            <a:extLst xmlns:a="http://schemas.openxmlformats.org/drawingml/2006/main">
              <a:ext uri="{FF2B5EF4-FFF2-40B4-BE49-F238E27FC236}">
                <a16:creationId xmlns:a16="http://schemas.microsoft.com/office/drawing/2014/main" id="{F3B1E0C7-350F-4CC5-9D57-A5D5FDA1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5263C"/>
                </a:solidFill>
              </a:defRPr>
            </a:pPr>
            <a:r>
              <a:rPr sz="2100" b="1">
                <a:solidFill>
                  <a:srgbClr val="15263C"/>
                </a:solidFill>
              </a:rPr>
              <a:t>학습 실행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5263C"/>
                </a:solidFill>
              </a:defRPr>
            </a:pPr>
            <a:r>
              <a:rPr sz="2100" b="1">
                <a:solidFill>
                  <a:srgbClr val="15263C"/>
                </a:solidFill>
              </a:rPr>
              <a:t>코드·시간·실행 ID</a:t>
            </a:r>
          </a:p>
        </p:txBody>
      </p:sp>
      <p:sp>
        <p:nvSpPr>
          <p:cNvPr id="7" name="arrow-2">
            <a:extLst xmlns:a="http://schemas.openxmlformats.org/drawingml/2006/main">
              <a:ext uri="{FF2B5EF4-FFF2-40B4-BE49-F238E27FC236}">
                <a16:creationId xmlns:a16="http://schemas.microsoft.com/office/drawing/2014/main" id="{B4BB828A-9365-49BE-89F6-5A720A1C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24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E77722"/>
                </a:solidFill>
              </a:defRPr>
            </a:pPr>
            <a:r>
              <a:rPr sz="3150" b="1">
                <a:solidFill>
                  <a:srgbClr val="E77722"/>
                </a:solidFill>
              </a:rPr>
              <a:t>→</a:t>
            </a:r>
          </a:p>
        </p:txBody>
      </p:sp>
      <p:sp>
        <p:nvSpPr>
          <p:cNvPr id="8" name="model-check">
            <a:extLst xmlns:a="http://schemas.openxmlformats.org/drawingml/2006/main">
              <a:ext uri="{FF2B5EF4-FFF2-40B4-BE49-F238E27FC236}">
                <a16:creationId xmlns:a16="http://schemas.microsoft.com/office/drawing/2014/main" id="{138527DA-5501-467D-A58C-2C4D1385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5263C"/>
                </a:solidFill>
              </a:defRPr>
            </a:pPr>
            <a:r>
              <a:rPr sz="2100" b="1">
                <a:solidFill>
                  <a:srgbClr val="15263C"/>
                </a:solidFill>
              </a:rPr>
              <a:t>MLflow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5263C"/>
                </a:solidFill>
              </a:defRPr>
            </a:pPr>
            <a:r>
              <a:rPr sz="2100" b="1">
                <a:solidFill>
                  <a:srgbClr val="15263C"/>
                </a:solidFill>
              </a:rPr>
              <a:t>파라미터·지표·모델</a:t>
            </a:r>
          </a:p>
        </p:txBody>
      </p:sp>
      <p:sp>
        <p:nvSpPr>
          <p:cNvPr id="9" name="evidence">
            <a:extLst xmlns:a="http://schemas.openxmlformats.org/drawingml/2006/main">
              <a:ext uri="{FF2B5EF4-FFF2-40B4-BE49-F238E27FC236}">
                <a16:creationId xmlns:a16="http://schemas.microsoft.com/office/drawing/2014/main" id="{CFFDA5B4-F710-44A5-8086-B0BCCAFC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62500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77722"/>
                </a:solidFill>
              </a:defRPr>
            </a:pPr>
            <a:r>
              <a:rPr sz="1800" b="1">
                <a:solidFill>
                  <a:srgbClr val="E77722"/>
                </a:solidFill>
              </a:rPr>
              <a:t>증거: S3 객체 경로 + MLflow Run ID + 선택 모델 버전</a:t>
            </a:r>
          </a:p>
        </p:txBody>
      </p:sp>
    </p:spTree>
    <p:extLst>
      <p:ext uri="{BB962C8B-B14F-4D97-AF65-F5344CB8AC3E}">
        <p14:creationId xmlns:p14="http://schemas.microsoft.com/office/powerpoint/2010/main" val="1561839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DB5108A5-EE71-4C57-9D5E-C2A7B3A3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CD9340-3A3C-47F9-80D7-54045410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2단계: 이미지와 API를 같이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4ABD226-E87B-4C19-AED6-9E353714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5AD5D-DA22-41D0-93A4-B1F06A07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252412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42875" tIns="142875" rIns="142875" bIns="1428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63C"/>
                </a:solidFill>
              </a:defRPr>
            </a:pPr>
            <a:r>
              <a:rPr sz="1650" b="1">
                <a:solidFill>
                  <a:srgbClr val="15263C"/>
                </a:solidFill>
              </a:rPr>
              <a:t>Docker / ECR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5263C"/>
                </a:solidFill>
              </a:defRPr>
            </a:pPr>
            <a:r>
              <a:rPr sz="1650" b="1">
                <a:solidFill>
                  <a:srgbClr val="15263C"/>
                </a:solidFill>
              </a:rPr>
              <a:t>이미지 태그와 digest가 연결되는가?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3EC03-CCD4-4311-9497-7C4DD455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52412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42875" tIns="142875" rIns="142875" bIns="1428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63C"/>
                </a:solidFill>
              </a:defRPr>
            </a:pPr>
            <a:r>
              <a:rPr sz="1650" b="1">
                <a:solidFill>
                  <a:srgbClr val="15263C"/>
                </a:solidFill>
              </a:rPr>
              <a:t>/health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5263C"/>
                </a:solidFill>
              </a:defRPr>
            </a:pPr>
            <a:r>
              <a:rPr sz="1650" b="1">
                <a:solidFill>
                  <a:srgbClr val="15263C"/>
                </a:solidFill>
              </a:rPr>
              <a:t>프로세스가 살아 있는가?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8A1F0-A4D9-4F05-A35B-0E5771C6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43125"/>
            <a:ext cx="252412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42875" tIns="142875" rIns="142875" bIns="1428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63C"/>
                </a:solidFill>
              </a:defRPr>
            </a:pPr>
            <a:r>
              <a:rPr sz="1650" b="1">
                <a:solidFill>
                  <a:srgbClr val="15263C"/>
                </a:solidFill>
              </a:rPr>
              <a:t>/predict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5263C"/>
                </a:solidFill>
              </a:defRPr>
            </a:pPr>
            <a:r>
              <a:rPr sz="1650" b="1">
                <a:solidFill>
                  <a:srgbClr val="15263C"/>
                </a:solidFill>
              </a:rPr>
              <a:t>정상·잘못된 입력을 구분하는가?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FE95C-970B-47BA-A83E-6C1A51D5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43125"/>
            <a:ext cx="252412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14288">
            <a:solidFill>
              <a:srgbClr val="E77722"/>
            </a:solidFill>
            <a:prstDash val="solid"/>
          </a:ln>
        </p:spPr>
        <p:txBody>
          <a:bodyPr xmlns:a="http://schemas.openxmlformats.org/drawingml/2006/main" lIns="142875" tIns="142875" rIns="142875" bIns="1428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63C"/>
                </a:solidFill>
              </a:defRPr>
            </a:pPr>
            <a:r>
              <a:rPr sz="1650" b="1">
                <a:solidFill>
                  <a:srgbClr val="15263C"/>
                </a:solidFill>
              </a:rPr>
              <a:t>Streamlit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5263C"/>
                </a:solidFill>
              </a:defRPr>
            </a:pPr>
            <a:r>
              <a:rPr sz="1650" b="1">
                <a:solidFill>
                  <a:srgbClr val="15263C"/>
                </a:solidFill>
              </a:rPr>
              <a:t>API 응답을 사용자에게 보여 주는가?</a:t>
            </a:r>
          </a:p>
        </p:txBody>
      </p:sp>
      <p:sp>
        <p:nvSpPr>
          <p:cNvPr id="8" name="api-evidence">
            <a:extLst xmlns:a="http://schemas.openxmlformats.org/drawingml/2006/main">
              <a:ext uri="{FF2B5EF4-FFF2-40B4-BE49-F238E27FC236}">
                <a16:creationId xmlns:a16="http://schemas.microsoft.com/office/drawing/2014/main" id="{3F1A683E-7CC4-48F9-BACD-003FF5D7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006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77722"/>
                </a:solidFill>
              </a:defRPr>
            </a:pPr>
            <a:r>
              <a:rPr sz="1800" b="1">
                <a:solidFill>
                  <a:srgbClr val="E77722"/>
                </a:solidFill>
              </a:rPr>
              <a:t>증거: ECR 태그 + /health 200 + /predict 응답 JSON + 데모 화면</a:t>
            </a:r>
          </a:p>
        </p:txBody>
      </p:sp>
    </p:spTree>
    <p:extLst>
      <p:ext uri="{BB962C8B-B14F-4D97-AF65-F5344CB8AC3E}">
        <p14:creationId xmlns:p14="http://schemas.microsoft.com/office/powerpoint/2010/main" val="17189889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A2102440-E8B9-48BA-A202-410B5A48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9612B1-897F-4F39-80AF-086944CF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기술 부채는 우선순위로 줄인다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DC2A420-DE91-4033-A749-CF35305A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8EBA4-0FEC-4F65-B641-2E0FC54D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3C"/>
          </a:solidFill>
          <a:ln xmlns:a="http://schemas.openxmlformats.org/drawingml/2006/main" w="9525">
            <a:solidFill>
              <a:srgbClr val="C3CFDB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순위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ED341-99ED-40F8-A2A8-2CB1155D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7145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3C"/>
          </a:solidFill>
          <a:ln xmlns:a="http://schemas.openxmlformats.org/drawingml/2006/main" w="9525">
            <a:solidFill>
              <a:srgbClr val="C3CFDB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판단 기준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E5AC7-BB20-4FA2-91BB-D6E3C4B0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504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3C"/>
          </a:solidFill>
          <a:ln xmlns:a="http://schemas.openxmlformats.org/drawingml/2006/main" w="9525">
            <a:solidFill>
              <a:srgbClr val="C3CFDB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E255C-B1E7-42B9-80E8-B15AA302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C3CFDB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D7176-096A-48A7-9EC5-66902FBA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4574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C3CFDB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263C"/>
                </a:solidFill>
              </a:defRPr>
            </a:pPr>
            <a:r>
              <a:rPr sz="1425" b="0">
                <a:solidFill>
                  <a:srgbClr val="15263C"/>
                </a:solidFill>
              </a:rPr>
              <a:t>실행 불가·데이터 손실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22ED0-B0D7-4DCE-A861-54D8A9E2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57450"/>
            <a:ext cx="504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C3CFDB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263C"/>
                </a:solidFill>
              </a:defRPr>
            </a:pPr>
            <a:r>
              <a:rPr sz="1425" b="0">
                <a:solidFill>
                  <a:srgbClr val="15263C"/>
                </a:solidFill>
              </a:rPr>
              <a:t>모델 파일 누락, API 500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9E682-4514-4407-83C9-2ECE59BA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004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CFDB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66261-85E3-48EB-B772-FF0276D5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004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CFDB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263C"/>
                </a:solidFill>
              </a:defRPr>
            </a:pPr>
            <a:r>
              <a:rPr sz="1425" b="0">
                <a:solidFill>
                  <a:srgbClr val="15263C"/>
                </a:solidFill>
              </a:rPr>
              <a:t>재현·안전에 영향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45EF7-D234-45B9-B429-8C46052E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00400"/>
            <a:ext cx="504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CFDB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263C"/>
                </a:solidFill>
              </a:defRPr>
            </a:pPr>
            <a:r>
              <a:rPr sz="1425" b="0">
                <a:solidFill>
                  <a:srgbClr val="15263C"/>
                </a:solidFill>
              </a:rPr>
              <a:t>태그 latest 고정, 비밀 값 하드코딩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195AA-D505-435B-9A97-8194AFC1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433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CFDB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10EAA3-54DC-4DEC-B443-65DE3F06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433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CFDB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263C"/>
                </a:solidFill>
              </a:defRPr>
            </a:pPr>
            <a:r>
              <a:rPr sz="1425" b="0">
                <a:solidFill>
                  <a:srgbClr val="15263C"/>
                </a:solidFill>
              </a:rPr>
              <a:t>운영·문서 품질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97385-C6BB-493E-AB08-8F070AB7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43350"/>
            <a:ext cx="504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CFDB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263C"/>
                </a:solidFill>
              </a:defRPr>
            </a:pPr>
            <a:r>
              <a:rPr sz="1425" b="0">
                <a:solidFill>
                  <a:srgbClr val="15263C"/>
                </a:solidFill>
              </a:rPr>
              <a:t>로그 부족, README 누락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209315-A621-4FA0-9FEA-DF5088B1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863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CFDB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FC9CF5-FA35-4EBC-9155-89750C95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863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CFDB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263C"/>
                </a:solidFill>
              </a:defRPr>
            </a:pPr>
            <a:r>
              <a:rPr sz="1425" b="0">
                <a:solidFill>
                  <a:srgbClr val="15263C"/>
                </a:solidFill>
              </a:rPr>
              <a:t>편의·표현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37D772-42ED-4883-A7A1-F6BE736A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86300"/>
            <a:ext cx="504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CFDB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263C"/>
                </a:solidFill>
              </a:defRPr>
            </a:pPr>
            <a:r>
              <a:rPr sz="1425" b="0">
                <a:solidFill>
                  <a:srgbClr val="15263C"/>
                </a:solidFill>
              </a:rPr>
              <a:t>화면 문구, 레이아웃</a:t>
            </a:r>
          </a:p>
        </p:txBody>
      </p:sp>
    </p:spTree>
    <p:extLst>
      <p:ext uri="{BB962C8B-B14F-4D97-AF65-F5344CB8AC3E}">
        <p14:creationId xmlns:p14="http://schemas.microsoft.com/office/powerpoint/2010/main" val="5302946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5D65CA5F-CF72-4509-B3C8-76128475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E8D367-F25C-43F9-BF7F-920F8E93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NCS 평가 증거로 바꾸기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C719D3F-012D-40D7-8D1E-64BBAB0A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ev-0-a">
            <a:extLst xmlns:a="http://schemas.openxmlformats.org/drawingml/2006/main">
              <a:ext uri="{FF2B5EF4-FFF2-40B4-BE49-F238E27FC236}">
                <a16:creationId xmlns:a16="http://schemas.microsoft.com/office/drawing/2014/main" id="{2ABCF479-8A7F-4A3A-8A14-6B25DCD9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89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점검 기록</a:t>
            </a:r>
          </a:p>
        </p:txBody>
      </p:sp>
      <p:sp>
        <p:nvSpPr>
          <p:cNvPr id="5" name="ev-0-b">
            <a:extLst xmlns:a="http://schemas.openxmlformats.org/drawingml/2006/main">
              <a:ext uri="{FF2B5EF4-FFF2-40B4-BE49-F238E27FC236}">
                <a16:creationId xmlns:a16="http://schemas.microsoft.com/office/drawing/2014/main" id="{DE66BF77-620D-4DC0-93DA-1E57912D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5263C"/>
                </a:solidFill>
              </a:defRPr>
            </a:pPr>
            <a:r>
              <a:rPr sz="1800" b="0">
                <a:solidFill>
                  <a:srgbClr val="15263C"/>
                </a:solidFill>
              </a:rPr>
              <a:t>장애 요인 분석·조치 근거</a:t>
            </a:r>
          </a:p>
        </p:txBody>
      </p:sp>
      <p:sp>
        <p:nvSpPr>
          <p:cNvPr id="6" name="ev-1-a">
            <a:extLst xmlns:a="http://schemas.openxmlformats.org/drawingml/2006/main">
              <a:ext uri="{FF2B5EF4-FFF2-40B4-BE49-F238E27FC236}">
                <a16:creationId xmlns:a16="http://schemas.microsoft.com/office/drawing/2014/main" id="{28DF8067-17E4-4E9C-A05D-C1746E6D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89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버전·태그</a:t>
            </a:r>
          </a:p>
        </p:txBody>
      </p:sp>
      <p:sp>
        <p:nvSpPr>
          <p:cNvPr id="7" name="ev-1-b">
            <a:extLst xmlns:a="http://schemas.openxmlformats.org/drawingml/2006/main">
              <a:ext uri="{FF2B5EF4-FFF2-40B4-BE49-F238E27FC236}">
                <a16:creationId xmlns:a16="http://schemas.microsoft.com/office/drawing/2014/main" id="{636E6728-ADFC-4A76-AE2F-212093CB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146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5263C"/>
                </a:solidFill>
              </a:defRPr>
            </a:pPr>
            <a:r>
              <a:rPr sz="1800" b="0">
                <a:solidFill>
                  <a:srgbClr val="15263C"/>
                </a:solidFill>
              </a:rPr>
              <a:t>구성 관리·배포 관리 근거</a:t>
            </a:r>
          </a:p>
        </p:txBody>
      </p:sp>
      <p:sp>
        <p:nvSpPr>
          <p:cNvPr id="8" name="ev-2-a">
            <a:extLst xmlns:a="http://schemas.openxmlformats.org/drawingml/2006/main">
              <a:ext uri="{FF2B5EF4-FFF2-40B4-BE49-F238E27FC236}">
                <a16:creationId xmlns:a16="http://schemas.microsoft.com/office/drawing/2014/main" id="{3872981F-628D-4FD4-A71A-E4EFBC99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89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성능·응답 결과</a:t>
            </a:r>
          </a:p>
        </p:txBody>
      </p:sp>
      <p:sp>
        <p:nvSpPr>
          <p:cNvPr id="9" name="ev-2-b">
            <a:extLst xmlns:a="http://schemas.openxmlformats.org/drawingml/2006/main">
              <a:ext uri="{FF2B5EF4-FFF2-40B4-BE49-F238E27FC236}">
                <a16:creationId xmlns:a16="http://schemas.microsoft.com/office/drawing/2014/main" id="{FADB6FD8-4DBE-4337-97EC-E9AF4A73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5263C"/>
                </a:solidFill>
              </a:defRPr>
            </a:pPr>
            <a:r>
              <a:rPr sz="1800" b="0">
                <a:solidFill>
                  <a:srgbClr val="15263C"/>
                </a:solidFill>
              </a:rPr>
              <a:t>모델 성능 관리 근거</a:t>
            </a:r>
          </a:p>
        </p:txBody>
      </p:sp>
      <p:sp>
        <p:nvSpPr>
          <p:cNvPr id="10" name="ev-3-a">
            <a:extLst xmlns:a="http://schemas.openxmlformats.org/drawingml/2006/main">
              <a:ext uri="{FF2B5EF4-FFF2-40B4-BE49-F238E27FC236}">
                <a16:creationId xmlns:a16="http://schemas.microsoft.com/office/drawing/2014/main" id="{B6FEEE54-7884-48D7-ABEA-0F06125F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89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전·후 화면</a:t>
            </a:r>
          </a:p>
        </p:txBody>
      </p:sp>
      <p:sp>
        <p:nvSpPr>
          <p:cNvPr id="11" name="ev-3-b">
            <a:extLst xmlns:a="http://schemas.openxmlformats.org/drawingml/2006/main">
              <a:ext uri="{FF2B5EF4-FFF2-40B4-BE49-F238E27FC236}">
                <a16:creationId xmlns:a16="http://schemas.microsoft.com/office/drawing/2014/main" id="{DD312182-A618-4A51-8FAE-ECD57245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52437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5263C"/>
                </a:solidFill>
              </a:defRPr>
            </a:pPr>
            <a:r>
              <a:rPr sz="1800" b="1">
                <a:solidFill>
                  <a:srgbClr val="15263C"/>
                </a:solidFill>
              </a:rPr>
              <a:t>문제 해결과 검증 근거</a:t>
            </a:r>
          </a:p>
        </p:txBody>
      </p:sp>
      <p:sp>
        <p:nvSpPr>
          <p:cNvPr id="12" name="ncs-note">
            <a:extLst xmlns:a="http://schemas.openxmlformats.org/drawingml/2006/main">
              <a:ext uri="{FF2B5EF4-FFF2-40B4-BE49-F238E27FC236}">
                <a16:creationId xmlns:a16="http://schemas.microsoft.com/office/drawing/2014/main" id="{743659B1-3FAA-4F39-8658-2C3269C2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NCS 코드는 학교가 적용하는 기준 연도를 확인한 뒤 최종 서식에 기입합니다.</a:t>
            </a:r>
          </a:p>
        </p:txBody>
      </p:sp>
    </p:spTree>
    <p:extLst>
      <p:ext uri="{BB962C8B-B14F-4D97-AF65-F5344CB8AC3E}">
        <p14:creationId xmlns:p14="http://schemas.microsoft.com/office/powerpoint/2010/main" val="10862076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4E913346-2737-4698-A13D-993FE45E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A495EF-EE8F-4B75-9A9A-0C8C13D7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오늘 시스템에서 데이터가 흐르는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578291D-6012-4F3C-B0AC-9818A9FC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1E50147E-CBC1-44E3-A9EF-E075A712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66F"/>
                </a:solidFill>
              </a:defRPr>
            </a:pPr>
            <a:r>
              <a:rPr sz="1650" b="0">
                <a:solidFill>
                  <a:srgbClr val="42566F"/>
                </a:solidFill>
              </a:rPr>
              <a:t>데이터부터 화면까지 한 구간씩 확인하고 끊긴 지점을 스스로 복구한다.</a:t>
            </a:r>
          </a:p>
        </p:txBody>
      </p:sp>
      <p:sp>
        <p:nvSpPr>
          <p:cNvPr id="5" name="node-1">
            <a:extLst xmlns:a="http://schemas.openxmlformats.org/drawingml/2006/main">
              <a:ext uri="{FF2B5EF4-FFF2-40B4-BE49-F238E27FC236}">
                <a16:creationId xmlns:a16="http://schemas.microsoft.com/office/drawing/2014/main" id="{24820742-5E92-49E8-B02A-C929ED12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S3 data</a:t>
            </a:r>
          </a:p>
        </p:txBody>
      </p:sp>
      <p:sp>
        <p:nvSpPr>
          <p:cNvPr id="6" name="node-2">
            <a:extLst xmlns:a="http://schemas.openxmlformats.org/drawingml/2006/main">
              <a:ext uri="{FF2B5EF4-FFF2-40B4-BE49-F238E27FC236}">
                <a16:creationId xmlns:a16="http://schemas.microsoft.com/office/drawing/2014/main" id="{CB0A179A-AE76-4227-BB63-8A3FDCA4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1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training</a:t>
            </a:r>
          </a:p>
        </p:txBody>
      </p:sp>
      <p:sp>
        <p:nvSpPr>
          <p:cNvPr id="7" name="node-3">
            <a:extLst xmlns:a="http://schemas.openxmlformats.org/drawingml/2006/main">
              <a:ext uri="{FF2B5EF4-FFF2-40B4-BE49-F238E27FC236}">
                <a16:creationId xmlns:a16="http://schemas.microsoft.com/office/drawing/2014/main" id="{5E2C5987-C33C-47FA-BC9C-2811B853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MLflow</a:t>
            </a:r>
          </a:p>
        </p:txBody>
      </p:sp>
      <p:sp>
        <p:nvSpPr>
          <p:cNvPr id="8" name="node-4">
            <a:extLst xmlns:a="http://schemas.openxmlformats.org/drawingml/2006/main">
              <a:ext uri="{FF2B5EF4-FFF2-40B4-BE49-F238E27FC236}">
                <a16:creationId xmlns:a16="http://schemas.microsoft.com/office/drawing/2014/main" id="{85E5FFF0-524B-40B5-81B0-A19F5043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Docker/ECR</a:t>
            </a:r>
          </a:p>
        </p:txBody>
      </p:sp>
      <p:sp>
        <p:nvSpPr>
          <p:cNvPr id="9" name="node-5">
            <a:extLst xmlns:a="http://schemas.openxmlformats.org/drawingml/2006/main">
              <a:ext uri="{FF2B5EF4-FFF2-40B4-BE49-F238E27FC236}">
                <a16:creationId xmlns:a16="http://schemas.microsoft.com/office/drawing/2014/main" id="{9FEFED83-6663-4294-A0D8-217FB88B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FastAPI</a:t>
            </a:r>
          </a:p>
        </p:txBody>
      </p:sp>
      <p:sp>
        <p:nvSpPr>
          <p:cNvPr id="10" name="node-6">
            <a:extLst xmlns:a="http://schemas.openxmlformats.org/drawingml/2006/main">
              <a:ext uri="{FF2B5EF4-FFF2-40B4-BE49-F238E27FC236}">
                <a16:creationId xmlns:a16="http://schemas.microsoft.com/office/drawing/2014/main" id="{08BE1FF0-0408-406D-8555-2A7AB9BD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14288">
            <a:solidFill>
              <a:srgbClr val="E77722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Streamlit</a:t>
            </a:r>
          </a:p>
        </p:txBody>
      </p: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225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1021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817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4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8613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7409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sp>
        <p:nvSpPr>
          <p:cNvPr id="16" name="read-order">
            <a:extLst xmlns:a="http://schemas.openxmlformats.org/drawingml/2006/main">
              <a:ext uri="{FF2B5EF4-FFF2-40B4-BE49-F238E27FC236}">
                <a16:creationId xmlns:a16="http://schemas.microsoft.com/office/drawing/2014/main" id="{683AEF76-F7A0-4703-9876-871CA6B0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왼쪽에서 오른쪽으로 읽습니다. 각 화살표는 다음 단계가 바로 앞 단계의 결과를 입력으로 사용한다는 뜻입니다.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520FD5F5-80BA-4207-92D2-3AA8E016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확인 질문: 어느 단계가 실패했는지 파일·로그·URL로 증명할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11011707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A844C0-FDD5-4FC8-BB40-22B0B02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0FDF-AAF4-48BD-8C71-44FC787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AWS 화면으로 가는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930CF8-407A-4A1F-B15F-FF0AA75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836b3a6834bea"/>
          <a:stretch xmlns:a="http://schemas.openxmlformats.org/drawingml/2006/main"/>
        </p:blipFill>
        <p:spPr>
          <a:xfrm xmlns:a="http://schemas.openxmlformats.org/drawingml/2006/main">
            <a:off x="2070299" y="1666875"/>
            <a:ext cx="2812653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640AEE5-777F-4076-ADD1-3D7DEC4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54362EAC-DC07-4C38-AC1A-61714DD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EC2 → ECR 순서로 상태 확인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6F2F7C-35A9-4CEE-B493-D6A24B2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리전과 계정/역할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리소스 이름과 상태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비용이 발생하는 실행 자원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작업 뒤 중지·삭제 여부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79A7EC3-3B5B-4ECA-906B-572B5B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fb54b2fb5b541ff"/>
              </a:rPr>
              <a:t>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284878df18b40c0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E7028A1-675B-404C-B8A2-19CEF52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화면 모양은 바뀔 수 있습니다. 버튼 위치보다 메뉴 이름과 리소스 상태를 기준으로 찾습니다.</a:t>
            </a:r>
          </a:p>
        </p:txBody>
      </p:sp>
    </p:spTree>
    <p:extLst>
      <p:ext uri="{BB962C8B-B14F-4D97-AF65-F5344CB8AC3E}">
        <p14:creationId xmlns:p14="http://schemas.microsoft.com/office/powerpoint/2010/main" val="12196947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037734C8-F77D-4641-BFC0-644000E5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4FFB9E-E677-4CC4-92AA-15DDEFF8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제출하면 오늘 수업 완료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A9F9DF5-81F2-4E10-A391-5A497378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submit">
            <a:extLst xmlns:a="http://schemas.openxmlformats.org/drawingml/2006/main">
              <a:ext uri="{FF2B5EF4-FFF2-40B4-BE49-F238E27FC236}">
                <a16:creationId xmlns:a16="http://schemas.microsoft.com/office/drawing/2014/main" id="{2F0F225E-150D-456A-A54D-B8528DD6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5263C"/>
                </a:solidFill>
              </a:defRPr>
            </a:pPr>
            <a:r>
              <a:rPr sz="2250" b="1">
                <a:solidFill>
                  <a:srgbClr val="15263C"/>
                </a:solidFill>
              </a:rPr>
              <a:t>1. 전 구간 연결 체크리스트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5263C"/>
                </a:solidFill>
              </a:defRPr>
            </a:pPr>
            <a:r>
              <a:rPr sz="2250" b="1">
                <a:solidFill>
                  <a:srgbClr val="15263C"/>
                </a:solidFill>
              </a:rPr>
              <a:t>2. 해결 전·후 기술 부채 이슈표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5263C"/>
                </a:solidFill>
              </a:defRPr>
            </a:pPr>
            <a:r>
              <a:rPr sz="2250" b="1">
                <a:solidFill>
                  <a:srgbClr val="15263C"/>
                </a:solidFill>
              </a:rPr>
              <a:t>3. S3·MLflow·ECR·/health·Streamlit 화면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5263C"/>
                </a:solidFill>
              </a:defRPr>
            </a:pPr>
            <a:r>
              <a:rPr sz="2250" b="1">
                <a:solidFill>
                  <a:srgbClr val="15263C"/>
                </a:solidFill>
              </a:rPr>
              <a:t>4. 수업 종료 전 실행 리소스 확인</a:t>
            </a:r>
          </a:p>
        </p:txBody>
      </p:sp>
      <p:sp>
        <p:nvSpPr>
          <p:cNvPr id="5" name="m2plus">
            <a:extLst xmlns:a="http://schemas.openxmlformats.org/drawingml/2006/main">
              <a:ext uri="{FF2B5EF4-FFF2-40B4-BE49-F238E27FC236}">
                <a16:creationId xmlns:a16="http://schemas.microsoft.com/office/drawing/2014/main" id="{0B47B5C2-4A43-4604-BDE1-FD768A8A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8637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E77722"/>
                </a:solidFill>
              </a:defRPr>
            </a:pPr>
            <a:r>
              <a:rPr sz="2400" b="1">
                <a:solidFill>
                  <a:srgbClr val="E77722"/>
                </a:solidFill>
              </a:rPr>
              <a:t>통과하면 M2+ 완료</a:t>
            </a:r>
          </a:p>
        </p:txBody>
      </p:sp>
    </p:spTree>
    <p:extLst>
      <p:ext uri="{BB962C8B-B14F-4D97-AF65-F5344CB8AC3E}">
        <p14:creationId xmlns:p14="http://schemas.microsoft.com/office/powerpoint/2010/main" val="18657801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A844C0-FDD5-4FC8-BB40-22B0B02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0FDF-AAF4-48BD-8C71-44FC787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01: S3 버킷 목록에서 팀 버킷 찾기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930CF8-407A-4A1F-B15F-FF0AA75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640AEE5-777F-4076-ADD1-3D7DEC4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54362EAC-DC07-4C38-AC1A-61714DD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ysu-mlops-lab-20260824-a7c9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6F2F7C-35A9-4CEE-B493-D6A24B2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S3 버킷 목록에서 팀 버킷 찾기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79A7EC3-3B5B-4ECA-906B-572B5B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54c05626a39478b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5befa594fb04fa7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E7028A1-675B-404C-B8A2-19CEF52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d06fab1ec4dd8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196947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A844C0-FDD5-4FC8-BB40-22B0B02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0FDF-AAF4-48BD-8C71-44FC787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02: 팀 버킷의 최상위 경로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930CF8-407A-4A1F-B15F-FF0AA75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640AEE5-777F-4076-ADD1-3D7DEC4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54362EAC-DC07-4C38-AC1A-61714DD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ysu-mlops-lab-20260824-a7c9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6F2F7C-35A9-4CEE-B493-D6A24B2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팀 버킷의 최상위 경로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79A7EC3-3B5B-4ECA-906B-572B5B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678725442ce4a8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f7fbd5edadd4a5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E7028A1-675B-404C-B8A2-19CEF52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7edb883d946fa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196947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A844C0-FDD5-4FC8-BB40-22B0B02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0FDF-AAF4-48BD-8C71-44FC787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03: datasets 데이터 경로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930CF8-407A-4A1F-B15F-FF0AA75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640AEE5-777F-4076-ADD1-3D7DEC4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54362EAC-DC07-4C38-AC1A-61714DD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ysu-mlops-lab-20260824-a7c9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6F2F7C-35A9-4CEE-B493-D6A24B2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datasets 데이터 경로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79A7EC3-3B5B-4ECA-906B-572B5B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8ff0f2704e54c6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9c4641389dd434c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E7028A1-675B-404C-B8A2-19CEF52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9ba3f404d4d36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196947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A844C0-FDD5-4FC8-BB40-22B0B02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0FDF-AAF4-48BD-8C71-44FC787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04: models 산출물 경로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930CF8-407A-4A1F-B15F-FF0AA75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640AEE5-777F-4076-ADD1-3D7DEC4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54362EAC-DC07-4C38-AC1A-61714DD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ysu-mlops-lab-20260824-a7c9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6F2F7C-35A9-4CEE-B493-D6A24B2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models 산출물 경로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79A7EC3-3B5B-4ECA-906B-572B5B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ccb59887daf4e6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a35281d7fbf40b1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E7028A1-675B-404C-B8A2-19CEF52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c2704c6474950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196947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A844C0-FDD5-4FC8-BB40-22B0B02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0FDF-AAF4-48BD-8C71-44FC787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05: 버전 관리와 암호화 속성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930CF8-407A-4A1F-B15F-FF0AA75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640AEE5-777F-4076-ADD1-3D7DEC4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54362EAC-DC07-4C38-AC1A-61714DD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ysu-mlops-lab-20260824-a7c9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6F2F7C-35A9-4CEE-B493-D6A24B2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버전 관리와 암호화 속성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79A7EC3-3B5B-4ECA-906B-572B5B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188a1af346040d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4a2ac44e4fd49f1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E7028A1-675B-404C-B8A2-19CEF52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3528a18b34f19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196947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A844C0-FDD5-4FC8-BB40-22B0B02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0FDF-AAF4-48BD-8C71-44FC787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06: 퍼블릭 액세스 차단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930CF8-407A-4A1F-B15F-FF0AA75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640AEE5-777F-4076-ADD1-3D7DEC4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54362EAC-DC07-4C38-AC1A-61714DD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ysu-mlops-lab-20260824-a7c9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6F2F7C-35A9-4CEE-B493-D6A24B2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퍼블릭 액세스 차단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79A7EC3-3B5B-4ECA-906B-572B5B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0e4dcd6a2004216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87505fc2fe948b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E7028A1-675B-404C-B8A2-19CEF52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154c03de345a2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196947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A844C0-FDD5-4FC8-BB40-22B0B02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0FDF-AAF4-48BD-8C71-44FC787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07: ECR 팀 저장소 찾기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930CF8-407A-4A1F-B15F-FF0AA75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640AEE5-777F-4076-ADD1-3D7DEC4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54362EAC-DC07-4C38-AC1A-61714DD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ECR → ysu-mlops-api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6F2F7C-35A9-4CEE-B493-D6A24B2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ECR 팀 저장소 찾기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79A7EC3-3B5B-4ECA-906B-572B5B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c0106337285405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c371c9d66374460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E7028A1-675B-404C-B8A2-19CEF52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b1c1150574c5b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196947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A844C0-FDD5-4FC8-BB40-22B0B02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0FDF-AAF4-48BD-8C71-44FC787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08: ECR 이미지 태그 1.0과 1.1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930CF8-407A-4A1F-B15F-FF0AA75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640AEE5-777F-4076-ADD1-3D7DEC4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54362EAC-DC07-4C38-AC1A-61714DD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ECR → ysu-mlops-api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6F2F7C-35A9-4CEE-B493-D6A24B2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ECR 이미지 태그 1.0과 1.1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79A7EC3-3B5B-4ECA-906B-572B5B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7a62b620c2c442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76974cb2c9a4847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E7028A1-675B-404C-B8A2-19CEF52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04c16c83e4a8a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196947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A844C0-FDD5-4FC8-BB40-22B0B02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0FDF-AAF4-48BD-8C71-44FC787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09: API 이미지 1.0 다이제스트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930CF8-407A-4A1F-B15F-FF0AA75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640AEE5-777F-4076-ADD1-3D7DEC4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54362EAC-DC07-4C38-AC1A-61714DD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ECR → ysu-mlops-api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6F2F7C-35A9-4CEE-B493-D6A24B2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API 이미지 1.0 다이제스트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79A7EC3-3B5B-4ECA-906B-572B5B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581d12380cd4f0b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519c84c51064ec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E7028A1-675B-404C-B8A2-19CEF52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19528d77048bd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196947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A844C0-FDD5-4FC8-BB40-22B0B02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0FDF-AAF4-48BD-8C71-44FC787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10: SageMaker 호환 이미지 1.1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930CF8-407A-4A1F-B15F-FF0AA75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640AEE5-777F-4076-ADD1-3D7DEC4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54362EAC-DC07-4C38-AC1A-61714DD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ECR → ysu-mlops-api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6F2F7C-35A9-4CEE-B493-D6A24B2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SageMaker 호환 이미지 1.1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79A7EC3-3B5B-4ECA-906B-572B5B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6a1b3fb8be249e1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355deb1a65c48d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E7028A1-675B-404C-B8A2-19CEF52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2991e09304538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1969473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A844C0-FDD5-4FC8-BB40-22B0B02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0FDF-AAF4-48BD-8C71-44FC787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11: 통합 점검 전 EC2 중지 상태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930CF8-407A-4A1F-B15F-FF0AA75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640AEE5-777F-4076-ADD1-3D7DEC4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54362EAC-DC07-4C38-AC1A-61714DD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6F2F7C-35A9-4CEE-B493-D6A24B2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통합 점검 전 EC2 중지 상태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79A7EC3-3B5B-4ECA-906B-572B5B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675f1c5df954c63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da9434f1ed14401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E7028A1-675B-404C-B8A2-19CEF52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6e66636314801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196947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A844C0-FDD5-4FC8-BB40-22B0B02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0FDF-AAF4-48BD-8C71-44FC787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12: 인스턴스 시작 작업 선택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930CF8-407A-4A1F-B15F-FF0AA75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640AEE5-777F-4076-ADD1-3D7DEC4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54362EAC-DC07-4C38-AC1A-61714DD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6F2F7C-35A9-4CEE-B493-D6A24B2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인스턴스 시작 작업 선택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79A7EC3-3B5B-4ECA-906B-572B5B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9157303cab34eb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dddceea261d4b7e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E7028A1-675B-404C-B8A2-19CEF52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cca57430a46e8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196947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A844C0-FDD5-4FC8-BB40-22B0B02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0FDF-AAF4-48BD-8C71-44FC787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13: 통합 점검용 EC2 실행 상태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930CF8-407A-4A1F-B15F-FF0AA75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640AEE5-777F-4076-ADD1-3D7DEC4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54362EAC-DC07-4C38-AC1A-61714DD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6F2F7C-35A9-4CEE-B493-D6A24B2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통합 점검용 EC2 실행 상태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79A7EC3-3B5B-4ECA-906B-572B5B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9976001436747d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8059c68dcb24ece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E7028A1-675B-404C-B8A2-19CEF52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97e2a03a54455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1969473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A844C0-FDD5-4FC8-BB40-22B0B02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0FDF-AAF4-48BD-8C71-44FC787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14: S3부터 UI까지 통합 점검 명령 입력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930CF8-407A-4A1F-B15F-FF0AA75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640AEE5-777F-4076-ADD1-3D7DEC4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54362EAC-DC07-4C38-AC1A-61714DD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6F2F7C-35A9-4CEE-B493-D6A24B2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S3부터 UI까지 통합 점검 명령 입력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79A7EC3-3B5B-4ECA-906B-572B5B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fcb638ab2ba44dd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e7fc7fbe04945e3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E7028A1-675B-404C-B8A2-19CEF52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41419f68b4a7c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1969473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A844C0-FDD5-4FC8-BB40-22B0B02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0FDF-AAF4-48BD-8C71-44FC787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15: SSM Online 대상 선택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930CF8-407A-4A1F-B15F-FF0AA75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640AEE5-777F-4076-ADD1-3D7DEC4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54362EAC-DC07-4C38-AC1A-61714DD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6F2F7C-35A9-4CEE-B493-D6A24B2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SSM Online 대상 선택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79A7EC3-3B5B-4ECA-906B-572B5B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10ec03ebc034631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97fdf7af110484c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E7028A1-675B-404C-B8A2-19CEF52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f10a8bd864794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1969473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A844C0-FDD5-4FC8-BB40-22B0B02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0FDF-AAF4-48BD-8C71-44FC787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16: 통합 점검 명령 접수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930CF8-407A-4A1F-B15F-FF0AA75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640AEE5-777F-4076-ADD1-3D7DEC4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54362EAC-DC07-4C38-AC1A-61714DD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6F2F7C-35A9-4CEE-B493-D6A24B2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통합 점검 명령 접수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79A7EC3-3B5B-4ECA-906B-572B5B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74019de18f24cca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c1d79a4e14e438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E7028A1-675B-404C-B8A2-19CEF52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bb2b89f99487d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1969473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A844C0-FDD5-4FC8-BB40-22B0B02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0FDF-AAF4-48BD-8C71-44FC787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17: 통합 점검 전체 성공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930CF8-407A-4A1F-B15F-FF0AA75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640AEE5-777F-4076-ADD1-3D7DEC4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54362EAC-DC07-4C38-AC1A-61714DD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6F2F7C-35A9-4CEE-B493-D6A24B2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통합 점검 전체 성공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79A7EC3-3B5B-4ECA-906B-572B5B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5851bc94919414b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1273f49581740ff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E7028A1-675B-404C-B8A2-19CEF52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fd0ab45e847a1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196947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A844C0-FDD5-4FC8-BB40-22B0B02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0FDF-AAF4-48BD-8C71-44FC787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18: 자격 증명·S3·ECR·Compose·API·UI 결과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930CF8-407A-4A1F-B15F-FF0AA75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640AEE5-777F-4076-ADD1-3D7DEC4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54362EAC-DC07-4C38-AC1A-61714DD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6F2F7C-35A9-4CEE-B493-D6A24B2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서울 리전·datasets/models·ECR 1.0/1.1·두 컨테이너 Up·API healthy·UI ok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79A7EC3-3B5B-4ECA-906B-572B5B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f6de094a83d4e37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328651ac8724b5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E7028A1-675B-404C-B8A2-19CEF52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31faa43fb4e08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1969473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A844C0-FDD5-4FC8-BB40-22B0B02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0FDF-AAF4-48BD-8C71-44FC787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19: 통합 점검 명령 기록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930CF8-407A-4A1F-B15F-FF0AA75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640AEE5-777F-4076-ADD1-3D7DEC4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54362EAC-DC07-4C38-AC1A-61714DD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6F2F7C-35A9-4CEE-B493-D6A24B2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통합 점검 명령 기록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79A7EC3-3B5B-4ECA-906B-572B5B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9f6df53ae3f47a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eab00040ad9425b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E7028A1-675B-404C-B8A2-19CEF52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cec0474a3409d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1969473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A844C0-FDD5-4FC8-BB40-22B0B02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0FDF-AAF4-48BD-8C71-44FC787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20: 실습 종료 인스턴스 중지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930CF8-407A-4A1F-B15F-FF0AA75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640AEE5-777F-4076-ADD1-3D7DEC4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54362EAC-DC07-4C38-AC1A-61714DD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6F2F7C-35A9-4CEE-B493-D6A24B2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실습 종료 인스턴스 중지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79A7EC3-3B5B-4ECA-906B-572B5B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fe143629b274926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90cd6556e9b46f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E7028A1-675B-404C-B8A2-19CEF52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df3a2b916447a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1969473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EA844C0-FDD5-4FC8-BB40-22B0B02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09주차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20FDF-AAF4-48BD-8C71-44FC787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21: EC2 중지 요청 완료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930CF8-407A-4A1F-B15F-FF0AA75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640AEE5-777F-4076-ADD1-3D7DEC4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54362EAC-DC07-4C38-AC1A-61714DD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6F2F7C-35A9-4CEE-B493-D6A24B2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EC2 중지 요청 완료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C79A7EC3-3B5B-4ECA-906B-572B5B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0bc32d5f25c4bb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fd6833bb4aa4dfc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E7028A1-675B-404C-B8A2-19CEF52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577431ff04222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19694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2026-08-24T11:21:44.3510000Z</dcterms:created>
  <dcterms:modified xsi:type="dcterms:W3CDTF">2026-08-24T11:21:44.3510000Z</dcterms:modified>
</coreProperties>
</file>