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562c57cdd89448f" /><Relationship Type="http://schemas.openxmlformats.org/officeDocument/2006/relationships/extended-properties" Target="/docProps/app.xml" Id="R67ae1f8a2e3a4311" /><Relationship Type="http://schemas.openxmlformats.org/officeDocument/2006/relationships/officeDocument" Target="/ppt/presentation.xml" Id="R383d3b78aa6a43e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8e3cddc28524c42"/>
  </p:sldMasterIdLst>
  <p:notesMasterIdLst>
    <p:notesMasterId xmlns:r="http://schemas.openxmlformats.org/officeDocument/2006/relationships" r:id="R799b57712ad641b7"/>
  </p:notesMasterIdLst>
  <p:sldIdLst>
    <p:sldId xmlns:r="http://schemas.openxmlformats.org/officeDocument/2006/relationships" id="256" r:id="R768cf256e6494069"/>
    <p:sldId xmlns:r="http://schemas.openxmlformats.org/officeDocument/2006/relationships" id="257" r:id="R0e878efc0c1f4f26"/>
    <p:sldId xmlns:r="http://schemas.openxmlformats.org/officeDocument/2006/relationships" id="258" r:id="Rc09cdbdf1a114de3"/>
    <p:sldId xmlns:r="http://schemas.openxmlformats.org/officeDocument/2006/relationships" id="259" r:id="R5355317db3cb4fd0"/>
    <p:sldId xmlns:r="http://schemas.openxmlformats.org/officeDocument/2006/relationships" id="260" r:id="Rf668bfd6c7c8492f"/>
    <p:sldId xmlns:r="http://schemas.openxmlformats.org/officeDocument/2006/relationships" id="261" r:id="R0706058694b741f2"/>
    <p:sldId xmlns:r="http://schemas.openxmlformats.org/officeDocument/2006/relationships" id="262" r:id="R9e9474a8c80a4018"/>
    <p:sldId xmlns:r="http://schemas.openxmlformats.org/officeDocument/2006/relationships" id="263" r:id="R91e896eb7b214555"/>
    <p:sldId xmlns:r="http://schemas.openxmlformats.org/officeDocument/2006/relationships" id="264" r:id="Re8df47adbc134c01"/>
    <p:sldId xmlns:r="http://schemas.openxmlformats.org/officeDocument/2006/relationships" id="265" r:id="Ra5b9c06283024641"/>
    <p:sldId xmlns:r="http://schemas.openxmlformats.org/officeDocument/2006/relationships" id="266" r:id="Rfb4f692608434fcf"/>
    <p:sldId xmlns:r="http://schemas.openxmlformats.org/officeDocument/2006/relationships" id="267" r:id="R2c4b22ac1f5141ff"/>
    <p:sldId xmlns:r="http://schemas.openxmlformats.org/officeDocument/2006/relationships" id="268" r:id="R84e3dacacd3d4207"/>
    <p:sldId xmlns:r="http://schemas.openxmlformats.org/officeDocument/2006/relationships" id="269" r:id="R9bc3b9f07f5d45b2"/>
    <p:sldId xmlns:r="http://schemas.openxmlformats.org/officeDocument/2006/relationships" id="270" r:id="Rda536295807047bc"/>
    <p:sldId xmlns:r="http://schemas.openxmlformats.org/officeDocument/2006/relationships" id="271" r:id="Rdbeeedd4b4c34126"/>
    <p:sldId xmlns:r="http://schemas.openxmlformats.org/officeDocument/2006/relationships" id="272" r:id="R355b12c4b2aa45d5"/>
    <p:sldId xmlns:r="http://schemas.openxmlformats.org/officeDocument/2006/relationships" id="273" r:id="R075c8ebfec134e82"/>
    <p:sldId xmlns:r="http://schemas.openxmlformats.org/officeDocument/2006/relationships" id="274" r:id="Rd5ece16273334f84"/>
    <p:sldId xmlns:r="http://schemas.openxmlformats.org/officeDocument/2006/relationships" id="275" r:id="R4959eaf540ab4fb6"/>
    <p:sldId xmlns:r="http://schemas.openxmlformats.org/officeDocument/2006/relationships" id="276" r:id="R7c5fd31d35724c34"/>
    <p:sldId xmlns:r="http://schemas.openxmlformats.org/officeDocument/2006/relationships" id="277" r:id="R09bbc630ec25435a"/>
    <p:sldId xmlns:r="http://schemas.openxmlformats.org/officeDocument/2006/relationships" id="278" r:id="R2ef42d2e6c1f4d47"/>
    <p:sldId xmlns:r="http://schemas.openxmlformats.org/officeDocument/2006/relationships" id="279" r:id="Rfbf3245b84914704"/>
    <p:sldId xmlns:r="http://schemas.openxmlformats.org/officeDocument/2006/relationships" id="280" r:id="Rc901065a770b4d0f"/>
    <p:sldId xmlns:r="http://schemas.openxmlformats.org/officeDocument/2006/relationships" id="281" r:id="Rc1f96df508c14177"/>
    <p:sldId xmlns:r="http://schemas.openxmlformats.org/officeDocument/2006/relationships" id="282" r:id="R324a90b340254d21"/>
    <p:sldId xmlns:r="http://schemas.openxmlformats.org/officeDocument/2006/relationships" id="283" r:id="Raef92449fd5d4a16"/>
    <p:sldId xmlns:r="http://schemas.openxmlformats.org/officeDocument/2006/relationships" id="284" r:id="R2bba4dfc5a944a8f"/>
    <p:sldId xmlns:r="http://schemas.openxmlformats.org/officeDocument/2006/relationships" id="285" r:id="R07d6e2f0a75e4d84"/>
    <p:sldId xmlns:r="http://schemas.openxmlformats.org/officeDocument/2006/relationships" id="286" r:id="Rfd5f564141934964"/>
    <p:sldId xmlns:r="http://schemas.openxmlformats.org/officeDocument/2006/relationships" id="287" r:id="R62213c6b44fb4304"/>
    <p:sldId xmlns:r="http://schemas.openxmlformats.org/officeDocument/2006/relationships" id="288" r:id="Rac3feb8b769c4f57"/>
    <p:sldId xmlns:r="http://schemas.openxmlformats.org/officeDocument/2006/relationships" id="289" r:id="R009906ddf82c442b"/>
    <p:sldId xmlns:r="http://schemas.openxmlformats.org/officeDocument/2006/relationships" id="290" r:id="R26b7674989b74004"/>
    <p:sldId xmlns:r="http://schemas.openxmlformats.org/officeDocument/2006/relationships" id="291" r:id="R2112f10a0860421e"/>
    <p:sldId xmlns:r="http://schemas.openxmlformats.org/officeDocument/2006/relationships" id="292" r:id="Re904bf869fb34ae7"/>
    <p:sldId xmlns:r="http://schemas.openxmlformats.org/officeDocument/2006/relationships" id="293" r:id="R9024fd51c44345cd"/>
    <p:sldId xmlns:r="http://schemas.openxmlformats.org/officeDocument/2006/relationships" id="294" r:id="R3224df63a1404562"/>
    <p:sldId xmlns:r="http://schemas.openxmlformats.org/officeDocument/2006/relationships" id="295" r:id="R3149579ecb3c40cc"/>
    <p:sldId xmlns:r="http://schemas.openxmlformats.org/officeDocument/2006/relationships" id="296" r:id="Re1cbf0c798d44a84"/>
    <p:sldId xmlns:r="http://schemas.openxmlformats.org/officeDocument/2006/relationships" id="297" r:id="R611429810fae4780"/>
    <p:sldId xmlns:r="http://schemas.openxmlformats.org/officeDocument/2006/relationships" id="298" r:id="R4f12c07ea2b742f7"/>
    <p:sldId xmlns:r="http://schemas.openxmlformats.org/officeDocument/2006/relationships" id="299" r:id="Ra3aeb025635c42bf"/>
    <p:sldId xmlns:r="http://schemas.openxmlformats.org/officeDocument/2006/relationships" id="300" r:id="R27ae2fe059024e33"/>
    <p:sldId xmlns:r="http://schemas.openxmlformats.org/officeDocument/2006/relationships" id="301" r:id="R19f9ff2035884119"/>
    <p:sldId xmlns:r="http://schemas.openxmlformats.org/officeDocument/2006/relationships" id="302" r:id="R61f2cc85b2be424a"/>
    <p:sldId xmlns:r="http://schemas.openxmlformats.org/officeDocument/2006/relationships" id="303" r:id="R2ea72157cbfa4320"/>
    <p:sldId xmlns:r="http://schemas.openxmlformats.org/officeDocument/2006/relationships" id="304" r:id="R2e720e7684a04284"/>
    <p:sldId xmlns:r="http://schemas.openxmlformats.org/officeDocument/2006/relationships" id="305" r:id="R4299a07f128f4c4b"/>
    <p:sldId xmlns:r="http://schemas.openxmlformats.org/officeDocument/2006/relationships" id="306" r:id="R2c256a2519124cd5"/>
    <p:sldId xmlns:r="http://schemas.openxmlformats.org/officeDocument/2006/relationships" id="307" r:id="Rfd4aec161fe7434d"/>
    <p:sldId xmlns:r="http://schemas.openxmlformats.org/officeDocument/2006/relationships" id="308" r:id="Re8b5f733d54f422c"/>
    <p:sldId xmlns:r="http://schemas.openxmlformats.org/officeDocument/2006/relationships" id="309" r:id="R2304b7a15c51488c"/>
    <p:sldId xmlns:r="http://schemas.openxmlformats.org/officeDocument/2006/relationships" id="310" r:id="R288b69fc11434c67"/>
    <p:sldId xmlns:r="http://schemas.openxmlformats.org/officeDocument/2006/relationships" id="311" r:id="R1350cb542f034262"/>
    <p:sldId xmlns:r="http://schemas.openxmlformats.org/officeDocument/2006/relationships" id="312" r:id="R09075e901e284359"/>
    <p:sldId xmlns:r="http://schemas.openxmlformats.org/officeDocument/2006/relationships" id="313" r:id="Rdac5744db9d34df6"/>
    <p:sldId xmlns:r="http://schemas.openxmlformats.org/officeDocument/2006/relationships" id="314" r:id="R4596ee221649408a"/>
    <p:sldId xmlns:r="http://schemas.openxmlformats.org/officeDocument/2006/relationships" id="315" r:id="R8b5c6c28be134ed0"/>
    <p:sldId xmlns:r="http://schemas.openxmlformats.org/officeDocument/2006/relationships" id="316" r:id="Rf35d79ba2aae4e7b"/>
    <p:sldId xmlns:r="http://schemas.openxmlformats.org/officeDocument/2006/relationships" id="317" r:id="R23fab64afee54735"/>
    <p:sldId xmlns:r="http://schemas.openxmlformats.org/officeDocument/2006/relationships" id="318" r:id="R4551ffae973242de"/>
    <p:sldId xmlns:r="http://schemas.openxmlformats.org/officeDocument/2006/relationships" id="319" r:id="Rcfa7286df92542d4"/>
    <p:sldId xmlns:r="http://schemas.openxmlformats.org/officeDocument/2006/relationships" id="320" r:id="R2df0f4edd51945c3"/>
    <p:sldId xmlns:r="http://schemas.openxmlformats.org/officeDocument/2006/relationships" id="321" r:id="R23671afe13ad44f2"/>
    <p:sldId xmlns:r="http://schemas.openxmlformats.org/officeDocument/2006/relationships" id="322" r:id="R7b19246a46e54820"/>
    <p:sldId xmlns:r="http://schemas.openxmlformats.org/officeDocument/2006/relationships" id="323" r:id="Re665df2e2508496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befddf7fc264a92" /><Relationship Type="http://schemas.openxmlformats.org/officeDocument/2006/relationships/slideMaster" Target="/ppt/slideMasters/slideMaster1.xml" Id="R28e3cddc28524c42" /><Relationship Type="http://schemas.openxmlformats.org/officeDocument/2006/relationships/notesMaster" Target="/ppt/notesMasters/notesMaster1.xml" Id="R799b57712ad641b7" /><Relationship Type="http://schemas.openxmlformats.org/officeDocument/2006/relationships/presProps" Target="/ppt/presProps.xml" Id="R79d4c60968994b1b" /><Relationship Type="http://schemas.openxmlformats.org/officeDocument/2006/relationships/viewProps" Target="/ppt/viewProps.xml" Id="R4ae77a7ea6ce4640" /><Relationship Type="http://schemas.openxmlformats.org/officeDocument/2006/relationships/tableStyles" Target="/ppt/tableStyles.xml" Id="Rafb010430ed94e60" /><Relationship Type="http://schemas.openxmlformats.org/officeDocument/2006/relationships/slide" Target="/ppt/slides/slide1.xml" Id="R768cf256e6494069" /><Relationship Type="http://schemas.openxmlformats.org/officeDocument/2006/relationships/slide" Target="/ppt/slides/slide2.xml" Id="R0e878efc0c1f4f26" /><Relationship Type="http://schemas.openxmlformats.org/officeDocument/2006/relationships/slide" Target="/ppt/slides/slide3.xml" Id="Rc09cdbdf1a114de3" /><Relationship Type="http://schemas.openxmlformats.org/officeDocument/2006/relationships/slide" Target="/ppt/slides/slide4.xml" Id="R5355317db3cb4fd0" /><Relationship Type="http://schemas.openxmlformats.org/officeDocument/2006/relationships/slide" Target="/ppt/slides/slide5.xml" Id="Rf668bfd6c7c8492f" /><Relationship Type="http://schemas.openxmlformats.org/officeDocument/2006/relationships/slide" Target="/ppt/slides/slide6.xml" Id="R0706058694b741f2" /><Relationship Type="http://schemas.openxmlformats.org/officeDocument/2006/relationships/slide" Target="/ppt/slides/slide7.xml" Id="R9e9474a8c80a4018" /><Relationship Type="http://schemas.openxmlformats.org/officeDocument/2006/relationships/slide" Target="/ppt/slides/slide8.xml" Id="R91e896eb7b214555" /><Relationship Type="http://schemas.openxmlformats.org/officeDocument/2006/relationships/slide" Target="/ppt/slides/slide9.xml" Id="Re8df47adbc134c01" /><Relationship Type="http://schemas.openxmlformats.org/officeDocument/2006/relationships/slide" Target="/ppt/slides/slide10.xml" Id="Ra5b9c06283024641" /><Relationship Type="http://schemas.openxmlformats.org/officeDocument/2006/relationships/slide" Target="/ppt/slides/slide11.xml" Id="Rfb4f692608434fcf" /><Relationship Type="http://schemas.openxmlformats.org/officeDocument/2006/relationships/slide" Target="/ppt/slides/slide12.xml" Id="R2c4b22ac1f5141ff" /><Relationship Type="http://schemas.openxmlformats.org/officeDocument/2006/relationships/slide" Target="/ppt/slides/slide13.xml" Id="R84e3dacacd3d4207" /><Relationship Type="http://schemas.openxmlformats.org/officeDocument/2006/relationships/slide" Target="/ppt/slides/slide14.xml" Id="R9bc3b9f07f5d45b2" /><Relationship Type="http://schemas.openxmlformats.org/officeDocument/2006/relationships/slide" Target="/ppt/slides/slide15.xml" Id="Rda536295807047bc" /><Relationship Type="http://schemas.openxmlformats.org/officeDocument/2006/relationships/slide" Target="/ppt/slides/slide16.xml" Id="Rdbeeedd4b4c34126" /><Relationship Type="http://schemas.openxmlformats.org/officeDocument/2006/relationships/slide" Target="/ppt/slides/slide17.xml" Id="R355b12c4b2aa45d5" /><Relationship Type="http://schemas.openxmlformats.org/officeDocument/2006/relationships/slide" Target="/ppt/slides/slide18.xml" Id="R075c8ebfec134e82" /><Relationship Type="http://schemas.openxmlformats.org/officeDocument/2006/relationships/slide" Target="/ppt/slides/slide19.xml" Id="Rd5ece16273334f84" /><Relationship Type="http://schemas.openxmlformats.org/officeDocument/2006/relationships/slide" Target="/ppt/slides/slide20.xml" Id="R4959eaf540ab4fb6" /><Relationship Type="http://schemas.openxmlformats.org/officeDocument/2006/relationships/slide" Target="/ppt/slides/slide21.xml" Id="R7c5fd31d35724c34" /><Relationship Type="http://schemas.openxmlformats.org/officeDocument/2006/relationships/slide" Target="/ppt/slides/slide22.xml" Id="R09bbc630ec25435a" /><Relationship Type="http://schemas.openxmlformats.org/officeDocument/2006/relationships/slide" Target="/ppt/slides/slide23.xml" Id="R2ef42d2e6c1f4d47" /><Relationship Type="http://schemas.openxmlformats.org/officeDocument/2006/relationships/slide" Target="/ppt/slides/slide24.xml" Id="Rfbf3245b84914704" /><Relationship Type="http://schemas.openxmlformats.org/officeDocument/2006/relationships/slide" Target="/ppt/slides/slide25.xml" Id="Rc901065a770b4d0f" /><Relationship Type="http://schemas.openxmlformats.org/officeDocument/2006/relationships/slide" Target="/ppt/slides/slide26.xml" Id="Rc1f96df508c14177" /><Relationship Type="http://schemas.openxmlformats.org/officeDocument/2006/relationships/slide" Target="/ppt/slides/slide27.xml" Id="R324a90b340254d21" /><Relationship Type="http://schemas.openxmlformats.org/officeDocument/2006/relationships/slide" Target="/ppt/slides/slide28.xml" Id="Raef92449fd5d4a16" /><Relationship Type="http://schemas.openxmlformats.org/officeDocument/2006/relationships/slide" Target="/ppt/slides/slide29.xml" Id="R2bba4dfc5a944a8f" /><Relationship Type="http://schemas.openxmlformats.org/officeDocument/2006/relationships/slide" Target="/ppt/slides/slide30.xml" Id="R07d6e2f0a75e4d84" /><Relationship Type="http://schemas.openxmlformats.org/officeDocument/2006/relationships/slide" Target="/ppt/slides/slide31.xml" Id="Rfd5f564141934964" /><Relationship Type="http://schemas.openxmlformats.org/officeDocument/2006/relationships/slide" Target="/ppt/slides/slide32.xml" Id="R62213c6b44fb4304" /><Relationship Type="http://schemas.openxmlformats.org/officeDocument/2006/relationships/slide" Target="/ppt/slides/slide33.xml" Id="Rac3feb8b769c4f57" /><Relationship Type="http://schemas.openxmlformats.org/officeDocument/2006/relationships/slide" Target="/ppt/slides/slide34.xml" Id="R009906ddf82c442b" /><Relationship Type="http://schemas.openxmlformats.org/officeDocument/2006/relationships/slide" Target="/ppt/slides/slide35.xml" Id="R26b7674989b74004" /><Relationship Type="http://schemas.openxmlformats.org/officeDocument/2006/relationships/slide" Target="/ppt/slides/slide36.xml" Id="R2112f10a0860421e" /><Relationship Type="http://schemas.openxmlformats.org/officeDocument/2006/relationships/slide" Target="/ppt/slides/slide37.xml" Id="Re904bf869fb34ae7" /><Relationship Type="http://schemas.openxmlformats.org/officeDocument/2006/relationships/slide" Target="/ppt/slides/slide38.xml" Id="R9024fd51c44345cd" /><Relationship Type="http://schemas.openxmlformats.org/officeDocument/2006/relationships/slide" Target="/ppt/slides/slide39.xml" Id="R3224df63a1404562" /><Relationship Type="http://schemas.openxmlformats.org/officeDocument/2006/relationships/slide" Target="/ppt/slides/slide40.xml" Id="R3149579ecb3c40cc" /><Relationship Type="http://schemas.openxmlformats.org/officeDocument/2006/relationships/slide" Target="/ppt/slides/slide41.xml" Id="Re1cbf0c798d44a84" /><Relationship Type="http://schemas.openxmlformats.org/officeDocument/2006/relationships/slide" Target="/ppt/slides/slide42.xml" Id="R611429810fae4780" /><Relationship Type="http://schemas.openxmlformats.org/officeDocument/2006/relationships/slide" Target="/ppt/slides/slide43.xml" Id="R4f12c07ea2b742f7" /><Relationship Type="http://schemas.openxmlformats.org/officeDocument/2006/relationships/slide" Target="/ppt/slides/slide44.xml" Id="Ra3aeb025635c42bf" /><Relationship Type="http://schemas.openxmlformats.org/officeDocument/2006/relationships/slide" Target="/ppt/slides/slide45.xml" Id="R27ae2fe059024e33" /><Relationship Type="http://schemas.openxmlformats.org/officeDocument/2006/relationships/slide" Target="/ppt/slides/slide46.xml" Id="R19f9ff2035884119" /><Relationship Type="http://schemas.openxmlformats.org/officeDocument/2006/relationships/slide" Target="/ppt/slides/slide47.xml" Id="R61f2cc85b2be424a" /><Relationship Type="http://schemas.openxmlformats.org/officeDocument/2006/relationships/slide" Target="/ppt/slides/slide48.xml" Id="R2ea72157cbfa4320" /><Relationship Type="http://schemas.openxmlformats.org/officeDocument/2006/relationships/slide" Target="/ppt/slides/slide49.xml" Id="R2e720e7684a04284" /><Relationship Type="http://schemas.openxmlformats.org/officeDocument/2006/relationships/slide" Target="/ppt/slides/slide50.xml" Id="R4299a07f128f4c4b" /><Relationship Type="http://schemas.openxmlformats.org/officeDocument/2006/relationships/slide" Target="/ppt/slides/slide51.xml" Id="R2c256a2519124cd5" /><Relationship Type="http://schemas.openxmlformats.org/officeDocument/2006/relationships/slide" Target="/ppt/slides/slide52.xml" Id="Rfd4aec161fe7434d" /><Relationship Type="http://schemas.openxmlformats.org/officeDocument/2006/relationships/slide" Target="/ppt/slides/slide53.xml" Id="Re8b5f733d54f422c" /><Relationship Type="http://schemas.openxmlformats.org/officeDocument/2006/relationships/slide" Target="/ppt/slides/slide54.xml" Id="R2304b7a15c51488c" /><Relationship Type="http://schemas.openxmlformats.org/officeDocument/2006/relationships/slide" Target="/ppt/slides/slide55.xml" Id="R288b69fc11434c67" /><Relationship Type="http://schemas.openxmlformats.org/officeDocument/2006/relationships/slide" Target="/ppt/slides/slide56.xml" Id="R1350cb542f034262" /><Relationship Type="http://schemas.openxmlformats.org/officeDocument/2006/relationships/slide" Target="/ppt/slides/slide57.xml" Id="R09075e901e284359" /><Relationship Type="http://schemas.openxmlformats.org/officeDocument/2006/relationships/slide" Target="/ppt/slides/slide58.xml" Id="Rdac5744db9d34df6" /><Relationship Type="http://schemas.openxmlformats.org/officeDocument/2006/relationships/slide" Target="/ppt/slides/slide59.xml" Id="R4596ee221649408a" /><Relationship Type="http://schemas.openxmlformats.org/officeDocument/2006/relationships/slide" Target="/ppt/slides/slide60.xml" Id="R8b5c6c28be134ed0" /><Relationship Type="http://schemas.openxmlformats.org/officeDocument/2006/relationships/slide" Target="/ppt/slides/slide61.xml" Id="Rf35d79ba2aae4e7b" /><Relationship Type="http://schemas.openxmlformats.org/officeDocument/2006/relationships/slide" Target="/ppt/slides/slide62.xml" Id="R23fab64afee54735" /><Relationship Type="http://schemas.openxmlformats.org/officeDocument/2006/relationships/slide" Target="/ppt/slides/slide63.xml" Id="R4551ffae973242de" /><Relationship Type="http://schemas.openxmlformats.org/officeDocument/2006/relationships/slide" Target="/ppt/slides/slide64.xml" Id="Rcfa7286df92542d4" /><Relationship Type="http://schemas.openxmlformats.org/officeDocument/2006/relationships/slide" Target="/ppt/slides/slide65.xml" Id="R2df0f4edd51945c3" /><Relationship Type="http://schemas.openxmlformats.org/officeDocument/2006/relationships/slide" Target="/ppt/slides/slide66.xml" Id="R23671afe13ad44f2" /><Relationship Type="http://schemas.openxmlformats.org/officeDocument/2006/relationships/slide" Target="/ppt/slides/slide67.xml" Id="R7b19246a46e54820" /><Relationship Type="http://schemas.openxmlformats.org/officeDocument/2006/relationships/slide" Target="/ppt/slides/slide68.xml" Id="Re665df2e2508496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36bf8cb96d8472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524b24d0f3d4b1d" /><Relationship Type="http://schemas.openxmlformats.org/officeDocument/2006/relationships/notesMaster" Target="/ppt/notesMasters/notesMaster1.xml" Id="R99bbc54bd9bf4ba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7672fc9b6b3452b" /><Relationship Type="http://schemas.openxmlformats.org/officeDocument/2006/relationships/notesMaster" Target="/ppt/notesMasters/notesMaster1.xml" Id="R8c7336d07d6b425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6ea187ac6734aaf" /><Relationship Type="http://schemas.openxmlformats.org/officeDocument/2006/relationships/notesMaster" Target="/ppt/notesMasters/notesMaster1.xml" Id="R2e5c50cf7895406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51386d0f7d14c6b" /><Relationship Type="http://schemas.openxmlformats.org/officeDocument/2006/relationships/notesMaster" Target="/ppt/notesMasters/notesMaster1.xml" Id="Ra2067d6ae34343c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633ced94d42408a" /><Relationship Type="http://schemas.openxmlformats.org/officeDocument/2006/relationships/notesMaster" Target="/ppt/notesMasters/notesMaster1.xml" Id="Reacd286e155c4d4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9e6457b5e1f473a" /><Relationship Type="http://schemas.openxmlformats.org/officeDocument/2006/relationships/notesMaster" Target="/ppt/notesMasters/notesMaster1.xml" Id="R73d19bf3d5834f3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17460dd24e947b3" /><Relationship Type="http://schemas.openxmlformats.org/officeDocument/2006/relationships/notesMaster" Target="/ppt/notesMasters/notesMaster1.xml" Id="R85166fc5cafc44d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ed08d19dae24e31" /><Relationship Type="http://schemas.openxmlformats.org/officeDocument/2006/relationships/notesMaster" Target="/ppt/notesMasters/notesMaster1.xml" Id="R0bbf856f95de486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08b519306f44abc" /><Relationship Type="http://schemas.openxmlformats.org/officeDocument/2006/relationships/notesMaster" Target="/ppt/notesMasters/notesMaster1.xml" Id="R2ba41615bf424f8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49389bc139f47a4" /><Relationship Type="http://schemas.openxmlformats.org/officeDocument/2006/relationships/notesMaster" Target="/ppt/notesMasters/notesMaster1.xml" Id="Rd4d023be0d1e492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79e36d270184c61" /><Relationship Type="http://schemas.openxmlformats.org/officeDocument/2006/relationships/notesMaster" Target="/ppt/notesMasters/notesMaster1.xml" Id="R1684b754c594472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299e7676aa24aac" /><Relationship Type="http://schemas.openxmlformats.org/officeDocument/2006/relationships/notesMaster" Target="/ppt/notesMasters/notesMaster1.xml" Id="Re4e4a6748e53437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bfbfbbe81614d53" /><Relationship Type="http://schemas.openxmlformats.org/officeDocument/2006/relationships/notesMaster" Target="/ppt/notesMasters/notesMaster1.xml" Id="R50edcf9b6c7c41b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f626f75646e49c5" /><Relationship Type="http://schemas.openxmlformats.org/officeDocument/2006/relationships/notesMaster" Target="/ppt/notesMasters/notesMaster1.xml" Id="Re9a64658c8ec421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8991002139a4bb8" /><Relationship Type="http://schemas.openxmlformats.org/officeDocument/2006/relationships/notesMaster" Target="/ppt/notesMasters/notesMaster1.xml" Id="Rc64ae424f506427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ebc931fe0534044" /><Relationship Type="http://schemas.openxmlformats.org/officeDocument/2006/relationships/notesMaster" Target="/ppt/notesMasters/notesMaster1.xml" Id="R93420b4da04f452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e111d10c04d4e05" /><Relationship Type="http://schemas.openxmlformats.org/officeDocument/2006/relationships/notesMaster" Target="/ppt/notesMasters/notesMaster1.xml" Id="Ree174519399a483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7b634f1622c40e2" /><Relationship Type="http://schemas.openxmlformats.org/officeDocument/2006/relationships/notesMaster" Target="/ppt/notesMasters/notesMaster1.xml" Id="R19c4d448cb5e463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bd7d401f1a242eb" /><Relationship Type="http://schemas.openxmlformats.org/officeDocument/2006/relationships/notesMaster" Target="/ppt/notesMasters/notesMaster1.xml" Id="R913c8fd77b1f4c5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b2c604641984d9d" /><Relationship Type="http://schemas.openxmlformats.org/officeDocument/2006/relationships/notesMaster" Target="/ppt/notesMasters/notesMaster1.xml" Id="R11148c1515d64d81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5559a695ea8497a" /><Relationship Type="http://schemas.openxmlformats.org/officeDocument/2006/relationships/notesMaster" Target="/ppt/notesMasters/notesMaster1.xml" Id="Rdd56c6b56934420e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a1e00681566d47dc" /><Relationship Type="http://schemas.openxmlformats.org/officeDocument/2006/relationships/notesMaster" Target="/ppt/notesMasters/notesMaster1.xml" Id="Rfcbbf77611504436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55ac727a7c9d4ef3" /><Relationship Type="http://schemas.openxmlformats.org/officeDocument/2006/relationships/notesMaster" Target="/ppt/notesMasters/notesMaster1.xml" Id="Rdd4b219b6cf74af9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c0c5f410bc4846b9" /><Relationship Type="http://schemas.openxmlformats.org/officeDocument/2006/relationships/notesMaster" Target="/ppt/notesMasters/notesMaster1.xml" Id="R62833d99204047c6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3c434a40a774446d" /><Relationship Type="http://schemas.openxmlformats.org/officeDocument/2006/relationships/notesMaster" Target="/ppt/notesMasters/notesMaster1.xml" Id="Rc98d4fd379bd4270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566988988e484bfe" /><Relationship Type="http://schemas.openxmlformats.org/officeDocument/2006/relationships/notesMaster" Target="/ppt/notesMasters/notesMaster1.xml" Id="Rbc93e4a932ca4580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19e5947c760e4d58" /><Relationship Type="http://schemas.openxmlformats.org/officeDocument/2006/relationships/notesMaster" Target="/ppt/notesMasters/notesMaster1.xml" Id="Ra204da3fec4545c4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ea5dd9407eef4834" /><Relationship Type="http://schemas.openxmlformats.org/officeDocument/2006/relationships/notesMaster" Target="/ppt/notesMasters/notesMaster1.xml" Id="R845deb1813e24b10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a31ad76fc0644733" /><Relationship Type="http://schemas.openxmlformats.org/officeDocument/2006/relationships/notesMaster" Target="/ppt/notesMasters/notesMaster1.xml" Id="R36fa38faebf24ad4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f97e13ccb75a4035" /><Relationship Type="http://schemas.openxmlformats.org/officeDocument/2006/relationships/notesMaster" Target="/ppt/notesMasters/notesMaster1.xml" Id="R0efa2fc846014761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29194210da194eac" /><Relationship Type="http://schemas.openxmlformats.org/officeDocument/2006/relationships/notesMaster" Target="/ppt/notesMasters/notesMaster1.xml" Id="R8f4b35dab1af45d6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ea60ddcbdd474fce" /><Relationship Type="http://schemas.openxmlformats.org/officeDocument/2006/relationships/notesMaster" Target="/ppt/notesMasters/notesMaster1.xml" Id="R692d7e6207784bce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b9eeef03f13f429d" /><Relationship Type="http://schemas.openxmlformats.org/officeDocument/2006/relationships/notesMaster" Target="/ppt/notesMasters/notesMaster1.xml" Id="Ra12f64f71a4940b8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11c011e794a24b84" /><Relationship Type="http://schemas.openxmlformats.org/officeDocument/2006/relationships/notesMaster" Target="/ppt/notesMasters/notesMaster1.xml" Id="R4b8634e503fd4590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69ac445ee1134056" /><Relationship Type="http://schemas.openxmlformats.org/officeDocument/2006/relationships/notesMaster" Target="/ppt/notesMasters/notesMaster1.xml" Id="Rdbf5de6ea4f74177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134ddb34dc7d4645" /><Relationship Type="http://schemas.openxmlformats.org/officeDocument/2006/relationships/notesMaster" Target="/ppt/notesMasters/notesMaster1.xml" Id="R42119192d6c44f93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04694daa96014a06" /><Relationship Type="http://schemas.openxmlformats.org/officeDocument/2006/relationships/notesMaster" Target="/ppt/notesMasters/notesMaster1.xml" Id="R99347194dd2f48f2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e6f6f030f576459a" /><Relationship Type="http://schemas.openxmlformats.org/officeDocument/2006/relationships/notesMaster" Target="/ppt/notesMasters/notesMaster1.xml" Id="R30e875df6d064c1a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9a7c1d534ac44658" /><Relationship Type="http://schemas.openxmlformats.org/officeDocument/2006/relationships/notesMaster" Target="/ppt/notesMasters/notesMaster1.xml" Id="R0f217d431f4d4967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be6f0b74c6004af4" /><Relationship Type="http://schemas.openxmlformats.org/officeDocument/2006/relationships/notesMaster" Target="/ppt/notesMasters/notesMaster1.xml" Id="R1e8b7ba8837646a5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e38b357d8cd04634" /><Relationship Type="http://schemas.openxmlformats.org/officeDocument/2006/relationships/notesMaster" Target="/ppt/notesMasters/notesMaster1.xml" Id="Raf4ce853875f47fd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5429d52397a946fb" /><Relationship Type="http://schemas.openxmlformats.org/officeDocument/2006/relationships/notesMaster" Target="/ppt/notesMasters/notesMaster1.xml" Id="Rf462c7ad944649d2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db0ac93177bd4ef3" /><Relationship Type="http://schemas.openxmlformats.org/officeDocument/2006/relationships/notesMaster" Target="/ppt/notesMasters/notesMaster1.xml" Id="R3e62600a9bee4652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3551cac28c3f4100" /><Relationship Type="http://schemas.openxmlformats.org/officeDocument/2006/relationships/notesMaster" Target="/ppt/notesMasters/notesMaster1.xml" Id="R945752a921fd482a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c55606620ed943d6" /><Relationship Type="http://schemas.openxmlformats.org/officeDocument/2006/relationships/notesMaster" Target="/ppt/notesMasters/notesMaster1.xml" Id="Re01468c529ca448b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6bdb3da5e2bd4abd" /><Relationship Type="http://schemas.openxmlformats.org/officeDocument/2006/relationships/notesMaster" Target="/ppt/notesMasters/notesMaster1.xml" Id="R67c21893aa0d4ac7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df8e07b3650d41d0" /><Relationship Type="http://schemas.openxmlformats.org/officeDocument/2006/relationships/notesMaster" Target="/ppt/notesMasters/notesMaster1.xml" Id="Re77b9708253b4da0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69dd9e176ddc4b45" /><Relationship Type="http://schemas.openxmlformats.org/officeDocument/2006/relationships/notesMaster" Target="/ppt/notesMasters/notesMaster1.xml" Id="R563ae96364814293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cef7a1f7af3d4919" /><Relationship Type="http://schemas.openxmlformats.org/officeDocument/2006/relationships/notesMaster" Target="/ppt/notesMasters/notesMaster1.xml" Id="R4bd3e0f72fd54f59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171578381f81499a" /><Relationship Type="http://schemas.openxmlformats.org/officeDocument/2006/relationships/notesMaster" Target="/ppt/notesMasters/notesMaster1.xml" Id="R87b5b70f0dca4ce6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907a794505d64f08" /><Relationship Type="http://schemas.openxmlformats.org/officeDocument/2006/relationships/notesMaster" Target="/ppt/notesMasters/notesMaster1.xml" Id="R48d2deb420d84cfe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608395a9e97d496a" /><Relationship Type="http://schemas.openxmlformats.org/officeDocument/2006/relationships/notesMaster" Target="/ppt/notesMasters/notesMaster1.xml" Id="R4556781a71f3404f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6f0f64b6e3b3416d" /><Relationship Type="http://schemas.openxmlformats.org/officeDocument/2006/relationships/notesMaster" Target="/ppt/notesMasters/notesMaster1.xml" Id="R92262d69308a4c4c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ecd98073cbf94800" /><Relationship Type="http://schemas.openxmlformats.org/officeDocument/2006/relationships/notesMaster" Target="/ppt/notesMasters/notesMaster1.xml" Id="R53c7cd9ef5fd4af2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cf4681dece3a4a71" /><Relationship Type="http://schemas.openxmlformats.org/officeDocument/2006/relationships/notesMaster" Target="/ppt/notesMasters/notesMaster1.xml" Id="Rec57a5ca9c1442ee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a731850d987240d1" /><Relationship Type="http://schemas.openxmlformats.org/officeDocument/2006/relationships/notesMaster" Target="/ppt/notesMasters/notesMaster1.xml" Id="R519c0eacc8864946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262188e369634a1e" /><Relationship Type="http://schemas.openxmlformats.org/officeDocument/2006/relationships/notesMaster" Target="/ppt/notesMasters/notesMaster1.xml" Id="Red4ffe79b21640d9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92b13fd2919c4d60" /><Relationship Type="http://schemas.openxmlformats.org/officeDocument/2006/relationships/notesMaster" Target="/ppt/notesMasters/notesMaster1.xml" Id="R374ed4671f8440d8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dfa6dd5b9d714749" /><Relationship Type="http://schemas.openxmlformats.org/officeDocument/2006/relationships/notesMaster" Target="/ppt/notesMasters/notesMaster1.xml" Id="R7e78d26db6da4e8e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b67ac5bb282245b1" /><Relationship Type="http://schemas.openxmlformats.org/officeDocument/2006/relationships/notesMaster" Target="/ppt/notesMasters/notesMaster1.xml" Id="R8d0135c0ab7c4436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d3c381db750d4148" /><Relationship Type="http://schemas.openxmlformats.org/officeDocument/2006/relationships/notesMaster" Target="/ppt/notesMasters/notesMaster1.xml" Id="Rf831f9db67214162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8b59dab38b424090" /><Relationship Type="http://schemas.openxmlformats.org/officeDocument/2006/relationships/notesMaster" Target="/ppt/notesMasters/notesMaster1.xml" Id="R542ed96f78414472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cd41507a8d7a4638" /><Relationship Type="http://schemas.openxmlformats.org/officeDocument/2006/relationships/notesMaster" Target="/ppt/notesMasters/notesMaster1.xml" Id="Rc3fed2455fa044e3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aea04831c9db4eaa" /><Relationship Type="http://schemas.openxmlformats.org/officeDocument/2006/relationships/notesMaster" Target="/ppt/notesMasters/notesMaster1.xml" Id="R9e684849395f4748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040e73339a954172" /><Relationship Type="http://schemas.openxmlformats.org/officeDocument/2006/relationships/notesMaster" Target="/ppt/notesMasters/notesMaster1.xml" Id="R803abbdd97794266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52d32f32a6874949" /><Relationship Type="http://schemas.openxmlformats.org/officeDocument/2006/relationships/notesMaster" Target="/ppt/notesMasters/notesMaster1.xml" Id="R9dcb67a06f2346e6" /></Relationships>
</file>

<file path=ppt/notesSlides/_rels/notesSlide67.xml.rels>&#65279;<?xml version="1.0" encoding="utf-8"?><Relationships xmlns="http://schemas.openxmlformats.org/package/2006/relationships"><Relationship Type="http://schemas.openxmlformats.org/officeDocument/2006/relationships/slide" Target="/ppt/slides/slide67.xml" Id="Rb93f087614f0487e" /><Relationship Type="http://schemas.openxmlformats.org/officeDocument/2006/relationships/notesMaster" Target="/ppt/notesMasters/notesMaster1.xml" Id="R2fce7952d70640aa" /></Relationships>
</file>

<file path=ppt/notesSlides/_rels/notesSlide68.xml.rels>&#65279;<?xml version="1.0" encoding="utf-8"?><Relationships xmlns="http://schemas.openxmlformats.org/package/2006/relationships"><Relationship Type="http://schemas.openxmlformats.org/officeDocument/2006/relationships/slide" Target="/ppt/slides/slide68.xml" Id="Re89256a246b44358" /><Relationship Type="http://schemas.openxmlformats.org/officeDocument/2006/relationships/notesMaster" Target="/ppt/notesMasters/notesMaster1.xml" Id="Rd83fd4c1939b442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오늘은 여러분이 2주에 걸쳐 만든 것을 30분 만에 만들어 봅니다. 그런데 오늘은 만드는 것보다 지우는 것이 더 중요한 수업입니다. 삭제 점검을 통과하지 못하면 귀가할 수 없다고 시작하면서 못 박으세요.</a:t>
            </a:r>
            <a:endParaRPr/>
          </a:p>
          <a:p xmlns:a="http://schemas.openxmlformats.org/drawingml/2006/main">
            <a:r>
              <a:t>
[Sources]
- https://docs.aws.amazon.com/sagemaker/latest/dg/realtime-endpoints-delete-resources.html
- https://console.aws.amazon.com/sagemaker/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실습 B가 85분이지만 엔드포인트가 살아 있는 시간은 그중 20분뿐입니다. 나머지 60분은 엔드포인트가 없는 상태에서 비교표를 쓰는 시간이라고 미리 알려주세요.</a:t>
            </a:r>
            <a:endParaRPr/>
          </a:p>
          <a:p xmlns:a="http://schemas.openxmlformats.org/drawingml/2006/main">
            <a:r>
              <a:t>
[Sources]
- https://docs.aws.amazon.com/sagemaker/latest/dg/realtime-endpoints-delete-resources.html
- https://console.aws.amazon.com/sagemaker/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판서를 학생들이 소리 내어 따라 읽게 하세요. 오늘 배울 것은 어떻게 만드나와 어떻게 확실히 지우나 두 가지인데, 시험에 나온다면 두 번째라고 말해주면 집중도가 확 올라갑니다.</a:t>
            </a:r>
            <a:endParaRPr/>
          </a:p>
          <a:p xmlns:a="http://schemas.openxmlformats.org/drawingml/2006/main">
            <a:r>
              <a:t>
[Sources]
- https://docs.aws.amazon.com/sagemaker/latest/dg/realtime-endpoints-delete-resources.html
- https://console.aws.amazon.com/sagemaker/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
[Sources]
- https://docs.aws.amazon.com/sagemaker/latest/dg/realtime-endpoints-delete-resources.html
- https://console.aws.amazon.com/sagemaker/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학습 잡은 4분 학습했으면 4분치만 냅니다. 이건 정말 좋은 성질이라고 칭찬해 주세요. 반면 엔드포인트는 24시간 대기하는 게 존재 이유라 끝나는 시점이 없습니다. 오늘 위험은 전부 여기서 나옵니다.</a:t>
            </a:r>
            <a:endParaRPr/>
          </a:p>
          <a:p xmlns:a="http://schemas.openxmlformats.org/drawingml/2006/main">
            <a:r>
              <a:t>
[Sources]
- https://docs.aws.amazon.com/sagemaker/latest/dg/realtime-endpoints-delete-resources.html
- https://console.aws.amazon.com/sagemaker/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쉬운 길로 가려다 결국 어려운 길을 만난다는 이야기를 해주세요. 라이브러리 버전이 지원 목록에 없으면 결국 컨테이너를 직접 만들어야 하고, 그러면 도커를 배워야 합니다. 그래서 우리는 도커를 먼저 배운 겁니다.</a:t>
            </a:r>
            <a:endParaRPr/>
          </a:p>
          <a:p xmlns:a="http://schemas.openxmlformats.org/drawingml/2006/main">
            <a:r>
              <a:t>
[Sources]
- https://docs.aws.amazon.com/sagemaker/latest/dg/realtime-endpoints-delete-resources.html
- https://console.aws.amazon.com/sagemaker/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승부는 2대 2입니다. 그래서 정답이 없다고 말하고, 대신 판단 기준 한 문장을 주세요. 사람이 부족하면 관리형, 돈이 부족하면 직접 구축. 그리고 모델 개수가 늘수록 관리형의 비용 격차가 커진다는 점도 짚어주세요.</a:t>
            </a:r>
            <a:endParaRPr/>
          </a:p>
          <a:p xmlns:a="http://schemas.openxmlformats.org/drawingml/2006/main">
            <a:r>
              <a:t>
[Sources]
- https://docs.aws.amazon.com/sagemaker/latest/dg/realtime-endpoints-delete-resources.html
- https://console.aws.amazon.com/sagemaker/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나는 지웠는데 왜 돈이 나가지라는 상황이 여기서 생깁니다. 삭제 순서도 같이 알려주세요. 엔드포인트 다음 구성, 그다음 모델, 마지막이 스페이스입니다. 사용 중인 것을 먼저 지울 수 없기 때문에 순서를 지켜야 합니다.</a:t>
            </a:r>
            <a:endParaRPr/>
          </a:p>
          <a:p xmlns:a="http://schemas.openxmlformats.org/drawingml/2006/main">
            <a:r>
              <a:t>
[Sources]
- https://docs.aws.amazon.com/sagemaker/latest/dg/realtime-endpoints-delete-resources.html
- https://console.aws.amazon.com/sagemaker/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엔드포인트를 만든 사람은 30분 안에 지운다, 이 규칙 하나를 오늘 계속 반복하세요. 생성 시각과 삭제 목표 시각, 짝꿍 이름을 노트 맨 위에 손으로 적게 하는 것이 오늘 최우선 지도 항목입니다.</a:t>
            </a:r>
            <a:endParaRPr/>
          </a:p>
          <a:p xmlns:a="http://schemas.openxmlformats.org/drawingml/2006/main">
            <a:r>
              <a:t>
[Sources]
- https://docs.aws.amazon.com/sagemaker/latest/dg/realtime-endpoints-delete-resources.html
- https://console.aws.amazon.com/sagemaker/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
[Sources]
- https://docs.aws.amazon.com/sagemaker/latest/dg/realtime-endpoints-delete-resources.html
- https://console.aws.amazon.com/sagemaker/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2번 단계에서 목록에 더 큰 인스턴스가 보여도 절대 고르지 말라고 하세요. 그리고 스페이스가 Running이 되는 순간 시각을 노트에 적게 하세요. 이 순간부터 시간당 요금이 발생합니다.</a:t>
            </a:r>
            <a:endParaRPr/>
          </a:p>
          <a:p xmlns:a="http://schemas.openxmlformats.org/drawingml/2006/main">
            <a:r>
              <a:t>
[Sources]
- https://docs.aws.amazon.com/sagemaker/latest/dg/realtime-endpoints-delete-resources.html
- https://console.aws.amazon.com/sagemaker/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실행 역할이 무엇인지 한 번 설명하고 넘어가세요. SageMaker가 우리 대신 S3에 접근할 때 쓰는 신분입니다. 지난주에 배운 IAM 역할이 여기서 그대로 쓰이고 있다는 걸 연결해 주면 이해가 빨라집니다.</a:t>
            </a:r>
            <a:endParaRPr/>
          </a:p>
          <a:p xmlns:a="http://schemas.openxmlformats.org/drawingml/2006/main">
            <a:r>
              <a:t>
[Sources]
- https://docs.aws.amazon.com/sagemaker/latest/dg/realtime-endpoints-delete-resources.html
- https://console.aws.amazon.com/sagemaker/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학습 스크립트가 모델을 정해진 폴더에 저장하기만 하면 압축과 업로드는 AWS가 합니다. 4주차에 손으로 하던 두 단계가 규약 하나로 대체된 것입니다. 이게 관리형이 대신 해주는 것의 실체라고 짚어주세요.</a:t>
            </a:r>
            <a:endParaRPr/>
          </a:p>
          <a:p xmlns:a="http://schemas.openxmlformats.org/drawingml/2006/main">
            <a:r>
              <a:t>
[Sources]
- https://docs.aws.amazon.com/sagemaker/latest/dg/realtime-endpoints-delete-resources.html
- https://console.aws.amazon.com/sagemaker/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세 번째 줄이 오늘 이론과 연결되는 지점입니다. 권한 문제는 학생이 고칠 수 없으니 바로 부르라고 하세요. 그리고 휴식 들어가기 전에 학습 잡은 자동으로 꺼지지만 스페이스는 켜져 있다는 걸 구두로 한 번 확인하세요.</a:t>
            </a:r>
            <a:endParaRPr/>
          </a:p>
          <a:p xmlns:a="http://schemas.openxmlformats.org/drawingml/2006/main">
            <a:r>
              <a:t>
[Sources]
- https://docs.aws.amazon.com/sagemaker/latest/dg/realtime-endpoints-delete-resources.html
- https://console.aws.amazon.com/sagemaker/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
[Sources]
- https://docs.aws.amazon.com/sagemaker/latest/dg/realtime-endpoints-delete-resources.html
- https://console.aws.amazon.com/sagemaker/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세 박자를 한 세트로 외우게 하세요. 지금 옆 사람과 약속을 시킵니다. 내가 엔드포인트를 지웠는지 서로 확인해준다. 두 명이 서로 확인하면 사고가 절반으로 줄어듭니다.</a:t>
            </a:r>
            <a:endParaRPr/>
          </a:p>
          <a:p xmlns:a="http://schemas.openxmlformats.org/drawingml/2006/main">
            <a:r>
              <a:t>
[Sources]
- https://docs.aws.amazon.com/sagemaker/latest/dg/realtime-endpoints-delete-resources.html
- https://console.aws.amazon.com/sagemaker/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5번이 오늘 진짜 과제입니다. 비용 행에 비쌈 쌈이라고만 쓴 학생에게는 계산을 시키세요. 0.14 곱하기 24를 직접 곱해 3.36달러를 손으로 써보게 하는 것이 오늘 비용 감각의 핵심입니다.</a:t>
            </a:r>
            <a:endParaRPr/>
          </a:p>
          <a:p xmlns:a="http://schemas.openxmlformats.org/drawingml/2006/main">
            <a:r>
              <a:t>
[Sources]
- https://docs.aws.amazon.com/sagemaker/latest/dg/realtime-endpoints-delete-resources.html
- https://console.aws.amazon.com/sagemaker/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instance_type 목록에서 더 큰 것을 고른 학생이 반드시 나옵니다. 발견 즉시 중단시키고 재배포하게 하세요. 그리고 배포가 끝나는 순간 삭제 목표 시각을 칠판에도 크게 적어두면 좋습니다.</a:t>
            </a:r>
            <a:endParaRPr/>
          </a:p>
          <a:p xmlns:a="http://schemas.openxmlformats.org/drawingml/2006/main">
            <a:r>
              <a:t>
[Sources]
- https://docs.aws.amazon.com/sagemaker/latest/dg/realtime-endpoints-delete-resources.html
- https://console.aws.amazon.com/sagemaker/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비교표는 14주차 최종 발표의 기술 선택 근거 슬라이드가 됩니다. 왜 SageMaker를 안 썼나요라는 질문은 심사에서 반드시 나오고, 오늘의 표가 그 답이라고 말해주면 학생들이 진지해집니다.</a:t>
            </a:r>
            <a:endParaRPr/>
          </a:p>
          <a:p xmlns:a="http://schemas.openxmlformats.org/drawingml/2006/main">
            <a:r>
              <a:t>
[Sources]
- https://docs.aws.amazon.com/sagemaker/latest/dg/realtime-endpoints-delete-resources.html
- https://console.aws.amazon.com/sagemaker/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콘솔에서도 눈으로 확인시키세요. Inference 메뉴의 Endpoints 목록에 본인 것이 없어야 합니다. 다른 학생 것이 섞여 보인다면 본인 학번이 목록에 없다는 게 보이도록 캡처하라고 안내하세요.</a:t>
            </a:r>
            <a:endParaRPr/>
          </a:p>
          <a:p xmlns:a="http://schemas.openxmlformats.org/drawingml/2006/main">
            <a:r>
              <a:t>
[Sources]
- https://docs.aws.amazon.com/sagemaker/latest/dg/realtime-endpoints-delete-resources.html
- https://console.aws.amazon.com/sagemaker/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남아 있으면 그 자리에서 삭제 명령을 실행시킨 뒤 다시 확인합니다. 전원 통과 전에는 수업을 끝내지 않습니다. 자동 종료 설정이 켜져 있어도 그걸 믿지 말고 눈으로 확인한 결과만 믿으라고 하세요.</a:t>
            </a:r>
            <a:endParaRPr/>
          </a:p>
          <a:p xmlns:a="http://schemas.openxmlformats.org/drawingml/2006/main">
            <a:r>
              <a:t>
[Sources]
- https://docs.aws.amazon.com/sagemaker/latest/dg/realtime-endpoints-delete-resources.html
- https://console.aws.amazon.com/sagemaker/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3번을 제출하지 않으면 이 회차 체크포인트 전체를 0점 처리하고, 잔여 리소스가 확인되면 2점을 추가로 감점합니다. 이건 겁주는 게 아니라 교육계획서에 적힌 규정이라고 알려주세요.</a:t>
            </a:r>
            <a:endParaRPr/>
          </a:p>
          <a:p xmlns:a="http://schemas.openxmlformats.org/drawingml/2006/main">
            <a:r>
              <a:t>
[Sources]
- https://docs.aws.amazon.com/sagemaker/latest/dg/realtime-endpoints-delete-resources.html
- https://console.aws.amazon.com/sagemaker/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현업에서 이 습관이 없는 사람은 언젠가 반드시 사고를 냅니다. 그리고 내일 아침에 한 번 더 확인하라고 하세요. 명령어는 치트시트 맨 아래에 있고, 내일 아침 9시 전 캡처가 과제입니다.</a:t>
            </a:r>
            <a:endParaRPr/>
          </a:p>
          <a:p xmlns:a="http://schemas.openxmlformats.org/drawingml/2006/main">
            <a:r>
              <a:t>
[Sources]
- https://docs.aws.amazon.com/sagemaker/latest/dg/realtime-endpoints-delete-resources.html
- https://console.aws.amazon.com/sagemaker/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다음 주 Bedrock은 시간당 과금이 아니라 쓴 만큼만 나가니 마음은 조금 편할 거라고 말해주세요. 다만 모델 액세스 승인이 안 되어 있으면 아무것도 못 하니 공지 확인은 필수입니다.</a:t>
            </a:r>
            <a:endParaRPr/>
          </a:p>
          <a:p xmlns:a="http://schemas.openxmlformats.org/drawingml/2006/main">
            <a:r>
              <a:t>
[Sources]
- https://docs.aws.amazon.com/sagemaker/latest/dg/realtime-endpoints-delete-resources.html
- https://console.aws.amazon.com/sagemaker/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https://docs.aws.amazon.com/sagemaker/latest/dg/realtime-endpoints-delete-resources.html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https://docs.aws.amazon.com/sagemaker/latest/dg/realtime-endpoints-delete-resources.html</a:t>
            </a:r>
          </a:p>
          <a:p xmlns:a="http://schemas.openxmlformats.org/drawingml/2006/main">
            <a:r>
              <a:t>- https://console.aws.amazon.com/sagemaker/</a:t>
            </a:r>
          </a:p>
          <a:p xmlns:a="http://schemas.openxmlformats.org/drawingml/2006/main">
            <a:r>
              <a:t>- AWS 공식 문서 화면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CloudShell 또는 Systems Manager</a:t>
            </a:r>
          </a:p>
          <a:p xmlns:a="http://schemas.openxmlformats.org/drawingml/2006/main">
            <a:r>
              <a:t>- 확인: SageMaker 모델·구성·엔드포인트 사전 점검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https://docs.aws.amazon.com/sagemaker/latest/dg/serverless-endpoints.html</a:t>
            </a:r>
          </a:p>
          <a:p xmlns:a="http://schemas.openxmlformats.org/drawingml/2006/main">
            <a:r>
              <a:t>- https://docs.aws.amazon.com/sagemaker/latest/dg/realtime-endpoints.html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SageMaker AI → Deployments &amp; inference</a:t>
            </a:r>
          </a:p>
          <a:p xmlns:a="http://schemas.openxmlformats.org/drawingml/2006/main">
            <a:r>
              <a:t>- 확인: SageMaker 모델 목록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https://docs.aws.amazon.com/sagemaker/latest/dg/serverless-endpoints.html</a:t>
            </a:r>
          </a:p>
          <a:p xmlns:a="http://schemas.openxmlformats.org/drawingml/2006/main">
            <a:r>
              <a:t>- https://docs.aws.amazon.com/sagemaker/latest/dg/realtime-endpoints.html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SageMaker AI → Deployments &amp; inference</a:t>
            </a:r>
          </a:p>
          <a:p xmlns:a="http://schemas.openxmlformats.org/drawingml/2006/main">
            <a:r>
              <a:t>- 확인: 엔드포인트 구성 목록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https://docs.aws.amazon.com/sagemaker/latest/dg/serverless-endpoints.html</a:t>
            </a:r>
          </a:p>
          <a:p xmlns:a="http://schemas.openxmlformats.org/drawingml/2006/main">
            <a:r>
              <a:t>- https://docs.aws.amazon.com/sagemaker/latest/dg/realtime-endpoints.html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SageMaker AI → Deployments &amp; inference</a:t>
            </a:r>
          </a:p>
          <a:p xmlns:a="http://schemas.openxmlformats.org/drawingml/2006/main">
            <a:r>
              <a:t>- 확인: 실습 전 엔드포인트 없음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https://docs.aws.amazon.com/sagemaker/latest/dg/serverless-endpoints.html</a:t>
            </a:r>
          </a:p>
          <a:p xmlns:a="http://schemas.openxmlformats.org/drawingml/2006/main">
            <a:r>
              <a:t>- https://docs.aws.amazon.com/sagemaker/latest/dg/realtime-endpoints.html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CloudShell 또는 Systems Manager</a:t>
            </a:r>
          </a:p>
          <a:p xmlns:a="http://schemas.openxmlformats.org/drawingml/2006/main">
            <a:r>
              <a:t>- 확인: 서버리스 엔드포인트 생성 요청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https://docs.aws.amazon.com/sagemaker/latest/dg/serverless-endpoints.html</a:t>
            </a:r>
          </a:p>
          <a:p xmlns:a="http://schemas.openxmlformats.org/drawingml/2006/main">
            <a:r>
              <a:t>- https://docs.aws.amazon.com/sagemaker/latest/dg/realtime-endpoints.html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SageMaker AI → Deployments &amp; inference</a:t>
            </a:r>
          </a:p>
          <a:p xmlns:a="http://schemas.openxmlformats.org/drawingml/2006/main">
            <a:r>
              <a:t>- 확인: 생성 중 엔드포인트 목록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https://docs.aws.amazon.com/sagemaker/latest/dg/serverless-endpoints.html</a:t>
            </a:r>
          </a:p>
          <a:p xmlns:a="http://schemas.openxmlformats.org/drawingml/2006/main">
            <a:r>
              <a:t>- https://docs.aws.amazon.com/sagemaker/latest/dg/realtime-endpoints.html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SageMaker AI → Deployments &amp; inference</a:t>
            </a:r>
          </a:p>
          <a:p xmlns:a="http://schemas.openxmlformats.org/drawingml/2006/main">
            <a:r>
              <a:t>- 확인: 생성 중 엔드포인트 상세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https://docs.aws.amazon.com/sagemaker/latest/dg/serverless-endpoints.html</a:t>
            </a:r>
          </a:p>
          <a:p xmlns:a="http://schemas.openxmlformats.org/drawingml/2006/main">
            <a:r>
              <a:t>- https://docs.aws.amazon.com/sagemaker/latest/dg/realtime-endpoints.html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SageMaker AI → Deployments &amp; inference</a:t>
            </a:r>
          </a:p>
          <a:p xmlns:a="http://schemas.openxmlformats.org/drawingml/2006/main">
            <a:r>
              <a:t>- 확인: 모델 v1 상세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https://docs.aws.amazon.com/sagemaker/latest/dg/serverless-endpoints.html</a:t>
            </a:r>
          </a:p>
          <a:p xmlns:a="http://schemas.openxmlformats.org/drawingml/2006/main">
            <a:r>
              <a:t>- https://docs.aws.amazon.com/sagemaker/latest/dg/realtime-endpoints.html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SageMaker AI → Deployments &amp; inference</a:t>
            </a:r>
          </a:p>
          <a:p xmlns:a="http://schemas.openxmlformats.org/drawingml/2006/main">
            <a:r>
              <a:t>- 확인: 서버리스 구성 v1 상세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https://docs.aws.amazon.com/sagemaker/latest/dg/serverless-endpoints.html</a:t>
            </a:r>
          </a:p>
          <a:p xmlns:a="http://schemas.openxmlformats.org/drawingml/2006/main">
            <a:r>
              <a:t>- https://docs.aws.amazon.com/sagemaker/latest/dg/realtime-endpoints.html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SageMaker AI → Deployments &amp; inference</a:t>
            </a:r>
          </a:p>
          <a:p xmlns:a="http://schemas.openxmlformats.org/drawingml/2006/main">
            <a:r>
              <a:t>- 확인: 훈련 작업 목록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https://docs.aws.amazon.com/sagemaker/latest/dg/serverless-endpoints.html</a:t>
            </a:r>
          </a:p>
          <a:p xmlns:a="http://schemas.openxmlformats.org/drawingml/2006/main">
            <a:r>
              <a:t>- https://docs.aws.amazon.com/sagemaker/latest/dg/realtime-endpoints.html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S3 → models/</a:t>
            </a:r>
          </a:p>
          <a:p xmlns:a="http://schemas.openxmlformats.org/drawingml/2006/main">
            <a:r>
              <a:t>- 확인: S3 모델 산출물 경로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https://docs.aws.amazon.com/sagemaker/latest/dg/model-train-storage.html</a:t>
            </a:r>
          </a:p>
          <a:p xmlns:a="http://schemas.openxmlformats.org/drawingml/2006/main">
            <a:r>
              <a:t>- https://docs.aws.amazon.com/sagemaker/latest/dg/realtime-endpoints.html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SageMaker AI → Deployments &amp; inference</a:t>
            </a:r>
          </a:p>
          <a:p xmlns:a="http://schemas.openxmlformats.org/drawingml/2006/main">
            <a:r>
              <a:t>- 확인: 훈련 작업 생성 양식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https://docs.aws.amazon.com/sagemaker/latest/dg/serverless-endpoints.html</a:t>
            </a:r>
          </a:p>
          <a:p xmlns:a="http://schemas.openxmlformats.org/drawingml/2006/main">
            <a:r>
              <a:t>- https://docs.aws.amazon.com/sagemaker/latest/dg/realtime-endpoints.html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SageMaker AI → Deployments &amp; inference</a:t>
            </a:r>
          </a:p>
          <a:p xmlns:a="http://schemas.openxmlformats.org/drawingml/2006/main">
            <a:r>
              <a:t>- 확인: 서버리스 엔드포인트 상태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https://docs.aws.amazon.com/sagemaker/latest/dg/serverless-endpoints.html</a:t>
            </a:r>
          </a:p>
          <a:p xmlns:a="http://schemas.openxmlformats.org/drawingml/2006/main">
            <a:r>
              <a:t>- https://docs.aws.amazon.com/sagemaker/latest/dg/realtime-endpoints.html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SageMaker AI → Deployments &amp; inference</a:t>
            </a:r>
          </a:p>
          <a:p xmlns:a="http://schemas.openxmlformats.org/drawingml/2006/main">
            <a:r>
              <a:t>- 확인: 엔드포인트 관찰성 지표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https://docs.aws.amazon.com/sagemaker/latest/dg/serverless-endpoints.html</a:t>
            </a:r>
          </a:p>
          <a:p xmlns:a="http://schemas.openxmlformats.org/drawingml/2006/main">
            <a:r>
              <a:t>- https://docs.aws.amazon.com/sagemaker/latest/dg/realtime-endpoints.html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Service Quotas → Amazon SageMaker</a:t>
            </a:r>
          </a:p>
          <a:p xmlns:a="http://schemas.openxmlformats.org/drawingml/2006/main">
            <a:r>
              <a:t>- 확인: SageMaker 서비스 할당량 목록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https://docs.aws.amazon.com/sagemaker/latest/dg/regions-quotas.html</a:t>
            </a:r>
          </a:p>
          <a:p xmlns:a="http://schemas.openxmlformats.org/drawingml/2006/main">
            <a:r>
              <a:t>- https://docs.aws.amazon.com/sagemaker/latest/dg/realtime-endpoints.html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Service Quotas → Amazon SageMaker</a:t>
            </a:r>
          </a:p>
          <a:p xmlns:a="http://schemas.openxmlformats.org/drawingml/2006/main">
            <a:r>
              <a:t>- 확인: ml.m5.large 관련 할당량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https://docs.aws.amazon.com/sagemaker/latest/dg/regions-quotas.html</a:t>
            </a:r>
          </a:p>
          <a:p xmlns:a="http://schemas.openxmlformats.org/drawingml/2006/main">
            <a:r>
              <a:t>- https://docs.aws.amazon.com/sagemaker/latest/dg/realtime-endpoints.html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Service Quotas → Amazon SageMaker</a:t>
            </a:r>
          </a:p>
          <a:p xmlns:a="http://schemas.openxmlformats.org/drawingml/2006/main">
            <a:r>
              <a:t>- 확인: 실시간 ml.m5.large 계정 할당량이 0이라 서버리스 방식을 사용해야 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https://docs.aws.amazon.com/sagemaker/latest/dg/regions-quotas.html</a:t>
            </a:r>
          </a:p>
          <a:p xmlns:a="http://schemas.openxmlformats.org/drawingml/2006/main">
            <a:r>
              <a:t>- https://docs.aws.amazon.com/sagemaker/latest/dg/realtime-endpoints.html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SageMaker AI → Deployments &amp; inference</a:t>
            </a:r>
          </a:p>
          <a:p xmlns:a="http://schemas.openxmlformats.org/drawingml/2006/main">
            <a:r>
              <a:t>- 확인: 서버리스 엔드포인트 v1 Failed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https://docs.aws.amazon.com/sagemaker/latest/dg/serverless-endpoints.html</a:t>
            </a:r>
          </a:p>
          <a:p xmlns:a="http://schemas.openxmlformats.org/drawingml/2006/main">
            <a:r>
              <a:t>- https://docs.aws.amazon.com/sagemaker/latest/dg/realtime-endpoints.html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SageMaker AI → Deployments &amp; inference</a:t>
            </a:r>
          </a:p>
          <a:p xmlns:a="http://schemas.openxmlformats.org/drawingml/2006/main">
            <a:r>
              <a:t>- 확인: `Model entrypoint executable "serve" was not found in container PATH`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https://docs.aws.amazon.com/sagemaker/latest/dg/serverless-endpoints.html</a:t>
            </a:r>
          </a:p>
          <a:p xmlns:a="http://schemas.openxmlformats.org/drawingml/2006/main">
            <a:r>
              <a:t>- https://docs.aws.amazon.com/sagemaker/latest/dg/realtime-endpoints.html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SageMaker AI → Deployments &amp; inference</a:t>
            </a:r>
          </a:p>
          <a:p xmlns:a="http://schemas.openxmlformats.org/drawingml/2006/main">
            <a:r>
              <a:t>- 확인: 실패 엔드포인트 삭제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https://docs.aws.amazon.com/sagemaker/latest/dg/serverless-endpoints.html</a:t>
            </a:r>
          </a:p>
          <a:p xmlns:a="http://schemas.openxmlformats.org/drawingml/2006/main">
            <a:r>
              <a:t>- https://docs.aws.amazon.com/sagemaker/latest/dg/realtime-endpoints.html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SageMaker AI → Deployments &amp; inference</a:t>
            </a:r>
          </a:p>
          <a:p xmlns:a="http://schemas.openxmlformats.org/drawingml/2006/main">
            <a:r>
              <a:t>- 확인: 실패 엔드포인트 삭제 완료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https://docs.aws.amazon.com/sagemaker/latest/dg/serverless-endpoints.html</a:t>
            </a:r>
          </a:p>
          <a:p xmlns:a="http://schemas.openxmlformats.org/drawingml/2006/main">
            <a:r>
              <a:t>- https://docs.aws.amazon.com/sagemaker/latest/dg/realtime-endpoints.html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EC2 → ysu-mlops-lab-ec2</a:t>
            </a:r>
          </a:p>
          <a:p xmlns:a="http://schemas.openxmlformats.org/drawingml/2006/main">
            <a:r>
              <a:t>- 확인: 이미지 수정을 위한 EC2 시작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https://docs.aws.amazon.com/AWSEC2/latest/UserGuide/Stop_Start.html</a:t>
            </a:r>
          </a:p>
          <a:p xmlns:a="http://schemas.openxmlformats.org/drawingml/2006/main">
            <a:r>
              <a:t>- https://docs.aws.amazon.com/sagemaker/latest/dg/realtime-endpoints.html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CloudShell 또는 Systems Manager</a:t>
            </a:r>
          </a:p>
          <a:p xmlns:a="http://schemas.openxmlformats.org/drawingml/2006/main">
            <a:r>
              <a:t>- 확인: serve 포함 이미지 1.2 빌드 명령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https://docs.aws.amazon.com/sagemaker/latest/dg/serverless-endpoints.html</a:t>
            </a:r>
          </a:p>
          <a:p xmlns:a="http://schemas.openxmlformats.org/drawingml/2006/main">
            <a:r>
              <a:t>- https://docs.aws.amazon.com/sagemaker/latest/dg/realtime-endpoints.html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CloudShell 또는 Systems Manager</a:t>
            </a:r>
          </a:p>
          <a:p xmlns:a="http://schemas.openxmlformats.org/drawingml/2006/main">
            <a:r>
              <a:t>- 확인: 이미지 1.2 빌드 명령 접수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https://docs.aws.amazon.com/sagemaker/latest/dg/serverless-endpoints.html</a:t>
            </a:r>
          </a:p>
          <a:p xmlns:a="http://schemas.openxmlformats.org/drawingml/2006/main">
            <a:r>
              <a:t>- https://docs.aws.amazon.com/sagemaker/latest/dg/realtime-endpoints.html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CloudShell 또는 Systems Manager</a:t>
            </a:r>
          </a:p>
          <a:p xmlns:a="http://schemas.openxmlformats.org/drawingml/2006/main">
            <a:r>
              <a:t>- 확인: 이미지 1.2 빌드·푸시 성공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https://docs.aws.amazon.com/sagemaker/latest/dg/serverless-endpoints.html</a:t>
            </a:r>
          </a:p>
          <a:p xmlns:a="http://schemas.openxmlformats.org/drawingml/2006/main">
            <a:r>
              <a:t>- https://docs.aws.amazon.com/sagemaker/latest/dg/realtime-endpoints.html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CloudShell 또는 Systems Manager</a:t>
            </a:r>
          </a:p>
          <a:p xmlns:a="http://schemas.openxmlformats.org/drawingml/2006/main">
            <a:r>
              <a:t>- 확인: `/ping` 200과 `/invocations` prediction 응답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https://docs.aws.amazon.com/sagemaker/latest/dg/serverless-endpoints.html</a:t>
            </a:r>
          </a:p>
          <a:p xmlns:a="http://schemas.openxmlformats.org/drawingml/2006/main">
            <a:r>
              <a:t>- https://docs.aws.amazon.com/sagemaker/latest/dg/realtime-endpoints.html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ECR → ysu-mlops-api</a:t>
            </a:r>
          </a:p>
          <a:p xmlns:a="http://schemas.openxmlformats.org/drawingml/2006/main">
            <a:r>
              <a:t>- 확인: ECR 이미지 1.2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https://docs.aws.amazon.com/AmazonECR/latest/userguide/Repositories.html</a:t>
            </a:r>
          </a:p>
          <a:p xmlns:a="http://schemas.openxmlformats.org/drawingml/2006/main">
            <a:r>
              <a:t>- https://docs.aws.amazon.com/sagemaker/latest/dg/realtime-endpoints.html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CloudShell 또는 Systems Manager</a:t>
            </a:r>
          </a:p>
          <a:p xmlns:a="http://schemas.openxmlformats.org/drawingml/2006/main">
            <a:r>
              <a:t>- 확인: 모델·구성·엔드포인트 v2 생성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https://docs.aws.amazon.com/sagemaker/latest/dg/serverless-endpoints.html</a:t>
            </a:r>
          </a:p>
          <a:p xmlns:a="http://schemas.openxmlformats.org/drawingml/2006/main">
            <a:r>
              <a:t>- https://docs.aws.amazon.com/sagemaker/latest/dg/realtime-endpoints.html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EC2 → ysu-mlops-lab-ec2</a:t>
            </a:r>
          </a:p>
          <a:p xmlns:a="http://schemas.openxmlformats.org/drawingml/2006/main">
            <a:r>
              <a:t>- 확인: 이미지 수정 후 EC2 중지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https://docs.aws.amazon.com/AWSEC2/latest/UserGuide/Stop_Start.html</a:t>
            </a:r>
          </a:p>
          <a:p xmlns:a="http://schemas.openxmlformats.org/drawingml/2006/main">
            <a:r>
              <a:t>- https://docs.aws.amazon.com/sagemaker/latest/dg/realtime-endpoints.html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SageMaker AI → Deployments &amp; inference</a:t>
            </a:r>
          </a:p>
          <a:p xmlns:a="http://schemas.openxmlformats.org/drawingml/2006/main">
            <a:r>
              <a:t>- 확인: 서버리스 엔드포인트 v2 생성 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https://docs.aws.amazon.com/sagemaker/latest/dg/serverless-endpoints.html</a:t>
            </a:r>
          </a:p>
          <a:p xmlns:a="http://schemas.openxmlformats.org/drawingml/2006/main">
            <a:r>
              <a:t>- https://docs.aws.amazon.com/sagemaker/latest/dg/realtime-endpoints.html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SageMaker AI → Deployments &amp; inference</a:t>
            </a:r>
          </a:p>
          <a:p xmlns:a="http://schemas.openxmlformats.org/drawingml/2006/main">
            <a:r>
              <a:t>- 확인: 수정 모델 v2 상세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https://docs.aws.amazon.com/sagemaker/latest/dg/serverless-endpoints.html</a:t>
            </a:r>
          </a:p>
          <a:p xmlns:a="http://schemas.openxmlformats.org/drawingml/2006/main">
            <a:r>
              <a:t>- https://docs.aws.amazon.com/sagemaker/latest/dg/realtime-endpoints.html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SageMaker AI → Deployments &amp; inference</a:t>
            </a:r>
          </a:p>
          <a:p xmlns:a="http://schemas.openxmlformats.org/drawingml/2006/main">
            <a:r>
              <a:t>- 확인: 서버리스 구성 v2 상세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https://docs.aws.amazon.com/sagemaker/latest/dg/serverless-endpoints.html</a:t>
            </a:r>
          </a:p>
          <a:p xmlns:a="http://schemas.openxmlformats.org/drawingml/2006/main">
            <a:r>
              <a:t>- https://docs.aws.amazon.com/sagemaker/latest/dg/realtime-endpoints.html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SageMaker AI → Deployments &amp; inference</a:t>
            </a:r>
          </a:p>
          <a:p xmlns:a="http://schemas.openxmlformats.org/drawingml/2006/main">
            <a:r>
              <a:t>- 확인: 엔드포인트 v2 생성 목록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https://docs.aws.amazon.com/sagemaker/latest/dg/serverless-endpoints.html</a:t>
            </a:r>
          </a:p>
          <a:p xmlns:a="http://schemas.openxmlformats.org/drawingml/2006/main">
            <a:r>
              <a:t>- https://docs.aws.amazon.com/sagemaker/latest/dg/realtime-endpoints.html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SageMaker AI → Deployments &amp; inference</a:t>
            </a:r>
          </a:p>
          <a:p xmlns:a="http://schemas.openxmlformats.org/drawingml/2006/main">
            <a:r>
              <a:t>- 확인: 상태 InService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https://docs.aws.amazon.com/sagemaker/latest/dg/serverless-endpoints.html</a:t>
            </a:r>
          </a:p>
          <a:p xmlns:a="http://schemas.openxmlformats.org/drawingml/2006/main">
            <a:r>
              <a:t>- https://docs.aws.amazon.com/sagemaker/latest/dg/realtime-endpoints.html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CloudShell 또는 Systems Manager</a:t>
            </a:r>
          </a:p>
          <a:p xmlns:a="http://schemas.openxmlformats.org/drawingml/2006/main">
            <a:r>
              <a:t>- 확인: prediction 1, score 6.9, model_version 1.2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https://docs.aws.amazon.com/sagemaker/latest/dg/serverless-endpoints.html</a:t>
            </a:r>
          </a:p>
          <a:p xmlns:a="http://schemas.openxmlformats.org/drawingml/2006/main">
            <a:r>
              <a:t>- https://docs.aws.amazon.com/sagemaker/latest/dg/realtime-endpoints.html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CloudShell 또는 Systems Manager</a:t>
            </a:r>
          </a:p>
          <a:p xmlns:a="http://schemas.openxmlformats.org/drawingml/2006/main">
            <a:r>
              <a:t>- 확인: score 2.5는 0, score 7.0은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https://docs.aws.amazon.com/sagemaker/latest/dg/serverless-endpoints.html</a:t>
            </a:r>
          </a:p>
          <a:p xmlns:a="http://schemas.openxmlformats.org/drawingml/2006/main">
            <a:r>
              <a:t>- https://docs.aws.amazon.com/sagemaker/latest/dg/realtime-endpoints.html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SageMaker AI → Deployments &amp; inference</a:t>
            </a:r>
          </a:p>
          <a:p xmlns:a="http://schemas.openxmlformats.org/drawingml/2006/main">
            <a:r>
              <a:t>- 확인: 서버리스 v2 모니터링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https://docs.aws.amazon.com/sagemaker/latest/dg/serverless-endpoints.html</a:t>
            </a:r>
          </a:p>
          <a:p xmlns:a="http://schemas.openxmlformats.org/drawingml/2006/main">
            <a:r>
              <a:t>- https://docs.aws.amazon.com/sagemaker/latest/dg/realtime-endpoints.html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SageMaker AI → Deployments &amp; inference</a:t>
            </a:r>
          </a:p>
          <a:p xmlns:a="http://schemas.openxmlformats.org/drawingml/2006/main">
            <a:r>
              <a:t>- 확인: 서버리스 v2 설정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https://docs.aws.amazon.com/sagemaker/latest/dg/serverless-endpoints.html</a:t>
            </a:r>
          </a:p>
          <a:p xmlns:a="http://schemas.openxmlformats.org/drawingml/2006/main">
            <a:r>
              <a:t>- https://docs.aws.amazon.com/sagemaker/latest/dg/realtime-endpoints.html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SageMaker AI → Deployments &amp; inference</a:t>
            </a:r>
          </a:p>
          <a:p xmlns:a="http://schemas.openxmlformats.org/drawingml/2006/main">
            <a:r>
              <a:t>- 확인: 서버리스 v2 CloudWatch 로그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https://docs.aws.amazon.com/sagemaker/latest/dg/serverless-endpoints.html</a:t>
            </a:r>
          </a:p>
          <a:p xmlns:a="http://schemas.openxmlformats.org/drawingml/2006/main">
            <a:r>
              <a:t>- https://docs.aws.amazon.com/sagemaker/latest/dg/realtime-endpoints.html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SageMaker AI → Deployments &amp; inference</a:t>
            </a:r>
          </a:p>
          <a:p xmlns:a="http://schemas.openxmlformats.org/drawingml/2006/main">
            <a:r>
              <a:t>- 확인: 성공 엔드포인트 삭제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https://docs.aws.amazon.com/sagemaker/latest/dg/serverless-endpoints.html</a:t>
            </a:r>
          </a:p>
          <a:p xmlns:a="http://schemas.openxmlformats.org/drawingml/2006/main">
            <a:r>
              <a:t>- https://docs.aws.amazon.com/sagemaker/latest/dg/realtime-endpoints.html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SageMaker AI → Deployments &amp; inference</a:t>
            </a:r>
          </a:p>
          <a:p xmlns:a="http://schemas.openxmlformats.org/drawingml/2006/main">
            <a:r>
              <a:t>- 확인: 엔드포인트 v2 삭제 요청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https://docs.aws.amazon.com/sagemaker/latest/dg/serverless-endpoints.html</a:t>
            </a:r>
          </a:p>
          <a:p xmlns:a="http://schemas.openxmlformats.org/drawingml/2006/main">
            <a:r>
              <a:t>- https://docs.aws.amazon.com/sagemaker/latest/dg/realtime-endpoints.html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CloudShell 또는 Systems Manager</a:t>
            </a:r>
          </a:p>
          <a:p xmlns:a="http://schemas.openxmlformats.org/drawingml/2006/main">
            <a:r>
              <a:t>- 확인: Endpoint → Endpoint Configuration → Model 순서와 남은 엔드포인트 0건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https://docs.aws.amazon.com/sagemaker/latest/dg/serverless-endpoints.html</a:t>
            </a:r>
          </a:p>
          <a:p xmlns:a="http://schemas.openxmlformats.org/drawingml/2006/main">
            <a:r>
              <a:t>- https://docs.aws.amazon.com/sagemaker/latest/dg/realtime-endpoints.html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0bbcd3cc374073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c56fa890e604993" /><Relationship Type="http://schemas.openxmlformats.org/officeDocument/2006/relationships/slideLayout" Target="/ppt/slideLayouts/slideLayout1.xml" Id="Rce30ca39bb0f490d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e30ca39bb0f490d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061b4122e04ca7" /><Relationship Type="http://schemas.openxmlformats.org/officeDocument/2006/relationships/notesSlide" Target="/ppt/notesSlides/notesSlide1.xml" Id="Re75ba64e048c402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89cc3cf3b04321" /><Relationship Type="http://schemas.openxmlformats.org/officeDocument/2006/relationships/notesSlide" Target="/ppt/notesSlides/notesSlide2.xml" Id="R27af1bcfd7e64ae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ef56a979844309" /><Relationship Type="http://schemas.openxmlformats.org/officeDocument/2006/relationships/notesSlide" Target="/ppt/notesSlides/notesSlide3.xml" Id="R152fa380941f4ab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818f53c5a5404a" /><Relationship Type="http://schemas.openxmlformats.org/officeDocument/2006/relationships/notesSlide" Target="/ppt/notesSlides/notesSlide4.xml" Id="R23c347808e9c495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1a1435eb7d4e6e" /><Relationship Type="http://schemas.openxmlformats.org/officeDocument/2006/relationships/notesSlide" Target="/ppt/notesSlides/notesSlide5.xml" Id="R4744cd6effda466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bd135929d54a96" /><Relationship Type="http://schemas.openxmlformats.org/officeDocument/2006/relationships/notesSlide" Target="/ppt/notesSlides/notesSlide6.xml" Id="Rbac19c782bac43a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392d47dbaa4394" /><Relationship Type="http://schemas.openxmlformats.org/officeDocument/2006/relationships/notesSlide" Target="/ppt/notesSlides/notesSlide7.xml" Id="Ra39696004d38438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f467416ca34936" /><Relationship Type="http://schemas.openxmlformats.org/officeDocument/2006/relationships/notesSlide" Target="/ppt/notesSlides/notesSlide8.xml" Id="R9d9a85977ffd46a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bcd73daeaa4c9e" /><Relationship Type="http://schemas.openxmlformats.org/officeDocument/2006/relationships/notesSlide" Target="/ppt/notesSlides/notesSlide9.xml" Id="Red0376cb1edd46f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3abfd5ab84462e" /><Relationship Type="http://schemas.openxmlformats.org/officeDocument/2006/relationships/notesSlide" Target="/ppt/notesSlides/notesSlide10.xml" Id="Rc0aa97574ab44d3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c01074f16d4a05" /><Relationship Type="http://schemas.openxmlformats.org/officeDocument/2006/relationships/notesSlide" Target="/ppt/notesSlides/notesSlide11.xml" Id="R9cfc6ec211de46d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cb7ba8a91a4db7" /><Relationship Type="http://schemas.openxmlformats.org/officeDocument/2006/relationships/notesSlide" Target="/ppt/notesSlides/notesSlide12.xml" Id="R3480fa27fe074ab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08d54096a644dc" /><Relationship Type="http://schemas.openxmlformats.org/officeDocument/2006/relationships/notesSlide" Target="/ppt/notesSlides/notesSlide13.xml" Id="R392c9942a055453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26a492471349f2" /><Relationship Type="http://schemas.openxmlformats.org/officeDocument/2006/relationships/notesSlide" Target="/ppt/notesSlides/notesSlide14.xml" Id="R64765b485bf6442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e58276dfe54231" /><Relationship Type="http://schemas.openxmlformats.org/officeDocument/2006/relationships/notesSlide" Target="/ppt/notesSlides/notesSlide15.xml" Id="R71361475330e49e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938c971ec341c7" /><Relationship Type="http://schemas.openxmlformats.org/officeDocument/2006/relationships/notesSlide" Target="/ppt/notesSlides/notesSlide16.xml" Id="R79a4329faba348f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3ec882ea444ff9" /><Relationship Type="http://schemas.openxmlformats.org/officeDocument/2006/relationships/notesSlide" Target="/ppt/notesSlides/notesSlide17.xml" Id="R12c87361aa3149e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796fec89f44be0" /><Relationship Type="http://schemas.openxmlformats.org/officeDocument/2006/relationships/notesSlide" Target="/ppt/notesSlides/notesSlide18.xml" Id="Ra72fac99278b479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f2632253e047aa" /><Relationship Type="http://schemas.openxmlformats.org/officeDocument/2006/relationships/notesSlide" Target="/ppt/notesSlides/notesSlide19.xml" Id="R44e9914dd1e2430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f93f56314b4c5c" /><Relationship Type="http://schemas.openxmlformats.org/officeDocument/2006/relationships/notesSlide" Target="/ppt/notesSlides/notesSlide20.xml" Id="Rb40d4e6df6be4e1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bc5b25a02044cc" /><Relationship Type="http://schemas.openxmlformats.org/officeDocument/2006/relationships/notesSlide" Target="/ppt/notesSlides/notesSlide21.xml" Id="R1f02c41a79bd49e9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63c45e982c460e" /><Relationship Type="http://schemas.openxmlformats.org/officeDocument/2006/relationships/notesSlide" Target="/ppt/notesSlides/notesSlide22.xml" Id="R419079b3412649cd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41b85809d94045" /><Relationship Type="http://schemas.openxmlformats.org/officeDocument/2006/relationships/notesSlide" Target="/ppt/notesSlides/notesSlide23.xml" Id="R38d1d15be9484ba8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50d20816f34d42" /><Relationship Type="http://schemas.openxmlformats.org/officeDocument/2006/relationships/notesSlide" Target="/ppt/notesSlides/notesSlide24.xml" Id="R698d27b6ebb7479b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28fc9ff05e4c3b" /><Relationship Type="http://schemas.openxmlformats.org/officeDocument/2006/relationships/notesSlide" Target="/ppt/notesSlides/notesSlide25.xml" Id="Rc27e451bfe534719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29b3b36e7b4120" /><Relationship Type="http://schemas.openxmlformats.org/officeDocument/2006/relationships/image" Target="/ppt/media/image.jpeg" Id="Rf7bd4464d0cc4de1" /><Relationship Type="http://schemas.openxmlformats.org/officeDocument/2006/relationships/hyperlink" Target="https://console.aws.amazon.com/sagemaker/" TargetMode="External" Id="Ra5e63dfcaa12457e" /><Relationship Type="http://schemas.openxmlformats.org/officeDocument/2006/relationships/hyperlink" Target="https://docs.aws.amazon.com/sagemaker/latest/dg/realtime-endpoints-delete-resources.html" TargetMode="External" Id="R546a73a674604c45" /><Relationship Type="http://schemas.openxmlformats.org/officeDocument/2006/relationships/notesSlide" Target="/ppt/notesSlides/notesSlide26.xml" Id="Rb4be3c06869e4332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e70eec67c84db6" /><Relationship Type="http://schemas.openxmlformats.org/officeDocument/2006/relationships/hyperlink" Target="https://docs.aws.amazon.com/sagemaker/latest/dg/serverless-endpoints.html" TargetMode="External" Id="R684141adfd6c4944" /><Relationship Type="http://schemas.openxmlformats.org/officeDocument/2006/relationships/hyperlink" Target="https://docs.aws.amazon.com/sagemaker/latest/dg/realtime-endpoints.html" TargetMode="External" Id="Raa7460bb6f9149c3" /><Relationship Type="http://schemas.openxmlformats.org/officeDocument/2006/relationships/image" Target="/ppt/media/image2.jpeg" Id="Raf5a447609b14ff2" /><Relationship Type="http://schemas.openxmlformats.org/officeDocument/2006/relationships/notesSlide" Target="/ppt/notesSlides/notesSlide27.xml" Id="R333bfbd2f223402f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9cd4c922ce4e11" /><Relationship Type="http://schemas.openxmlformats.org/officeDocument/2006/relationships/hyperlink" Target="https://docs.aws.amazon.com/sagemaker/latest/dg/serverless-endpoints.html" TargetMode="External" Id="Rf4b7a47f58d74d4c" /><Relationship Type="http://schemas.openxmlformats.org/officeDocument/2006/relationships/hyperlink" Target="https://docs.aws.amazon.com/sagemaker/latest/dg/realtime-endpoints.html" TargetMode="External" Id="R62e77e7e4f3a4e4c" /><Relationship Type="http://schemas.openxmlformats.org/officeDocument/2006/relationships/image" Target="/ppt/media/image3.jpeg" Id="Ra12ba6d207364de6" /><Relationship Type="http://schemas.openxmlformats.org/officeDocument/2006/relationships/notesSlide" Target="/ppt/notesSlides/notesSlide28.xml" Id="R1cb33a7029544ff1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f8262021334eac" /><Relationship Type="http://schemas.openxmlformats.org/officeDocument/2006/relationships/hyperlink" Target="https://docs.aws.amazon.com/sagemaker/latest/dg/serverless-endpoints.html" TargetMode="External" Id="R7aa2009bd2644fe8" /><Relationship Type="http://schemas.openxmlformats.org/officeDocument/2006/relationships/hyperlink" Target="https://docs.aws.amazon.com/sagemaker/latest/dg/realtime-endpoints.html" TargetMode="External" Id="R7e41678091c24e6f" /><Relationship Type="http://schemas.openxmlformats.org/officeDocument/2006/relationships/image" Target="/ppt/media/image4.jpeg" Id="Re9127841a5c8479c" /><Relationship Type="http://schemas.openxmlformats.org/officeDocument/2006/relationships/notesSlide" Target="/ppt/notesSlides/notesSlide29.xml" Id="Rd2d14d9136824631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c82bfa08b5467f" /><Relationship Type="http://schemas.openxmlformats.org/officeDocument/2006/relationships/hyperlink" Target="https://docs.aws.amazon.com/sagemaker/latest/dg/serverless-endpoints.html" TargetMode="External" Id="R6e607762ae8a49b8" /><Relationship Type="http://schemas.openxmlformats.org/officeDocument/2006/relationships/hyperlink" Target="https://docs.aws.amazon.com/sagemaker/latest/dg/realtime-endpoints.html" TargetMode="External" Id="Rd7f31157955d4a8e" /><Relationship Type="http://schemas.openxmlformats.org/officeDocument/2006/relationships/image" Target="/ppt/media/image5.jpeg" Id="R579758b7903547aa" /><Relationship Type="http://schemas.openxmlformats.org/officeDocument/2006/relationships/notesSlide" Target="/ppt/notesSlides/notesSlide30.xml" Id="R06cbd85dcb5c4570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eed5d4d091408f" /><Relationship Type="http://schemas.openxmlformats.org/officeDocument/2006/relationships/hyperlink" Target="https://docs.aws.amazon.com/sagemaker/latest/dg/serverless-endpoints.html" TargetMode="External" Id="R29a6f8eacc9e4d29" /><Relationship Type="http://schemas.openxmlformats.org/officeDocument/2006/relationships/hyperlink" Target="https://docs.aws.amazon.com/sagemaker/latest/dg/realtime-endpoints.html" TargetMode="External" Id="R1ce1edb75e6e4dfc" /><Relationship Type="http://schemas.openxmlformats.org/officeDocument/2006/relationships/image" Target="/ppt/media/image6.jpeg" Id="Rca0d6f25f83b49e9" /><Relationship Type="http://schemas.openxmlformats.org/officeDocument/2006/relationships/notesSlide" Target="/ppt/notesSlides/notesSlide31.xml" Id="Rc0ec35d777104273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5ce3b6d8c549fa" /><Relationship Type="http://schemas.openxmlformats.org/officeDocument/2006/relationships/hyperlink" Target="https://docs.aws.amazon.com/sagemaker/latest/dg/serverless-endpoints.html" TargetMode="External" Id="R24465392fa8b4924" /><Relationship Type="http://schemas.openxmlformats.org/officeDocument/2006/relationships/hyperlink" Target="https://docs.aws.amazon.com/sagemaker/latest/dg/realtime-endpoints.html" TargetMode="External" Id="R347779fafa194096" /><Relationship Type="http://schemas.openxmlformats.org/officeDocument/2006/relationships/image" Target="/ppt/media/image7.jpeg" Id="R97a2e4bccd1647d6" /><Relationship Type="http://schemas.openxmlformats.org/officeDocument/2006/relationships/notesSlide" Target="/ppt/notesSlides/notesSlide32.xml" Id="Rdf96d23b89774b85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def06d5f8a4787" /><Relationship Type="http://schemas.openxmlformats.org/officeDocument/2006/relationships/hyperlink" Target="https://docs.aws.amazon.com/sagemaker/latest/dg/serverless-endpoints.html" TargetMode="External" Id="R574ea734124147f4" /><Relationship Type="http://schemas.openxmlformats.org/officeDocument/2006/relationships/hyperlink" Target="https://docs.aws.amazon.com/sagemaker/latest/dg/realtime-endpoints.html" TargetMode="External" Id="R3594e645bfbe4b2f" /><Relationship Type="http://schemas.openxmlformats.org/officeDocument/2006/relationships/image" Target="/ppt/media/image8.jpeg" Id="R41021dfe01c64fe4" /><Relationship Type="http://schemas.openxmlformats.org/officeDocument/2006/relationships/notesSlide" Target="/ppt/notesSlides/notesSlide33.xml" Id="R70a8db9fcab14949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c8b21bb89f4798" /><Relationship Type="http://schemas.openxmlformats.org/officeDocument/2006/relationships/hyperlink" Target="https://docs.aws.amazon.com/sagemaker/latest/dg/serverless-endpoints.html" TargetMode="External" Id="R2d4d72fd9107459e" /><Relationship Type="http://schemas.openxmlformats.org/officeDocument/2006/relationships/hyperlink" Target="https://docs.aws.amazon.com/sagemaker/latest/dg/realtime-endpoints.html" TargetMode="External" Id="R585d3597e885446c" /><Relationship Type="http://schemas.openxmlformats.org/officeDocument/2006/relationships/image" Target="/ppt/media/image9.jpeg" Id="Rc12fb5961282484a" /><Relationship Type="http://schemas.openxmlformats.org/officeDocument/2006/relationships/notesSlide" Target="/ppt/notesSlides/notesSlide34.xml" Id="Rb83be7a82ef54115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35336fc82c49b5" /><Relationship Type="http://schemas.openxmlformats.org/officeDocument/2006/relationships/hyperlink" Target="https://docs.aws.amazon.com/sagemaker/latest/dg/serverless-endpoints.html" TargetMode="External" Id="R5d033da8642142f3" /><Relationship Type="http://schemas.openxmlformats.org/officeDocument/2006/relationships/hyperlink" Target="https://docs.aws.amazon.com/sagemaker/latest/dg/realtime-endpoints.html" TargetMode="External" Id="R1e8f4b4a294b4bb3" /><Relationship Type="http://schemas.openxmlformats.org/officeDocument/2006/relationships/image" Target="/ppt/media/image10.jpeg" Id="R31e3e1563605432e" /><Relationship Type="http://schemas.openxmlformats.org/officeDocument/2006/relationships/notesSlide" Target="/ppt/notesSlides/notesSlide35.xml" Id="R9843b49ac6b1463b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e77e0dae9740d6" /><Relationship Type="http://schemas.openxmlformats.org/officeDocument/2006/relationships/hyperlink" Target="https://docs.aws.amazon.com/sagemaker/latest/dg/serverless-endpoints.html" TargetMode="External" Id="R4b4b85beaa834412" /><Relationship Type="http://schemas.openxmlformats.org/officeDocument/2006/relationships/hyperlink" Target="https://docs.aws.amazon.com/sagemaker/latest/dg/realtime-endpoints.html" TargetMode="External" Id="R12b4f803e4554518" /><Relationship Type="http://schemas.openxmlformats.org/officeDocument/2006/relationships/image" Target="/ppt/media/image11.jpeg" Id="Raad32647b9514055" /><Relationship Type="http://schemas.openxmlformats.org/officeDocument/2006/relationships/notesSlide" Target="/ppt/notesSlides/notesSlide36.xml" Id="Ra671b141a98e4cb0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421e7dab1d4dd0" /><Relationship Type="http://schemas.openxmlformats.org/officeDocument/2006/relationships/hyperlink" Target="https://docs.aws.amazon.com/sagemaker/latest/dg/model-train-storage.html" TargetMode="External" Id="R0ce07f078d744c48" /><Relationship Type="http://schemas.openxmlformats.org/officeDocument/2006/relationships/hyperlink" Target="https://docs.aws.amazon.com/sagemaker/latest/dg/realtime-endpoints.html" TargetMode="External" Id="Rd7307c6422aa4e8c" /><Relationship Type="http://schemas.openxmlformats.org/officeDocument/2006/relationships/image" Target="/ppt/media/image12.jpeg" Id="R8c352496f1854652" /><Relationship Type="http://schemas.openxmlformats.org/officeDocument/2006/relationships/notesSlide" Target="/ppt/notesSlides/notesSlide37.xml" Id="R65ebaa08484e4e02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0af689d5084703" /><Relationship Type="http://schemas.openxmlformats.org/officeDocument/2006/relationships/hyperlink" Target="https://docs.aws.amazon.com/sagemaker/latest/dg/serverless-endpoints.html" TargetMode="External" Id="R64bb6eec85a24447" /><Relationship Type="http://schemas.openxmlformats.org/officeDocument/2006/relationships/hyperlink" Target="https://docs.aws.amazon.com/sagemaker/latest/dg/realtime-endpoints.html" TargetMode="External" Id="Rbecfff2fb4ff477e" /><Relationship Type="http://schemas.openxmlformats.org/officeDocument/2006/relationships/image" Target="/ppt/media/image13.jpeg" Id="Rc45e0c1434b04275" /><Relationship Type="http://schemas.openxmlformats.org/officeDocument/2006/relationships/notesSlide" Target="/ppt/notesSlides/notesSlide38.xml" Id="Re875e47fc88a4bf0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c43e7f535c4c61" /><Relationship Type="http://schemas.openxmlformats.org/officeDocument/2006/relationships/hyperlink" Target="https://docs.aws.amazon.com/sagemaker/latest/dg/serverless-endpoints.html" TargetMode="External" Id="R3eee418e11dd4e8e" /><Relationship Type="http://schemas.openxmlformats.org/officeDocument/2006/relationships/hyperlink" Target="https://docs.aws.amazon.com/sagemaker/latest/dg/realtime-endpoints.html" TargetMode="External" Id="R85e860d226874924" /><Relationship Type="http://schemas.openxmlformats.org/officeDocument/2006/relationships/image" Target="/ppt/media/image14.jpeg" Id="R33481eca6e4a4b18" /><Relationship Type="http://schemas.openxmlformats.org/officeDocument/2006/relationships/notesSlide" Target="/ppt/notesSlides/notesSlide39.xml" Id="Rb8d6a5d2216b4c10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163aeddca04569" /><Relationship Type="http://schemas.openxmlformats.org/officeDocument/2006/relationships/hyperlink" Target="https://docs.aws.amazon.com/sagemaker/latest/dg/serverless-endpoints.html" TargetMode="External" Id="R201ef19c62724953" /><Relationship Type="http://schemas.openxmlformats.org/officeDocument/2006/relationships/hyperlink" Target="https://docs.aws.amazon.com/sagemaker/latest/dg/realtime-endpoints.html" TargetMode="External" Id="R4043c5bb40604b83" /><Relationship Type="http://schemas.openxmlformats.org/officeDocument/2006/relationships/image" Target="/ppt/media/image15.jpeg" Id="Rc053544e1f654bd0" /><Relationship Type="http://schemas.openxmlformats.org/officeDocument/2006/relationships/notesSlide" Target="/ppt/notesSlides/notesSlide40.xml" Id="R3dc6c38163c04349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03870702ee4a2f" /><Relationship Type="http://schemas.openxmlformats.org/officeDocument/2006/relationships/hyperlink" Target="https://docs.aws.amazon.com/sagemaker/latest/dg/regions-quotas.html" TargetMode="External" Id="R88af7bc163a74b48" /><Relationship Type="http://schemas.openxmlformats.org/officeDocument/2006/relationships/hyperlink" Target="https://docs.aws.amazon.com/sagemaker/latest/dg/realtime-endpoints.html" TargetMode="External" Id="Rc542ea6f21474273" /><Relationship Type="http://schemas.openxmlformats.org/officeDocument/2006/relationships/image" Target="/ppt/media/image16.jpeg" Id="R759172a1d5324c1a" /><Relationship Type="http://schemas.openxmlformats.org/officeDocument/2006/relationships/notesSlide" Target="/ppt/notesSlides/notesSlide41.xml" Id="Ra1099def22924c52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40a47d64de42d2" /><Relationship Type="http://schemas.openxmlformats.org/officeDocument/2006/relationships/hyperlink" Target="https://docs.aws.amazon.com/sagemaker/latest/dg/regions-quotas.html" TargetMode="External" Id="Rddf8cb6ae01b4215" /><Relationship Type="http://schemas.openxmlformats.org/officeDocument/2006/relationships/hyperlink" Target="https://docs.aws.amazon.com/sagemaker/latest/dg/realtime-endpoints.html" TargetMode="External" Id="R24c859f8897b4c52" /><Relationship Type="http://schemas.openxmlformats.org/officeDocument/2006/relationships/image" Target="/ppt/media/image17.jpeg" Id="R3a8c00fc988e4684" /><Relationship Type="http://schemas.openxmlformats.org/officeDocument/2006/relationships/notesSlide" Target="/ppt/notesSlides/notesSlide42.xml" Id="R21b04f28140f4439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0c73974e1b4c0b" /><Relationship Type="http://schemas.openxmlformats.org/officeDocument/2006/relationships/hyperlink" Target="https://docs.aws.amazon.com/sagemaker/latest/dg/regions-quotas.html" TargetMode="External" Id="R18fb80dda45a4e74" /><Relationship Type="http://schemas.openxmlformats.org/officeDocument/2006/relationships/hyperlink" Target="https://docs.aws.amazon.com/sagemaker/latest/dg/realtime-endpoints.html" TargetMode="External" Id="R40714b5286b04662" /><Relationship Type="http://schemas.openxmlformats.org/officeDocument/2006/relationships/image" Target="/ppt/media/image18.jpeg" Id="R4e4ebac8594c4ea8" /><Relationship Type="http://schemas.openxmlformats.org/officeDocument/2006/relationships/notesSlide" Target="/ppt/notesSlides/notesSlide43.xml" Id="R03251c14f9f04210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374b9c96fa4724" /><Relationship Type="http://schemas.openxmlformats.org/officeDocument/2006/relationships/hyperlink" Target="https://docs.aws.amazon.com/sagemaker/latest/dg/serverless-endpoints.html" TargetMode="External" Id="Rbfdfce8771e74396" /><Relationship Type="http://schemas.openxmlformats.org/officeDocument/2006/relationships/hyperlink" Target="https://docs.aws.amazon.com/sagemaker/latest/dg/realtime-endpoints.html" TargetMode="External" Id="R7685866fe01b485f" /><Relationship Type="http://schemas.openxmlformats.org/officeDocument/2006/relationships/image" Target="/ppt/media/image19.jpeg" Id="R4f32f92786f14a6a" /><Relationship Type="http://schemas.openxmlformats.org/officeDocument/2006/relationships/notesSlide" Target="/ppt/notesSlides/notesSlide44.xml" Id="Rb241c00fef784330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2b13cab79f43b5" /><Relationship Type="http://schemas.openxmlformats.org/officeDocument/2006/relationships/hyperlink" Target="https://docs.aws.amazon.com/sagemaker/latest/dg/serverless-endpoints.html" TargetMode="External" Id="Rb5c0bc32e2b54fdd" /><Relationship Type="http://schemas.openxmlformats.org/officeDocument/2006/relationships/hyperlink" Target="https://docs.aws.amazon.com/sagemaker/latest/dg/realtime-endpoints.html" TargetMode="External" Id="R071827f5a7f5402c" /><Relationship Type="http://schemas.openxmlformats.org/officeDocument/2006/relationships/image" Target="/ppt/media/image20.jpeg" Id="R8e2bdb80350042e9" /><Relationship Type="http://schemas.openxmlformats.org/officeDocument/2006/relationships/notesSlide" Target="/ppt/notesSlides/notesSlide45.xml" Id="Rd5ae1040a2e94207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080ab3c1cb4d38" /><Relationship Type="http://schemas.openxmlformats.org/officeDocument/2006/relationships/hyperlink" Target="https://docs.aws.amazon.com/sagemaker/latest/dg/serverless-endpoints.html" TargetMode="External" Id="R8de5cdfdef704592" /><Relationship Type="http://schemas.openxmlformats.org/officeDocument/2006/relationships/hyperlink" Target="https://docs.aws.amazon.com/sagemaker/latest/dg/realtime-endpoints.html" TargetMode="External" Id="R4f3985de6db341dc" /><Relationship Type="http://schemas.openxmlformats.org/officeDocument/2006/relationships/image" Target="/ppt/media/image21.jpeg" Id="R8ca21d5c1cea4c6c" /><Relationship Type="http://schemas.openxmlformats.org/officeDocument/2006/relationships/notesSlide" Target="/ppt/notesSlides/notesSlide46.xml" Id="Ra0709691a72c4170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a732b4104848d0" /><Relationship Type="http://schemas.openxmlformats.org/officeDocument/2006/relationships/hyperlink" Target="https://docs.aws.amazon.com/sagemaker/latest/dg/serverless-endpoints.html" TargetMode="External" Id="R7f9f7aa7d3a74077" /><Relationship Type="http://schemas.openxmlformats.org/officeDocument/2006/relationships/hyperlink" Target="https://docs.aws.amazon.com/sagemaker/latest/dg/realtime-endpoints.html" TargetMode="External" Id="R38419cbd8bb04fd6" /><Relationship Type="http://schemas.openxmlformats.org/officeDocument/2006/relationships/image" Target="/ppt/media/image22.jpeg" Id="R405a08652aff4b94" /><Relationship Type="http://schemas.openxmlformats.org/officeDocument/2006/relationships/notesSlide" Target="/ppt/notesSlides/notesSlide47.xml" Id="Re345506ae3424bd3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e159521a9146ee" /><Relationship Type="http://schemas.openxmlformats.org/officeDocument/2006/relationships/hyperlink" Target="https://docs.aws.amazon.com/AWSEC2/latest/UserGuide/Stop_Start.html" TargetMode="External" Id="R941795bb65854e1b" /><Relationship Type="http://schemas.openxmlformats.org/officeDocument/2006/relationships/hyperlink" Target="https://docs.aws.amazon.com/sagemaker/latest/dg/realtime-endpoints.html" TargetMode="External" Id="Re7748296c5cd404f" /><Relationship Type="http://schemas.openxmlformats.org/officeDocument/2006/relationships/image" Target="/ppt/media/image23.jpeg" Id="Re482e86b90fc475c" /><Relationship Type="http://schemas.openxmlformats.org/officeDocument/2006/relationships/notesSlide" Target="/ppt/notesSlides/notesSlide48.xml" Id="Rfc1d7105615e472e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db62cb2b904af5" /><Relationship Type="http://schemas.openxmlformats.org/officeDocument/2006/relationships/hyperlink" Target="https://docs.aws.amazon.com/sagemaker/latest/dg/serverless-endpoints.html" TargetMode="External" Id="R8f7580b1d96b436f" /><Relationship Type="http://schemas.openxmlformats.org/officeDocument/2006/relationships/hyperlink" Target="https://docs.aws.amazon.com/sagemaker/latest/dg/realtime-endpoints.html" TargetMode="External" Id="Rfe3135ac47344eaf" /><Relationship Type="http://schemas.openxmlformats.org/officeDocument/2006/relationships/image" Target="/ppt/media/image24.jpeg" Id="Rb2163c72f55046ee" /><Relationship Type="http://schemas.openxmlformats.org/officeDocument/2006/relationships/notesSlide" Target="/ppt/notesSlides/notesSlide49.xml" Id="Rf2676d0f3c684ef8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e0fde6eadb4438" /><Relationship Type="http://schemas.openxmlformats.org/officeDocument/2006/relationships/hyperlink" Target="https://docs.aws.amazon.com/sagemaker/latest/dg/serverless-endpoints.html" TargetMode="External" Id="R06ba4c5a571d4b4e" /><Relationship Type="http://schemas.openxmlformats.org/officeDocument/2006/relationships/hyperlink" Target="https://docs.aws.amazon.com/sagemaker/latest/dg/realtime-endpoints.html" TargetMode="External" Id="R2f4d196d14b54617" /><Relationship Type="http://schemas.openxmlformats.org/officeDocument/2006/relationships/image" Target="/ppt/media/image25.jpeg" Id="Rce0f69c6b2594507" /><Relationship Type="http://schemas.openxmlformats.org/officeDocument/2006/relationships/notesSlide" Target="/ppt/notesSlides/notesSlide50.xml" Id="Rcb35812a6fef46f2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749ae55db243aa" /><Relationship Type="http://schemas.openxmlformats.org/officeDocument/2006/relationships/hyperlink" Target="https://docs.aws.amazon.com/sagemaker/latest/dg/serverless-endpoints.html" TargetMode="External" Id="R72150e613a764815" /><Relationship Type="http://schemas.openxmlformats.org/officeDocument/2006/relationships/hyperlink" Target="https://docs.aws.amazon.com/sagemaker/latest/dg/realtime-endpoints.html" TargetMode="External" Id="R54a37a3821b24520" /><Relationship Type="http://schemas.openxmlformats.org/officeDocument/2006/relationships/image" Target="/ppt/media/image26.jpeg" Id="R4aaf126038de4b03" /><Relationship Type="http://schemas.openxmlformats.org/officeDocument/2006/relationships/notesSlide" Target="/ppt/notesSlides/notesSlide51.xml" Id="R489691a261994e50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8f653b243e480f" /><Relationship Type="http://schemas.openxmlformats.org/officeDocument/2006/relationships/hyperlink" Target="https://docs.aws.amazon.com/sagemaker/latest/dg/serverless-endpoints.html" TargetMode="External" Id="Rf55767ead5c34bfc" /><Relationship Type="http://schemas.openxmlformats.org/officeDocument/2006/relationships/hyperlink" Target="https://docs.aws.amazon.com/sagemaker/latest/dg/realtime-endpoints.html" TargetMode="External" Id="R1b6117b7669645ea" /><Relationship Type="http://schemas.openxmlformats.org/officeDocument/2006/relationships/image" Target="/ppt/media/image27.jpeg" Id="R7a1657de61be4908" /><Relationship Type="http://schemas.openxmlformats.org/officeDocument/2006/relationships/notesSlide" Target="/ppt/notesSlides/notesSlide52.xml" Id="R3232373a2d974c4d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e89869faf04638" /><Relationship Type="http://schemas.openxmlformats.org/officeDocument/2006/relationships/hyperlink" Target="https://docs.aws.amazon.com/AmazonECR/latest/userguide/Repositories.html" TargetMode="External" Id="R418bb1790ac54b4c" /><Relationship Type="http://schemas.openxmlformats.org/officeDocument/2006/relationships/hyperlink" Target="https://docs.aws.amazon.com/sagemaker/latest/dg/realtime-endpoints.html" TargetMode="External" Id="R73b4c1392eaa4a68" /><Relationship Type="http://schemas.openxmlformats.org/officeDocument/2006/relationships/image" Target="/ppt/media/image28.jpeg" Id="R15ea7281c3854363" /><Relationship Type="http://schemas.openxmlformats.org/officeDocument/2006/relationships/notesSlide" Target="/ppt/notesSlides/notesSlide53.xml" Id="R0f606dac5b94418a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1d10ec2d3043bd" /><Relationship Type="http://schemas.openxmlformats.org/officeDocument/2006/relationships/hyperlink" Target="https://docs.aws.amazon.com/sagemaker/latest/dg/serverless-endpoints.html" TargetMode="External" Id="R4dc669ee28b14f5a" /><Relationship Type="http://schemas.openxmlformats.org/officeDocument/2006/relationships/hyperlink" Target="https://docs.aws.amazon.com/sagemaker/latest/dg/realtime-endpoints.html" TargetMode="External" Id="Rd6742a8c8c974eed" /><Relationship Type="http://schemas.openxmlformats.org/officeDocument/2006/relationships/image" Target="/ppt/media/image29.jpeg" Id="R8f7592a331384c38" /><Relationship Type="http://schemas.openxmlformats.org/officeDocument/2006/relationships/notesSlide" Target="/ppt/notesSlides/notesSlide54.xml" Id="R5f523410f89a4220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007112e21e4faa" /><Relationship Type="http://schemas.openxmlformats.org/officeDocument/2006/relationships/hyperlink" Target="https://docs.aws.amazon.com/AWSEC2/latest/UserGuide/Stop_Start.html" TargetMode="External" Id="R81e6d422029b46c9" /><Relationship Type="http://schemas.openxmlformats.org/officeDocument/2006/relationships/hyperlink" Target="https://docs.aws.amazon.com/sagemaker/latest/dg/realtime-endpoints.html" TargetMode="External" Id="R5dc3a4a1fab448bb" /><Relationship Type="http://schemas.openxmlformats.org/officeDocument/2006/relationships/image" Target="/ppt/media/image30.jpeg" Id="R5b266cd1d1fb4f7a" /><Relationship Type="http://schemas.openxmlformats.org/officeDocument/2006/relationships/notesSlide" Target="/ppt/notesSlides/notesSlide55.xml" Id="Rbc9ee07d70024f86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ab54ad4d884fac" /><Relationship Type="http://schemas.openxmlformats.org/officeDocument/2006/relationships/hyperlink" Target="https://docs.aws.amazon.com/sagemaker/latest/dg/serverless-endpoints.html" TargetMode="External" Id="Rfc9dedec56ba464c" /><Relationship Type="http://schemas.openxmlformats.org/officeDocument/2006/relationships/hyperlink" Target="https://docs.aws.amazon.com/sagemaker/latest/dg/realtime-endpoints.html" TargetMode="External" Id="R81a0c81add764ba6" /><Relationship Type="http://schemas.openxmlformats.org/officeDocument/2006/relationships/image" Target="/ppt/media/image31.jpeg" Id="R771b31d21d7a4cf0" /><Relationship Type="http://schemas.openxmlformats.org/officeDocument/2006/relationships/notesSlide" Target="/ppt/notesSlides/notesSlide56.xml" Id="R2fa0e19aa4c74551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37810568f44761" /><Relationship Type="http://schemas.openxmlformats.org/officeDocument/2006/relationships/hyperlink" Target="https://docs.aws.amazon.com/sagemaker/latest/dg/serverless-endpoints.html" TargetMode="External" Id="R9b5d4b43ed464923" /><Relationship Type="http://schemas.openxmlformats.org/officeDocument/2006/relationships/hyperlink" Target="https://docs.aws.amazon.com/sagemaker/latest/dg/realtime-endpoints.html" TargetMode="External" Id="Re34823bd5f5c4628" /><Relationship Type="http://schemas.openxmlformats.org/officeDocument/2006/relationships/image" Target="/ppt/media/image32.jpeg" Id="R4968ed30b90e4795" /><Relationship Type="http://schemas.openxmlformats.org/officeDocument/2006/relationships/notesSlide" Target="/ppt/notesSlides/notesSlide57.xml" Id="Rfaa605c717014677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08bbdf1f54446d" /><Relationship Type="http://schemas.openxmlformats.org/officeDocument/2006/relationships/hyperlink" Target="https://docs.aws.amazon.com/sagemaker/latest/dg/serverless-endpoints.html" TargetMode="External" Id="R3287e26d174b4146" /><Relationship Type="http://schemas.openxmlformats.org/officeDocument/2006/relationships/hyperlink" Target="https://docs.aws.amazon.com/sagemaker/latest/dg/realtime-endpoints.html" TargetMode="External" Id="Rec0ed8a483c14d64" /><Relationship Type="http://schemas.openxmlformats.org/officeDocument/2006/relationships/image" Target="/ppt/media/image33.jpeg" Id="R943c0cb928b941cb" /><Relationship Type="http://schemas.openxmlformats.org/officeDocument/2006/relationships/notesSlide" Target="/ppt/notesSlides/notesSlide58.xml" Id="R6dd58cdfc67d4849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a51b7d314347df" /><Relationship Type="http://schemas.openxmlformats.org/officeDocument/2006/relationships/hyperlink" Target="https://docs.aws.amazon.com/sagemaker/latest/dg/serverless-endpoints.html" TargetMode="External" Id="R07ee1b3c888b4c71" /><Relationship Type="http://schemas.openxmlformats.org/officeDocument/2006/relationships/hyperlink" Target="https://docs.aws.amazon.com/sagemaker/latest/dg/realtime-endpoints.html" TargetMode="External" Id="R606eddb8207e4cdf" /><Relationship Type="http://schemas.openxmlformats.org/officeDocument/2006/relationships/image" Target="/ppt/media/image34.jpeg" Id="Rd24f4dbec62d4f4c" /><Relationship Type="http://schemas.openxmlformats.org/officeDocument/2006/relationships/notesSlide" Target="/ppt/notesSlides/notesSlide59.xml" Id="R829b4103defd4904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efad87fc1343cf" /><Relationship Type="http://schemas.openxmlformats.org/officeDocument/2006/relationships/hyperlink" Target="https://docs.aws.amazon.com/sagemaker/latest/dg/serverless-endpoints.html" TargetMode="External" Id="R39c09363d179451a" /><Relationship Type="http://schemas.openxmlformats.org/officeDocument/2006/relationships/hyperlink" Target="https://docs.aws.amazon.com/sagemaker/latest/dg/realtime-endpoints.html" TargetMode="External" Id="R2cdcf75cb6be4e05" /><Relationship Type="http://schemas.openxmlformats.org/officeDocument/2006/relationships/image" Target="/ppt/media/image35.jpeg" Id="R8a1f34fe8cd54b93" /><Relationship Type="http://schemas.openxmlformats.org/officeDocument/2006/relationships/notesSlide" Target="/ppt/notesSlides/notesSlide60.xml" Id="R8b65d980e05c4411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ce50ed65d646a1" /><Relationship Type="http://schemas.openxmlformats.org/officeDocument/2006/relationships/hyperlink" Target="https://docs.aws.amazon.com/sagemaker/latest/dg/serverless-endpoints.html" TargetMode="External" Id="R16105744302346ac" /><Relationship Type="http://schemas.openxmlformats.org/officeDocument/2006/relationships/hyperlink" Target="https://docs.aws.amazon.com/sagemaker/latest/dg/realtime-endpoints.html" TargetMode="External" Id="Ra62672f37644449a" /><Relationship Type="http://schemas.openxmlformats.org/officeDocument/2006/relationships/image" Target="/ppt/media/image36.jpeg" Id="Rb3d62e7885794740" /><Relationship Type="http://schemas.openxmlformats.org/officeDocument/2006/relationships/notesSlide" Target="/ppt/notesSlides/notesSlide61.xml" Id="Rcdbc1da90c6e453c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ea5bfa3d324235" /><Relationship Type="http://schemas.openxmlformats.org/officeDocument/2006/relationships/hyperlink" Target="https://docs.aws.amazon.com/sagemaker/latest/dg/serverless-endpoints.html" TargetMode="External" Id="R5a51a2eab6e6452d" /><Relationship Type="http://schemas.openxmlformats.org/officeDocument/2006/relationships/hyperlink" Target="https://docs.aws.amazon.com/sagemaker/latest/dg/realtime-endpoints.html" TargetMode="External" Id="R3553a84d31654599" /><Relationship Type="http://schemas.openxmlformats.org/officeDocument/2006/relationships/image" Target="/ppt/media/image37.jpeg" Id="Reb192ba8b06c4b00" /><Relationship Type="http://schemas.openxmlformats.org/officeDocument/2006/relationships/notesSlide" Target="/ppt/notesSlides/notesSlide62.xml" Id="Ra02134b9bf384c0e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bfef38ff514bd2" /><Relationship Type="http://schemas.openxmlformats.org/officeDocument/2006/relationships/hyperlink" Target="https://docs.aws.amazon.com/sagemaker/latest/dg/serverless-endpoints.html" TargetMode="External" Id="R3615c979210d4c72" /><Relationship Type="http://schemas.openxmlformats.org/officeDocument/2006/relationships/hyperlink" Target="https://docs.aws.amazon.com/sagemaker/latest/dg/realtime-endpoints.html" TargetMode="External" Id="R5b9a00eaef1b4b89" /><Relationship Type="http://schemas.openxmlformats.org/officeDocument/2006/relationships/image" Target="/ppt/media/image38.jpeg" Id="R6c4e8acfa33240b3" /><Relationship Type="http://schemas.openxmlformats.org/officeDocument/2006/relationships/notesSlide" Target="/ppt/notesSlides/notesSlide63.xml" Id="R58ec49d923ea4e3f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db1d9f4a9c4da8" /><Relationship Type="http://schemas.openxmlformats.org/officeDocument/2006/relationships/hyperlink" Target="https://docs.aws.amazon.com/sagemaker/latest/dg/serverless-endpoints.html" TargetMode="External" Id="Rb4cd528cab5c4f3c" /><Relationship Type="http://schemas.openxmlformats.org/officeDocument/2006/relationships/hyperlink" Target="https://docs.aws.amazon.com/sagemaker/latest/dg/realtime-endpoints.html" TargetMode="External" Id="R70baeb8b2daf4968" /><Relationship Type="http://schemas.openxmlformats.org/officeDocument/2006/relationships/image" Target="/ppt/media/image39.jpeg" Id="Rc857d08dba164909" /><Relationship Type="http://schemas.openxmlformats.org/officeDocument/2006/relationships/notesSlide" Target="/ppt/notesSlides/notesSlide64.xml" Id="Rccab8b3e83574797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9466790dcc4f78" /><Relationship Type="http://schemas.openxmlformats.org/officeDocument/2006/relationships/hyperlink" Target="https://docs.aws.amazon.com/sagemaker/latest/dg/serverless-endpoints.html" TargetMode="External" Id="Rc1a3b55fca3440ff" /><Relationship Type="http://schemas.openxmlformats.org/officeDocument/2006/relationships/hyperlink" Target="https://docs.aws.amazon.com/sagemaker/latest/dg/realtime-endpoints.html" TargetMode="External" Id="R7bbabe1c6dbe411e" /><Relationship Type="http://schemas.openxmlformats.org/officeDocument/2006/relationships/image" Target="/ppt/media/image40.jpeg" Id="Rcd85ca73e4a142df" /><Relationship Type="http://schemas.openxmlformats.org/officeDocument/2006/relationships/notesSlide" Target="/ppt/notesSlides/notesSlide65.xml" Id="R602a9dc8648443ab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75d39f9df04083" /><Relationship Type="http://schemas.openxmlformats.org/officeDocument/2006/relationships/hyperlink" Target="https://docs.aws.amazon.com/sagemaker/latest/dg/serverless-endpoints.html" TargetMode="External" Id="Rac4e7daee2824571" /><Relationship Type="http://schemas.openxmlformats.org/officeDocument/2006/relationships/hyperlink" Target="https://docs.aws.amazon.com/sagemaker/latest/dg/realtime-endpoints.html" TargetMode="External" Id="Rb6916242587b466b" /><Relationship Type="http://schemas.openxmlformats.org/officeDocument/2006/relationships/image" Target="/ppt/media/image41.jpeg" Id="R6fd8dd8e4d6b446e" /><Relationship Type="http://schemas.openxmlformats.org/officeDocument/2006/relationships/notesSlide" Target="/ppt/notesSlides/notesSlide66.xml" Id="R45223186202146db" /></Relationships>
</file>

<file path=ppt/slides/_rels/slide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8e26fa4c0b41e7" /><Relationship Type="http://schemas.openxmlformats.org/officeDocument/2006/relationships/hyperlink" Target="https://docs.aws.amazon.com/sagemaker/latest/dg/serverless-endpoints.html" TargetMode="External" Id="R60041f6d0cfa4b7c" /><Relationship Type="http://schemas.openxmlformats.org/officeDocument/2006/relationships/hyperlink" Target="https://docs.aws.amazon.com/sagemaker/latest/dg/realtime-endpoints.html" TargetMode="External" Id="R63fb82a6a6944432" /><Relationship Type="http://schemas.openxmlformats.org/officeDocument/2006/relationships/image" Target="/ppt/media/image42.jpeg" Id="R760c407895354b67" /><Relationship Type="http://schemas.openxmlformats.org/officeDocument/2006/relationships/notesSlide" Target="/ppt/notesSlides/notesSlide67.xml" Id="R9cfee65410e94e19" /></Relationships>
</file>

<file path=ppt/slides/_rels/slide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e6edc1ad974d77" /><Relationship Type="http://schemas.openxmlformats.org/officeDocument/2006/relationships/hyperlink" Target="https://docs.aws.amazon.com/sagemaker/latest/dg/serverless-endpoints.html" TargetMode="External" Id="R43c69530ff43444a" /><Relationship Type="http://schemas.openxmlformats.org/officeDocument/2006/relationships/hyperlink" Target="https://docs.aws.amazon.com/sagemaker/latest/dg/realtime-endpoints.html" TargetMode="External" Id="R701f8f7c6b9f4f78" /><Relationship Type="http://schemas.openxmlformats.org/officeDocument/2006/relationships/image" Target="/ppt/media/image43.jpeg" Id="R8187fa103ea44aeb" /><Relationship Type="http://schemas.openxmlformats.org/officeDocument/2006/relationships/notesSlide" Target="/ppt/notesSlides/notesSlide68.xml" Id="Rb7d2f72c59a54eb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332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11F2D7E-1D81-44D8-9BF2-52C222DDA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0" y="-1371600"/>
            <a:ext cx="4754880" cy="4754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5B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378D570-E869-4A48-A07E-10BB2EAF1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0" y="4206240"/>
            <a:ext cx="2834640" cy="2834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A2118633-89BD-4474-AFD3-753DFA584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234440"/>
            <a:ext cx="54864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400" b="1">
                <a:solidFill>
                  <a:srgbClr val="02C39A"/>
                </a:solidFill>
                <a:latin typeface="맑은 고딕"/>
                <a:ea typeface="맑은 고딕"/>
                <a:cs typeface="맑은 고딕"/>
              </a:rPr>
              <a:t>10  주차</a:t>
            </a:r>
            <a:endParaRPr sz="84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03F1EB9A-6D16-4D16-BBDC-A2EAE0B20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697480"/>
            <a:ext cx="859536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관리형 ML 서비스 (Amazon SageMaker AI)</a:t>
            </a:r>
            <a:endParaRPr sz="36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BFE14AE-F789-4B6A-87D4-FEA82D99D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160520"/>
            <a:ext cx="84124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A8C6CC"/>
                </a:solidFill>
                <a:latin typeface="맑은 고딕"/>
                <a:ea typeface="맑은 고딕"/>
                <a:cs typeface="맑은 고딕"/>
              </a:rPr>
              <a:t>SageMaker로 학습과 배포를 해보고, 직접 구축 방식과 비용·자유도를 비교해 설명할 수 있다</a:t>
            </a:r>
            <a:endParaRPr sz="14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6F16A49A-4C91-4085-8221-69E1F881C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230368"/>
            <a:ext cx="8412480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A66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F875978A-FA7D-47A3-9431-089083CBA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394960"/>
            <a:ext cx="54864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7FA3AB"/>
                </a:solidFill>
                <a:latin typeface="맑은 고딕"/>
                <a:ea typeface="맑은 고딕"/>
                <a:cs typeface="맑은 고딕"/>
              </a:rPr>
              <a:t>클라우드 MLOps · 연성대학교 · 230분</a:t>
            </a:r>
            <a:endParaRPr sz="11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345F8F6F-F017-403F-B7D9-23124AF8A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724144"/>
            <a:ext cx="100584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6E939B"/>
                </a:solidFill>
                <a:latin typeface="Consolas"/>
                <a:ea typeface="Consolas"/>
                <a:cs typeface="Consolas"/>
              </a:rPr>
              <a:t>NCS  2001070105_18v1.1   2001070105_18v1.4   2001070101_18v1.5</a:t>
            </a:r>
            <a:endParaRPr sz="950"/>
          </a:p>
        </p:txBody>
      </p:sp>
    </p:spTree>
    <p:extLst>
      <p:ext uri="{BB962C8B-B14F-4D97-AF65-F5344CB8AC3E}">
        <p14:creationId xmlns:p14="http://schemas.microsoft.com/office/powerpoint/2010/main" val="192405628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614E795-B494-4284-B6DF-FE826BF9D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오늘의 흐름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97032CB-BEC8-452C-8F43-CCA6A1858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230분 · 마지막 5분은 조교 1:1 삭제 점검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F1369BE-CCFE-427C-BFD0-EE8E1AD9F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81328"/>
            <a:ext cx="11057839" cy="530352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A80D842E-F23B-4A1C-9965-1E3B6EBFD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1481328"/>
            <a:ext cx="76809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도입 — 복습 퀴즈 + 비용 경고 브리핑 + 데모</a:t>
            </a:r>
            <a:endParaRPr sz="13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FC42483C-8F52-4472-8EC4-4CD9803C7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7407" y="1481328"/>
            <a:ext cx="15087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50" b="1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10분</a:t>
            </a:r>
            <a:endParaRPr sz="135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EF1CD2ED-E0F8-4F42-9D4C-B4DB2CF31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084832"/>
            <a:ext cx="11057839" cy="530352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B4629CA8-DF07-441D-A4E9-274140080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2084832"/>
            <a:ext cx="76809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이론 — 관리형이 대신 해주는 것과 잃는 것, 과금 구조</a:t>
            </a:r>
            <a:endParaRPr sz="13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84C80772-2359-42C6-9D29-D430DD52B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7407" y="2084832"/>
            <a:ext cx="15087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50" b="1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45분</a:t>
            </a:r>
            <a:endParaRPr sz="13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76CF37A6-1EBF-4BC6-B935-F3233F51D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688336"/>
            <a:ext cx="11057839" cy="530352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1D37F6ED-FDAD-48D1-813A-32597604C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2688336"/>
            <a:ext cx="76809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휴식</a:t>
            </a:r>
            <a:endParaRPr sz="135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11A0D069-1138-4643-AF98-0EEFED509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7407" y="2688336"/>
            <a:ext cx="15087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50" b="1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10분</a:t>
            </a:r>
            <a:endParaRPr sz="135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9F31F2CF-57F7-4A60-A374-0C762E3DA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0"/>
            <a:ext cx="11057839" cy="530352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5875">
            <a:solidFill>
              <a:srgbClr val="028090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49E8A6C5-4B9E-467C-87BB-A4A73E0D4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3291840"/>
            <a:ext cx="76809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실습 A — Studio 노트북 기동, 학습 잡 실행</a:t>
            </a:r>
            <a:endParaRPr sz="13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4B67B2E0-39C9-43F1-9688-0E24E22DA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7407" y="3291840"/>
            <a:ext cx="15087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50" b="1">
                <a:solidFill>
                  <a:srgbClr val="028090"/>
                </a:solidFill>
                <a:latin typeface="맑은 고딕"/>
                <a:ea typeface="맑은 고딕"/>
                <a:cs typeface="맑은 고딕"/>
              </a:rPr>
              <a:t>50분</a:t>
            </a:r>
            <a:endParaRPr sz="13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4ECA4339-87C8-4AA8-8BB2-A1798F6DD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95344"/>
            <a:ext cx="11057839" cy="530352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1703432C-EB0A-4913-BFB5-E31FFDD29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3895344"/>
            <a:ext cx="76809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휴식 (스페이스 상태 1차 점검)</a:t>
            </a:r>
            <a:endParaRPr sz="135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630D22CB-45DE-4B7F-A60C-52F5723AC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7407" y="3895344"/>
            <a:ext cx="15087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50" b="1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10분</a:t>
            </a:r>
            <a:endParaRPr sz="13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D9C5D4B3-B974-4AEE-B820-BB5221DAF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498848"/>
            <a:ext cx="11057839" cy="530352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5875">
            <a:solidFill>
              <a:srgbClr val="028090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10BB8052-307C-4080-BFE4-DC41EC73D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4498848"/>
            <a:ext cx="76809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실습 B — 엔드포인트 배포, 호출, 즉시 삭제, 비교표</a:t>
            </a:r>
            <a:endParaRPr sz="135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20D8C873-1616-43B5-A795-7A652188D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7407" y="4498848"/>
            <a:ext cx="15087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50" b="1">
                <a:solidFill>
                  <a:srgbClr val="028090"/>
                </a:solidFill>
                <a:latin typeface="맑은 고딕"/>
                <a:ea typeface="맑은 고딕"/>
                <a:cs typeface="맑은 고딕"/>
              </a:rPr>
              <a:t>85분</a:t>
            </a:r>
            <a:endParaRPr sz="135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D2508C76-E28A-4C6C-9E36-7E98A9C1C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102352"/>
            <a:ext cx="11057839" cy="530352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77EED5EA-5675-4A96-9C0D-AB4F93C3E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5102352"/>
            <a:ext cx="76809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체크포인트 제출 + 다음 주 예고</a:t>
            </a:r>
            <a:endParaRPr sz="135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CB3386AE-79A1-4842-BC70-6CB9C5505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7407" y="5102352"/>
            <a:ext cx="15087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50" b="1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15분</a:t>
            </a:r>
            <a:endParaRPr sz="1350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78A255A9-CBE1-4147-BF97-74C2873AB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705856"/>
            <a:ext cx="11057839" cy="530352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5875">
            <a:solidFill>
              <a:srgbClr val="028090"/>
            </a:solidFill>
            <a:prstDash val="solid"/>
          </a:ln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F961F811-F4EE-49B2-A096-FBEE153BC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5705856"/>
            <a:ext cx="76809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리소스 정리 타임 — 조교 1:1 삭제 확인</a:t>
            </a:r>
            <a:endParaRPr sz="135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7E686BF3-93AD-4865-A05D-0EA2F338C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7407" y="5705856"/>
            <a:ext cx="15087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50" b="1">
                <a:solidFill>
                  <a:srgbClr val="028090"/>
                </a:solidFill>
                <a:latin typeface="맑은 고딕"/>
                <a:ea typeface="맑은 고딕"/>
                <a:cs typeface="맑은 고딕"/>
              </a:rPr>
              <a:t>5분</a:t>
            </a:r>
            <a:endParaRPr sz="135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CEEAEEA0-DA72-4CDE-8480-768C75E26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10주차</a:t>
            </a:r>
            <a:endParaRPr sz="90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ABEEF8E4-5563-43CA-BD82-ADB886857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59325445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CD69719-0170-47B7-92B5-155E55453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오늘은 실제로 돈이 나가는 회차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C4206A9-04CE-4C55-9486-C46EC01B3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생략하지 말고 학생들이 따라 읽게 합니다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7F1D6CC-F8A3-4D08-A324-7B9E737EC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81328"/>
            <a:ext cx="11057839" cy="393192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FCF1E6"/>
          </a:solidFill>
          <a:ln xmlns:a="http://schemas.openxmlformats.org/drawingml/2006/main" w="19050">
            <a:solidFill>
              <a:srgbClr val="D97A2B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DC247B08-D027-4B20-8268-2C81362D0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1773936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A2B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1DD51994-440F-4EAB-9DA0-57A5BF8A4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1773936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!</a:t>
            </a:r>
            <a:endParaRPr sz="26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F197D55A-31A3-49C0-A6FA-141051388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056" y="1755648"/>
            <a:ext cx="9686239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8A4A12"/>
                </a:solidFill>
                <a:latin typeface="맑은 고딕"/>
                <a:ea typeface="맑은 고딕"/>
                <a:cs typeface="맑은 고딕"/>
              </a:rPr>
              <a:t>켜두면 계속 나갑니다. 브라우저를 닫아도 AWS 쪽에서는 계속 돌고 있습니다</a:t>
            </a:r>
            <a:endParaRPr sz="18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8020F373-3A93-43D3-BCD8-0A28D28D0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505456"/>
            <a:ext cx="10143439" cy="2651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sz="1400">
                <a:solidFill>
                  <a:srgbClr val="5C3A18"/>
                </a:solidFill>
                <a:latin typeface="맑은 고딕"/>
                <a:ea typeface="맑은 고딕"/>
                <a:cs typeface="맑은 고딕"/>
              </a:rPr>
              <a:t>오늘 만드는 것 중 자동으로 꺼지는 것은 학습 잡 하나뿐입니다</a:t>
            </a:r>
            <a:endParaRPr sz="1400"/>
          </a:p>
          <a:p xmlns:a="http://schemas.openxmlformats.org/drawingml/2006/main"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sz="1400">
                <a:solidFill>
                  <a:srgbClr val="5C3A18"/>
                </a:solidFill>
                <a:latin typeface="맑은 고딕"/>
                <a:ea typeface="맑은 고딕"/>
                <a:cs typeface="맑은 고딕"/>
              </a:rPr>
              <a:t>노트북 스페이스와 실시간 엔드포인트는 내가 지워야만 꺼집니다</a:t>
            </a:r>
            <a:endParaRPr sz="1400"/>
          </a:p>
          <a:p xmlns:a="http://schemas.openxmlformats.org/drawingml/2006/main"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sz="1400">
                <a:solidFill>
                  <a:srgbClr val="5C3A18"/>
                </a:solidFill>
                <a:latin typeface="맑은 고딕"/>
                <a:ea typeface="맑은 고딕"/>
                <a:cs typeface="맑은 고딕"/>
              </a:rPr>
              <a:t>엔드포인트 하나를 하루 방치하면 약 3.4달러, 한 주면 약 24달러입니다</a:t>
            </a:r>
            <a:endParaRPr sz="1400"/>
          </a:p>
          <a:p xmlns:a="http://schemas.openxmlformats.org/drawingml/2006/main"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sz="1400">
                <a:solidFill>
                  <a:srgbClr val="5C3A18"/>
                </a:solidFill>
                <a:latin typeface="맑은 고딕"/>
                <a:ea typeface="맑은 고딕"/>
                <a:cs typeface="맑은 고딕"/>
              </a:rPr>
              <a:t>학생 1인 학기 예산이 25달러입니다. 한 번의 방치로 전부 날아갑니다</a:t>
            </a:r>
            <a:endParaRPr sz="1400"/>
          </a:p>
          <a:p xmlns:a="http://schemas.openxmlformats.org/drawingml/2006/main"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sz="1400">
                <a:solidFill>
                  <a:srgbClr val="5C3A18"/>
                </a:solidFill>
                <a:latin typeface="맑은 고딕"/>
                <a:ea typeface="맑은 고딕"/>
                <a:cs typeface="맑은 고딕"/>
              </a:rPr>
              <a:t>미정리가 적발되면 회당 2점 감점입니다</a:t>
            </a:r>
            <a:endParaRPr sz="14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E4ACF774-20BD-43AF-9734-B56D50273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10주차</a:t>
            </a:r>
            <a:endParaRPr sz="9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A90E5653-2C8D-43C4-9FD3-668C564A3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75082188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332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7B76551-EE79-42A3-9264-CEAD547A6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87168"/>
            <a:ext cx="1005840" cy="10058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C39A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CF3ED24-40B8-4CA8-9672-764AC48F8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87168"/>
            <a:ext cx="100584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1</a:t>
            </a:r>
            <a:endParaRPr sz="16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A8A98047-118E-4341-A5C7-67AFC3092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2808" y="2432304"/>
            <a:ext cx="868680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이론 — 관리형 서비스란</a:t>
            </a:r>
            <a:endParaRPr sz="34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809BBD9-027F-45A7-BF77-A47889FED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2808" y="3163824"/>
            <a:ext cx="86868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9FC2C9"/>
                </a:solidFill>
                <a:latin typeface="맑은 고딕"/>
                <a:ea typeface="맑은 고딕"/>
                <a:cs typeface="맑은 고딕"/>
              </a:rPr>
              <a:t>45분 · 밀키트를 살 것인가 장을 볼 것인가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8461822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C68A34F-CD43-41C4-A8D5-826BA743C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관리형이 대신 해주는 것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A7E1C0B-1B99-42A8-9735-90F71F1A8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우리가 2주 동안 손으로 한 아홉 단계를 클라우드가 맡습니다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5E6AACE8-CFCD-4B1A-8876-D82BFCF7A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869948"/>
            <a:ext cx="5382616" cy="1810512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2612DC13-7CD0-4C0F-8251-E07294F58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07692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550BBAE-1657-4738-8545-1693DDD6B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07692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  <a:endParaRPr sz="12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A35956E-C801-4CDD-AC8A-04A221C59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024" y="2089404"/>
            <a:ext cx="4376776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학습 잡 (Training Job)</a:t>
            </a:r>
            <a:endParaRPr sz="15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A296A3BF-1B99-4BA0-8E1C-2E712C512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024" y="2601468"/>
            <a:ext cx="4331056" cy="8778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서버를 켜고 데이터를 내려받고 학습하고 모델을 S3에 올린 뒤 서버를 끕니다. 끝나면 자동 종료되고 돌아간 시간만 과금됩니다.</a:t>
            </a:r>
            <a:endParaRPr sz="12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2813AEEF-CA02-42A1-A821-65C4CFFE8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2152" y="1869948"/>
            <a:ext cx="5382616" cy="1810512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3EF7BF99-FFBE-4AA3-A63F-C82AA2832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8184" y="2107692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2A944DC0-A462-4F1A-B366-7570B4592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8184" y="2107692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12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5D714CD8-EA5D-4DA8-A579-B50553A07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248" y="2089404"/>
            <a:ext cx="4376776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실시간 엔드포인트</a:t>
            </a:r>
            <a:endParaRPr sz="15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EE5A66C9-5366-423E-9BFF-E13AB5C62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248" y="2601468"/>
            <a:ext cx="4331056" cy="8778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서버를 띄우고 모델을 로드하고 주소를 만들고 로그를 보내고 죽으면 되살립니다. 그런데 끝나는 시점이 없습니다.</a:t>
            </a:r>
            <a:endParaRPr sz="12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ADA386B2-4703-4F25-935A-0DC286CBA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973068"/>
            <a:ext cx="5382616" cy="1810512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E040761B-12E6-4C23-82FA-095E5BE10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210812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D19BA586-CE04-40FD-B91E-6A82B80BB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210812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sz="12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86F93C41-73D9-458B-A4AF-4C79AB3E6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024" y="4192524"/>
            <a:ext cx="4376776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밀키트 비유</a:t>
            </a:r>
            <a:endParaRPr sz="15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021B23C5-4A4E-46D7-904E-1DFDB0EBC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024" y="4704588"/>
            <a:ext cx="4331056" cy="8778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직접 구축은 장을 보고 손질해 요리하는 것, 관리형은 밀키트를 끓이는 것입니다. 빠르지만 간을 못 바꾸고 값이 비쌉니다.</a:t>
            </a:r>
            <a:endParaRPr sz="12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F286F40E-DCC8-458D-B065-A558C44D8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10주차</a:t>
            </a:r>
            <a:endParaRPr sz="9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EA18C868-3AFC-44AF-AE71-B1BCDF8F3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5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69981404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C07D422-9DAB-477A-B518-175F1DE80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대신 잃는 것 세 가지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B114358-19F6-4982-9EEE-7EE4A24B8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편한 데는 값이 있습니다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CF7DE33D-2F4F-4492-8896-0F6F9BBF4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36192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FDDB177F-FEA6-4F24-B802-477163DAB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36192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  <a:endParaRPr sz="12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78DB7B3-2D14-4453-87F7-86C061447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499616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자유도</a:t>
            </a:r>
            <a:endParaRPr sz="15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87B8894-D8FA-4C0B-AC78-9254794C1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883664"/>
            <a:ext cx="5956347" cy="4809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지원 프레임워크와 버전 목록 안에서만 자유롭습니다</a:t>
            </a:r>
            <a:endParaRPr sz="12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50D56596-09C6-48DA-9175-06E0F3FDB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74366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92EB4D19-C9DA-4CC8-A7BE-4C3BFA083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74366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12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661EAD5B-698D-4205-AF53-A2C688789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437790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이식성</a:t>
            </a:r>
            <a:endParaRPr sz="15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941DD42C-281D-4AD9-861D-CAAA3439E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821838"/>
            <a:ext cx="5956347" cy="4809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코드가 AWS에 묶입니다. 이걸 벤더 락인이라 합니다</a:t>
            </a:r>
            <a:endParaRPr sz="12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D1808EC0-C205-46BF-827F-176F06856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12541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76234DAC-61E3-41C3-8255-370D90096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12541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sz="12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E86E43A6-D6EE-4657-85B2-579637A6D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375965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이해</a:t>
            </a:r>
            <a:endParaRPr sz="15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CF9FB2A7-FEA0-4169-9F54-24BB89D02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760013"/>
            <a:ext cx="5956347" cy="4809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한 줄로 뜨면 그 안에서 무슨 일이 나는지 못 배웁니다</a:t>
            </a:r>
            <a:endParaRPr sz="12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A92B2C65-902C-46EA-A866-4701D3D1E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350715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66E7DC57-A5C7-4DFE-9E1E-7391BC61B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350715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  <a:endParaRPr sz="12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80411359-E6DF-455C-82CD-92D9D0488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4314139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그래서 순서가 중요</a:t>
            </a:r>
            <a:endParaRPr sz="15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E39BDC66-F9A2-4A4E-83BF-0513F1AAC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4698187"/>
            <a:ext cx="5956347" cy="4809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직접 구축을 먼저 하고 관리형을 나중에 배웁니다</a:t>
            </a:r>
            <a:endParaRPr sz="12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28178F44-7728-4428-827F-582B02BA7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288890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ABE75018-5A59-4CF7-B011-6FA3E9550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288890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  <a:endParaRPr sz="12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CE5ACDFB-1ECD-4B3E-9B2E-1A86D0F1A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252314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실무의 답은 둘 다</a:t>
            </a:r>
            <a:endParaRPr sz="15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0D3F6DB3-0CBC-407E-ADAF-0D68E2D5E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636362"/>
            <a:ext cx="5956347" cy="4809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판단할 줄 아는 사람이 되는 것이 오늘 목표입니다</a:t>
            </a:r>
            <a:endParaRPr sz="125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8416F800-EC3C-419A-8B76-93323BECD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0515" y="2647188"/>
            <a:ext cx="4324252" cy="2313432"/>
          </a:xfrm>
          <a:prstGeom xmlns:a="http://schemas.openxmlformats.org/drawingml/2006/main" prst="roundRect">
            <a:avLst>
              <a:gd name="adj" fmla="val 3162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A5A18994-EE63-4E7B-A165-A75909B90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2866644"/>
            <a:ext cx="3775612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028090"/>
                </a:solidFill>
                <a:latin typeface="맑은 고딕"/>
                <a:ea typeface="맑은 고딕"/>
                <a:cs typeface="맑은 고딕"/>
              </a:rPr>
              <a:t>취업 관점</a:t>
            </a:r>
            <a:endParaRPr sz="145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526A2F5D-BDA6-42F3-9CF6-C0365B198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3342132"/>
            <a:ext cx="3775612" cy="1399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직접 구축을 아는 사람이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관리형도 금방 씁니다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반대는 잘 안 됩니다</a:t>
            </a:r>
            <a:endParaRPr sz="125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B859CCBD-E76E-46E2-9F4E-737AEAF62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10주차</a:t>
            </a:r>
            <a:endParaRPr sz="9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8319E38C-4630-466D-BDF5-2EB8BC10A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6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66018702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F98E4F1-77A5-4DEB-A698-5770B011B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직접 구축 vs 관리형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7E21B29-86F9-49C8-877E-F3A00C8D1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감으로 비교하지 않습니다. 축을 정해놓고 봅니다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525729A-532F-4978-BB4C-3C3BFBCD4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281428"/>
            <a:ext cx="5364328" cy="3090672"/>
          </a:xfrm>
          <a:prstGeom xmlns:a="http://schemas.openxmlformats.org/drawingml/2006/main" prst="roundRect">
            <a:avLst>
              <a:gd name="adj" fmla="val 2367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0EB6F0A-579D-4C75-AEBB-FCC65DE33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281428"/>
            <a:ext cx="5364328" cy="566928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28090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A2D7AA6E-3FAC-4189-A9CB-0A6782AFB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281428"/>
            <a:ext cx="4925416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직접 구축 (EC2+Docker+FastAPI)</a:t>
            </a:r>
            <a:endParaRPr sz="15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9D7E3B5C-3230-4FDE-9F29-3125EAAC9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012948"/>
            <a:ext cx="4852264" cy="21762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900"/>
              </a:spcAft>
              <a:buSzPct val="100000"/>
              <a:buChar char="•"/>
            </a:pPr>
            <a:r>
              <a:rPr sz="130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구축 시간 — 길다, 학습 곡선이 있다</a:t>
            </a:r>
            <a:endParaRPr sz="1300"/>
          </a:p>
          <a:p xmlns:a="http://schemas.openxmlformats.org/drawingml/2006/main">
            <a:pPr marL="342900" indent="-342900">
              <a:spcAft>
                <a:spcPts val="900"/>
              </a:spcAft>
              <a:buSzPct val="100000"/>
              <a:buChar char="•"/>
            </a:pPr>
            <a:r>
              <a:rPr sz="130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비용 — 시간당 약 0.052달러로 낮다</a:t>
            </a:r>
            <a:endParaRPr sz="1300"/>
          </a:p>
          <a:p xmlns:a="http://schemas.openxmlformats.org/drawingml/2006/main">
            <a:pPr marL="342900" indent="-342900">
              <a:spcAft>
                <a:spcPts val="900"/>
              </a:spcAft>
              <a:buSzPct val="100000"/>
              <a:buChar char="•"/>
            </a:pPr>
            <a:r>
              <a:rPr sz="130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수정 자유도 — 높다. 무엇이든 가능</a:t>
            </a:r>
            <a:endParaRPr sz="1300"/>
          </a:p>
          <a:p xmlns:a="http://schemas.openxmlformats.org/drawingml/2006/main">
            <a:pPr marL="342900" indent="-342900">
              <a:spcAft>
                <a:spcPts val="900"/>
              </a:spcAft>
              <a:buSzPct val="100000"/>
              <a:buChar char="•"/>
            </a:pPr>
            <a:r>
              <a:rPr sz="130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운영 부담 — 높다. 장애와 확장을 직접</a:t>
            </a:r>
            <a:endParaRPr sz="1300"/>
          </a:p>
          <a:p xmlns:a="http://schemas.openxmlformats.org/drawingml/2006/main">
            <a:pPr marL="342900" indent="-342900">
              <a:spcAft>
                <a:spcPts val="900"/>
              </a:spcAft>
              <a:buSzPct val="100000"/>
              <a:buChar char="•"/>
            </a:pPr>
            <a:r>
              <a:rPr sz="130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이식성 — 높다. 어디서나 똑같이 돈다</a:t>
            </a:r>
            <a:endParaRPr sz="13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53929548-6F6B-4E3F-A607-AE29913CE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440" y="2281428"/>
            <a:ext cx="5364328" cy="3090672"/>
          </a:xfrm>
          <a:prstGeom xmlns:a="http://schemas.openxmlformats.org/drawingml/2006/main" prst="roundRect">
            <a:avLst>
              <a:gd name="adj" fmla="val 2367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D9412A11-0BE3-436D-8D4D-37005C1CE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440" y="2281428"/>
            <a:ext cx="5364328" cy="566928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D4E5B"/>
          </a:solidFill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0C66168D-C1E1-49BA-B618-EBD52FE01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9896" y="2281428"/>
            <a:ext cx="4925416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관리형 (SageMaker AI)</a:t>
            </a:r>
            <a:endParaRPr sz="15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5FB52F8D-AEC7-48C7-8ED1-69CBC5420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6472" y="3012948"/>
            <a:ext cx="4852264" cy="21762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900"/>
              </a:spcAft>
              <a:buSzPct val="100000"/>
              <a:buChar char="•"/>
            </a:pPr>
            <a:r>
              <a:rPr sz="130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구축 시간 — 짧다, 코드 수십 줄</a:t>
            </a:r>
            <a:endParaRPr sz="1300"/>
          </a:p>
          <a:p xmlns:a="http://schemas.openxmlformats.org/drawingml/2006/main">
            <a:pPr marL="342900" indent="-342900">
              <a:spcAft>
                <a:spcPts val="900"/>
              </a:spcAft>
              <a:buSzPct val="100000"/>
              <a:buChar char="•"/>
            </a:pPr>
            <a:r>
              <a:rPr sz="130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비용 — 시간당 약 0.14달러로 약 2.7배</a:t>
            </a:r>
            <a:endParaRPr sz="1300"/>
          </a:p>
          <a:p xmlns:a="http://schemas.openxmlformats.org/drawingml/2006/main">
            <a:pPr marL="342900" indent="-342900">
              <a:spcAft>
                <a:spcPts val="900"/>
              </a:spcAft>
              <a:buSzPct val="100000"/>
              <a:buChar char="•"/>
            </a:pPr>
            <a:r>
              <a:rPr sz="130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수정 자유도 — 지원 형식 안에서만</a:t>
            </a:r>
            <a:endParaRPr sz="1300"/>
          </a:p>
          <a:p xmlns:a="http://schemas.openxmlformats.org/drawingml/2006/main">
            <a:pPr marL="342900" indent="-342900">
              <a:spcAft>
                <a:spcPts val="900"/>
              </a:spcAft>
              <a:buSzPct val="100000"/>
              <a:buChar char="•"/>
            </a:pPr>
            <a:r>
              <a:rPr sz="130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운영 부담 — 낮다. 자동 복구와 확장</a:t>
            </a:r>
            <a:endParaRPr sz="1300"/>
          </a:p>
          <a:p xmlns:a="http://schemas.openxmlformats.org/drawingml/2006/main">
            <a:pPr marL="342900" indent="-342900">
              <a:spcAft>
                <a:spcPts val="900"/>
              </a:spcAft>
              <a:buSzPct val="100000"/>
              <a:buChar char="•"/>
            </a:pPr>
            <a:r>
              <a:rPr sz="130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이식성 — 낮다. AWS 밖에서는 안 돈다</a:t>
            </a:r>
            <a:endParaRPr sz="13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499BF9C8-7C67-4A43-93BC-5D1C187E6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10주차</a:t>
            </a:r>
            <a:endParaRPr sz="9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FC1CD1DE-B52D-4B2D-A170-B03BDB1CA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7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29286530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CE8989E-2372-49BC-B69A-99E39C105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SageMaker 과금 구조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D8DB622-4697-4B66-B322-D5C8CC412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하나의 서비스가 아니라 여러 개의 과금 항목입니다</a:t>
            </a:r>
            <a:endParaRPr sz="1300"/>
          </a:p>
        </p:txBody>
      </p:sp>
      <p:graphicFrame>
        <p:nvGraphicFramePr>
          <p:cNvPr id="10" name="Table 0"/>
          <p:cNvGraphicFramePr/>
          <p:nvPr/>
        </p:nvGraphicFramePr>
        <p:xfrm>
          <a:off xmlns:a="http://schemas.openxmlformats.org/drawingml/2006/main" x="566928" y="1481328"/>
          <a:ext xmlns:a="http://schemas.openxmlformats.org/drawingml/2006/main" cx="11057839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  <a:gridCol w="2825496"/>
              </a:tblGrid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  <a:endParaRPr sz="125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과금 방식</a:t>
                      </a:r>
                      <a:endParaRPr sz="125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자동 종료</a:t>
                      </a:r>
                      <a:endParaRPr sz="125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오늘 조치</a:t>
                      </a:r>
                      <a:endParaRPr sz="125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028090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Studio 스페이스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시간당 약 0.06달러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없음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수업 끝나면 Stop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학습 잡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실행된 초만큼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자동으로 꺼짐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조치 불필요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실시간 엔드포인트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시간당 약 0.14달러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없음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호출 직후 즉시 삭제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엔드포인트 구성 / 모델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과금 없음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해당 없음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정리 차원에서 삭제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S3 / EBS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저장 용량만큼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없음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학기 말에 정리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</a:tr>
            </a:tbl>
          </a:graphicData>
        </a:graphic>
      </p:graphicFrame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6D0DA0F8-95A4-483C-85B0-A66A5486A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10주차</a:t>
            </a:r>
            <a:endParaRPr sz="9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7E8678B0-67C7-4B8F-8560-8A3B2DD75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8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59995432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332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F8D7EEF-CA34-4200-AD73-2727D44CA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58368"/>
            <a:ext cx="11057839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오늘 실습 B의 규칙</a:t>
            </a:r>
            <a:endParaRPr sz="2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8C74740-1315-42DE-994D-F9CB4FAE4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17320"/>
            <a:ext cx="4644292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600" b="1">
                <a:solidFill>
                  <a:srgbClr val="02C39A"/>
                </a:solidFill>
                <a:latin typeface="맑은 고딕"/>
                <a:ea typeface="맑은 고딕"/>
                <a:cs typeface="맑은 고딕"/>
              </a:rPr>
              <a:t>20분</a:t>
            </a:r>
            <a:endParaRPr sz="96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B1A75AC-4BFC-404C-BAB2-8C402BBAB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2377" y="1417320"/>
            <a:ext cx="619239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A8C6CC"/>
                </a:solidFill>
                <a:latin typeface="맑은 고딕"/>
                <a:ea typeface="맑은 고딕"/>
                <a:cs typeface="맑은 고딕"/>
              </a:rPr>
              <a:t>엔드포인트가 살아 있어도 되는 최대 시간입니다</a:t>
            </a:r>
            <a:endParaRPr sz="20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0158F6EB-8517-4189-BC65-CFF215EDC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29000"/>
            <a:ext cx="11057839" cy="274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sz="1500">
                <a:solidFill>
                  <a:srgbClr val="C9DDE1"/>
                </a:solidFill>
                <a:latin typeface="맑은 고딕"/>
                <a:ea typeface="맑은 고딕"/>
                <a:cs typeface="맑은 고딕"/>
              </a:rPr>
              <a:t>만들고 부르고 지운다 — 배포 5분, 호출과 관찰 10분, 삭제 2분</a:t>
            </a:r>
            <a:endParaRPr sz="1500"/>
          </a:p>
          <a:p xmlns:a="http://schemas.openxmlformats.org/drawingml/2006/main"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sz="1500">
                <a:solidFill>
                  <a:srgbClr val="C9DDE1"/>
                </a:solidFill>
                <a:latin typeface="맑은 고딕"/>
                <a:ea typeface="맑은 고딕"/>
                <a:cs typeface="맑은 고딕"/>
              </a:rPr>
              <a:t>짝꿍을 정해 서로 삭제를 확인해 줍니다. 두 명이 확인하면 사고가 절반으로 줍니다</a:t>
            </a:r>
            <a:endParaRPr sz="1500"/>
          </a:p>
          <a:p xmlns:a="http://schemas.openxmlformats.org/drawingml/2006/main"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sz="1500">
                <a:solidFill>
                  <a:srgbClr val="C9DDE1"/>
                </a:solidFill>
                <a:latin typeface="맑은 고딕"/>
                <a:ea typeface="맑은 고딕"/>
                <a:cs typeface="맑은 고딕"/>
              </a:rPr>
              <a:t>오늘 배점이 가장 높은 제출물은 만든 캡처가 아니라 지운 캡처입니다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137519833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332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1BE5382-A5F4-4704-861C-BB54D1716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87168"/>
            <a:ext cx="1005840" cy="10058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C39A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47A5431-108C-4549-9104-7F4805D01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87168"/>
            <a:ext cx="100584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16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98D5E521-8299-47B8-BA87-469EF095F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2808" y="2432304"/>
            <a:ext cx="868680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실습 A — Studio 노트북과 학습 잡</a:t>
            </a:r>
            <a:endParaRPr sz="34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923E1AA1-FF31-47DB-BB55-CF8DB533B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2808" y="3163824"/>
            <a:ext cx="86868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9FC2C9"/>
                </a:solidFill>
                <a:latin typeface="맑은 고딕"/>
                <a:ea typeface="맑은 고딕"/>
                <a:cs typeface="맑은 고딕"/>
              </a:rPr>
              <a:t>50분 · 다 함께 따라합니다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168590033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19BE561-B9A0-4418-9FDD-E58CE6A24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실습 A 수행 순서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7D8F5D6-CEEE-4204-A973-19EBBC8A6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콘솔에서 반드시 Amazon SageMaker AI를 고릅니다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AC65BAAD-4EFF-42D9-AFFF-A69F184E0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81328"/>
            <a:ext cx="11057839" cy="810158"/>
          </a:xfrm>
          <a:prstGeom xmlns:a="http://schemas.openxmlformats.org/drawingml/2006/main" prst="roundRect">
            <a:avLst>
              <a:gd name="adj" fmla="val 6772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D4C50D00-F9D4-4945-B90F-4B8A58A73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1694383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C9C7886-18F7-427B-8D93-0EE28EBC6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1694383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  <a:endParaRPr sz="12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C82BFF63-7978-4FF4-A0AD-581F64C61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609344"/>
            <a:ext cx="99605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Studio 진입</a:t>
            </a:r>
            <a:endParaRPr sz="145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345138C3-09B6-4A2F-86DA-E898E5CE1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975104"/>
            <a:ext cx="9960559" cy="2798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리전이 서울인지 먼저 확인하고 본인 사용자 프로필로 들어갑니다</a:t>
            </a:r>
            <a:endParaRPr sz="12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23E734AA-9E70-4A35-9E86-0DF7100F5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19502"/>
            <a:ext cx="11057839" cy="810158"/>
          </a:xfrm>
          <a:prstGeom xmlns:a="http://schemas.openxmlformats.org/drawingml/2006/main" prst="roundRect">
            <a:avLst>
              <a:gd name="adj" fmla="val 6772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EADC08A1-472A-4ECA-852D-F1FCC0CEE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63255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7CF6330A-4BE6-4421-BE99-EBDC1FE65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632558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12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25D4B543-24A0-480A-8F6C-D5E1702FA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47518"/>
            <a:ext cx="99605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JupyterLab 스페이스 생성</a:t>
            </a:r>
            <a:endParaRPr sz="14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13A78591-2860-4AED-A633-3C5DEC27B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13278"/>
            <a:ext cx="9960559" cy="2798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인스턴스는 ml.t3.medium 고정. 여기서 과금이 시작됩니다</a:t>
            </a:r>
            <a:endParaRPr sz="12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A8CA5546-6723-4791-9804-D2FEFEFBC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357677"/>
            <a:ext cx="11057839" cy="810158"/>
          </a:xfrm>
          <a:prstGeom xmlns:a="http://schemas.openxmlformats.org/drawingml/2006/main" prst="roundRect">
            <a:avLst>
              <a:gd name="adj" fmla="val 6772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F3FE1AE1-85A5-490E-92B1-E83FF4C8C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570732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8A2B9242-0C67-4926-8EF8-E34888A3F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570732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sz="12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E8B00D6E-6F89-4747-AEC1-10E6A5CD7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485693"/>
            <a:ext cx="99605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세션과 실행 역할 확인</a:t>
            </a:r>
            <a:endParaRPr sz="145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1E6819A0-2E04-4BB5-8EC1-4D55903D0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851453"/>
            <a:ext cx="9960559" cy="2798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리전과 역할, 버킷 이름이 제대로 찍히는지 봅니다</a:t>
            </a:r>
            <a:endParaRPr sz="12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382D4C82-B2D4-4B67-9304-EF3FF6122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95851"/>
            <a:ext cx="11057839" cy="810158"/>
          </a:xfrm>
          <a:prstGeom xmlns:a="http://schemas.openxmlformats.org/drawingml/2006/main" prst="roundRect">
            <a:avLst>
              <a:gd name="adj" fmla="val 6772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983189B6-430A-49D8-AF4D-85E438C69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4508906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943AD3F6-5071-419E-9725-0FBBC5082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4508906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  <a:endParaRPr sz="12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A5340B4A-2E74-4946-9779-DE1B1B368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423867"/>
            <a:ext cx="99605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학습 데이터를 입력 위치로 복사</a:t>
            </a:r>
            <a:endParaRPr sz="14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7F03A050-12FC-41F4-AB76-39D5FC827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789627"/>
            <a:ext cx="9960559" cy="2798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3주차 전처리 결과를 학습 잡 입력 경로로 옮깁니다</a:t>
            </a:r>
            <a:endParaRPr sz="125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0E3C4E7B-5F27-48DA-93AF-8E751671A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234026"/>
            <a:ext cx="11057839" cy="810158"/>
          </a:xfrm>
          <a:prstGeom xmlns:a="http://schemas.openxmlformats.org/drawingml/2006/main" prst="roundRect">
            <a:avLst>
              <a:gd name="adj" fmla="val 6772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3503403C-1FA1-435B-A095-D9890FE10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447081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C211F89D-C9A1-49C9-95C6-7FC4F3867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447081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  <a:endParaRPr sz="12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3E17F951-E240-4D8D-9C79-C63C2B99C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362042"/>
            <a:ext cx="99605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학습 잡 실행과 산출물 확인</a:t>
            </a:r>
            <a:endParaRPr sz="145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2F9EA2F2-2B5F-44FC-92B1-F42A515D4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727802"/>
            <a:ext cx="9960559" cy="2798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S3에 model.tar.gz 가 생겼는지 확인합니다</a:t>
            </a:r>
            <a:endParaRPr sz="125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24FEF956-42C0-4A0E-BC9D-55707216B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10주차</a:t>
            </a:r>
            <a:endParaRPr sz="90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3D26356E-EFD8-42FE-ADB7-768C51CC6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11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459543494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554EB29-11C3-48D3-B626-B97594A76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실습 A 코드 (1/2) — 세션과 데이터 준비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E257EED-6DD0-4DE4-8DF9-32AE157C6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Studio의 JupyterLab 안에서 실행합니다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525AA7A-322E-4F15-AA26-D93CDD7E6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81328"/>
            <a:ext cx="11057839" cy="4325112"/>
          </a:xfrm>
          <a:prstGeom xmlns:a="http://schemas.openxmlformats.org/drawingml/2006/main" prst="roundRect">
            <a:avLst>
              <a:gd name="adj" fmla="val 1480"/>
            </a:avLst>
          </a:prstGeom>
          <a:solidFill xmlns:a="http://schemas.openxmlformats.org/drawingml/2006/main">
            <a:srgbClr val="0F262C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C5B9BA3-29A7-4740-A820-F5B897B0D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3167" y="1591056"/>
            <a:ext cx="1188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6E939B"/>
                </a:solidFill>
                <a:latin typeface="Consolas"/>
                <a:ea typeface="Consolas"/>
                <a:cs typeface="Consolas"/>
              </a:rPr>
              <a:t>python</a:t>
            </a:r>
            <a:endParaRPr sz="9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3ED47D92-1A1B-4423-A3F9-E400513BD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1719072"/>
            <a:ext cx="10436047" cy="3867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import sagemaker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import boto3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session = sagemaker.Session()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region = session.boto_region_name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role = sagemaker.get_execution_role()   # 강사가 미리 붙여둔 실행 역할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bucket = "mlops-2026-&lt;학번&gt;"            # 본인 버킷명으로 교체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prefix = "sagemaker/bike"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print("region:", region, "/ role:", role)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# 3주차 전처리 결과를 학습 잡 입력 경로로 복사한다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s3 = boto3.client("s3")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s3.copy_object(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  Bucket=bucket,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  CopySource={"Bucket": bucket, "Key": "processed/bike_train.csv"},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  Key=f"{prefix}/input/train.csv",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)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train_input = f"s3://{bucket}/{prefix}/input/train.csv"</a:t>
            </a:r>
            <a:endParaRPr sz="11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FFD8B2A-D7A0-4A04-AC73-5AF275700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16168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region이 ap-northeast-2 로 찍히지 않으면 여기서 멈추고 손을 드세요</a:t>
            </a:r>
            <a:endParaRPr sz="12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543D185E-7705-4608-AF5B-602638D04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10주차</a:t>
            </a:r>
            <a:endParaRPr sz="9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C06A2AAC-5C2B-487B-8C25-421F715BF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12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707031344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4756BB5-11DC-4F60-8487-4B9E10D39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실습 A 코드 (2/2) — 학습 잡 실행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2400A5D-220B-4613-BE9C-8E5AAFE8D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약 5분 소요. 실행된 시간만큼만 과금됩니다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A1A02F5C-9048-4067-828B-AEFD0D80A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81328"/>
            <a:ext cx="11057839" cy="4325112"/>
          </a:xfrm>
          <a:prstGeom xmlns:a="http://schemas.openxmlformats.org/drawingml/2006/main" prst="roundRect">
            <a:avLst>
              <a:gd name="adj" fmla="val 1480"/>
            </a:avLst>
          </a:prstGeom>
          <a:solidFill xmlns:a="http://schemas.openxmlformats.org/drawingml/2006/main">
            <a:srgbClr val="0F262C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066E5E61-6B41-4A88-A673-D41018F7A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3167" y="1591056"/>
            <a:ext cx="1188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6E939B"/>
                </a:solidFill>
                <a:latin typeface="Consolas"/>
                <a:ea typeface="Consolas"/>
                <a:cs typeface="Consolas"/>
              </a:rPr>
              <a:t>python</a:t>
            </a:r>
            <a:endParaRPr sz="9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158564E-C0D3-4870-AA09-C404F534F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1719072"/>
            <a:ext cx="10436047" cy="3867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from sagemaker.sklearn.estimator import SKLearn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estimator = SKLearn(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  entry_point="sm_train.py",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  role=role,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  instance_type="ml.m5.large",   # 반드시 이 타입. 더 큰 것 금지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  instance_count=1,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  framework_version="1.2-1",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  py_version="py3",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  output_path=f"s3://{bucket}/{prefix}/output",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  base_job_name="bike-&lt;학번&gt;",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  hyperparameters={"n-estimators": 200, "max-depth": 12},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)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estimator.fit({"train": train_input}, wait=True)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print("model artifact:", estimator.model_data)</a:t>
            </a:r>
            <a:endParaRPr sz="11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EA172952-05C1-488B-AEBB-EFF0B3636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16168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로그 끝의 Billable seconds 숫자를 노트에 적습니다. 실습 B 비교표에 씁니다</a:t>
            </a:r>
            <a:endParaRPr sz="12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759D7AF-6E98-4B17-9D36-AFB213C92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10주차</a:t>
            </a:r>
            <a:endParaRPr sz="9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DFAB9A58-059B-455F-A810-298CC8DAB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13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217443432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D967533-6410-4824-99EC-40387F335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여기서 막히면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8FDA0F7-949D-4920-8882-8EF220217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실습 A에서 실제로 터지는 문제</a:t>
            </a:r>
            <a:endParaRPr sz="1300"/>
          </a:p>
        </p:txBody>
      </p:sp>
      <p:graphicFrame>
        <p:nvGraphicFramePr>
          <p:cNvPr id="10" name="Table 0"/>
          <p:cNvGraphicFramePr/>
          <p:nvPr/>
        </p:nvGraphicFramePr>
        <p:xfrm>
          <a:off xmlns:a="http://schemas.openxmlformats.org/drawingml/2006/main" x="566928" y="1481328"/>
          <a:ext xmlns:a="http://schemas.openxmlformats.org/drawingml/2006/main" cx="11057839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74720"/>
                <a:gridCol w="3291840"/>
                <a:gridCol w="4288536"/>
              </a:tblGrid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증상</a:t>
                      </a:r>
                      <a:endParaRPr sz="125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원인</a:t>
                      </a:r>
                      <a:endParaRPr sz="125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조치</a:t>
                      </a:r>
                      <a:endParaRPr sz="125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028090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스페이스가 계속 Starting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용량 부족 또는 일시 지연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10분까지 기다린 뒤 Stop 후 재시도. 안 되면 2인 1조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실행 역할 가져오기에서 예외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Studio가 아닌 로컬에서 실행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반드시 Studio JupyterLab 안에서 실행합니다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학습 잡이 AccessDenied 로 실패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실행 역할에 버킷 권한 없음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버킷명 오타 확인. 그래도 나면 공통 버킷으로 진행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ResourceLimitExceeded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인스턴스 타입 동시 실행 한도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옆 학생 잡이 끝날 때까지 기다립니다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train.csv 를 못 찾는다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채널 이름과 파일명 불일치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fit 의 키가 train 인지, 파일명이 맞는지 확인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타깃 컬럼 KeyError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팀 데이터의 컬럼명이 다름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학습 스크립트의 컬럼 목록을 팀 데이터에 맞게 수정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95644AB7-CFB6-4C79-92EE-C6539126B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10주차</a:t>
            </a:r>
            <a:endParaRPr sz="9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C28A019E-3F54-4967-AF7C-FF2540820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14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2922720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332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DB30A96-1D3C-4D06-826E-49EA0DD20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87168"/>
            <a:ext cx="1005840" cy="10058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C39A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62A33AF-42F3-4419-8843-53470CA14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87168"/>
            <a:ext cx="100584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sz="16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3779A53-5E80-4212-A1C5-DB589F814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2808" y="2432304"/>
            <a:ext cx="868680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실습 B — 배포하고, 부르고, 지운다</a:t>
            </a:r>
            <a:endParaRPr sz="34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60FA342F-D038-472C-90CA-CE1354515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2808" y="3163824"/>
            <a:ext cx="86868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9FC2C9"/>
                </a:solidFill>
                <a:latin typeface="맑은 고딕"/>
                <a:ea typeface="맑은 고딕"/>
                <a:cs typeface="맑은 고딕"/>
              </a:rPr>
              <a:t>85분 · 엔드포인트가 살아 있는 시간은 20분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1734774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332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ACC82B3-CAB3-47BB-B0D7-435CE8E35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1920240"/>
            <a:ext cx="9814255" cy="3017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만들고 · 부르고 · 지운다</a:t>
            </a:r>
            <a:endParaRPr sz="38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3AE9D29-ACAF-4406-B8BE-5C0FC2135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846320"/>
            <a:ext cx="9814255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>
                <a:solidFill>
                  <a:srgbClr val="02C39A"/>
                </a:solidFill>
                <a:latin typeface="맑은 고딕"/>
                <a:ea typeface="맑은 고딕"/>
                <a:cs typeface="맑은 고딕"/>
              </a:rPr>
              <a:t>지우는 것까지가 오늘 실습입니다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96463109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FE5CDDC-B9E2-41F5-975C-4C9126F2A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실습 B 수행 순서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686A4A8-8B26-4406-BA58-3FE2E37B6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1번을 실행하는 순간 시계를 봅니다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06DD2D1-1842-4786-9AEE-76CF9E83A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81328"/>
            <a:ext cx="11057839" cy="810158"/>
          </a:xfrm>
          <a:prstGeom xmlns:a="http://schemas.openxmlformats.org/drawingml/2006/main" prst="roundRect">
            <a:avLst>
              <a:gd name="adj" fmla="val 6772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0A653C2-A3B2-4F64-ADCF-85411F7C9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1694383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6FB4214A-25CB-45CD-85B4-492F3000E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1694383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  <a:endParaRPr sz="12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2D60A400-6FBC-40DD-8A32-0E13B3BE3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609344"/>
            <a:ext cx="99605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엔드포인트 배포 (5~8분)</a:t>
            </a:r>
            <a:endParaRPr sz="145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8C071DE1-F393-4BCB-9E87-884254A60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975104"/>
            <a:ext cx="9960559" cy="2798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생성 시각, 삭제 목표 시각, 짝꿍 이름을 노트 맨 위에 적습니다</a:t>
            </a:r>
            <a:endParaRPr sz="12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B1B7EBBF-C20C-4EDB-A72B-7035BAAB6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19502"/>
            <a:ext cx="11057839" cy="810158"/>
          </a:xfrm>
          <a:prstGeom xmlns:a="http://schemas.openxmlformats.org/drawingml/2006/main" prst="roundRect">
            <a:avLst>
              <a:gd name="adj" fmla="val 6772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4C24C5AE-A0E2-49F7-A8FC-5AFDFED6C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63255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2A197393-B3A1-4D0D-A9DF-8C4A9184E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632558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12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27C4C58E-C70B-42D1-9FCB-64374FF39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47518"/>
            <a:ext cx="99605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호출과 관찰 (10분)</a:t>
            </a:r>
            <a:endParaRPr sz="14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D9BA9515-A45D-47CF-885D-8D14A57B2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13278"/>
            <a:ext cx="9960559" cy="2798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응답 형식과 잘못된 입력에 대한 반응을 기록합니다</a:t>
            </a:r>
            <a:endParaRPr sz="12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271CC8CC-1707-4A47-918C-F9F3EDA21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357677"/>
            <a:ext cx="11057839" cy="810158"/>
          </a:xfrm>
          <a:prstGeom xmlns:a="http://schemas.openxmlformats.org/drawingml/2006/main" prst="roundRect">
            <a:avLst>
              <a:gd name="adj" fmla="val 6772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BF30788F-55BD-45F1-944E-9C59BA884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570732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B6899803-CA5F-42EF-8C72-730D0BC50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570732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sz="12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F52DDCE9-0045-4379-A2B6-20FA49C2E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485693"/>
            <a:ext cx="99605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즉시 삭제 (2분)</a:t>
            </a:r>
            <a:endParaRPr sz="145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556B1617-7E06-4251-8BA3-311B45B2F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851453"/>
            <a:ext cx="9960559" cy="2798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지웠을 것이다는 확인이 아닙니다. 코드로 확인합니다</a:t>
            </a:r>
            <a:endParaRPr sz="12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DA8D12B7-D41C-4B3C-8E3E-CA0C45EAC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95851"/>
            <a:ext cx="11057839" cy="810158"/>
          </a:xfrm>
          <a:prstGeom xmlns:a="http://schemas.openxmlformats.org/drawingml/2006/main" prst="roundRect">
            <a:avLst>
              <a:gd name="adj" fmla="val 6772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A625DA3E-1446-4EB0-B19A-CDCD535DD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4508906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DCE8A8C7-C956-4BC3-B7DA-C5128BE0E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4508906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  <a:endParaRPr sz="12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57D651F3-83AC-41C6-BE4B-B23208A89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423867"/>
            <a:ext cx="99605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남은 모델 객체 정리</a:t>
            </a:r>
            <a:endParaRPr sz="14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FD1044CE-A1B6-4CF7-890B-30EB8F6DF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789627"/>
            <a:ext cx="9960559" cy="2798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과금은 없지만 헷갈리니 오늘은 셋 다 지웁니다</a:t>
            </a:r>
            <a:endParaRPr sz="125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E9361289-ED63-484C-BFFC-28C4686CD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234026"/>
            <a:ext cx="11057839" cy="810158"/>
          </a:xfrm>
          <a:prstGeom xmlns:a="http://schemas.openxmlformats.org/drawingml/2006/main" prst="roundRect">
            <a:avLst>
              <a:gd name="adj" fmla="val 6772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A68D5F1B-58D4-42A1-B1B0-AC4FC51E6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447081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0EE73910-819C-4CC7-B32F-9B85B8B6B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447081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  <a:endParaRPr sz="12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0D586E4F-1E1A-4234-BF17-B8BDAA843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362042"/>
            <a:ext cx="99605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비교표 작성 (40분)</a:t>
            </a:r>
            <a:endParaRPr sz="145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31A88EDD-A691-4AA0-A7D7-0D88CE1AC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727802"/>
            <a:ext cx="9960559" cy="2798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감이 아니라 오늘 관찰한 값과 실제 단가로 채웁니다</a:t>
            </a:r>
            <a:endParaRPr sz="125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CECC1CDD-B8CB-4A92-AE8B-C550ED8A2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10주차</a:t>
            </a:r>
            <a:endParaRPr sz="90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9E1B6CF5-A868-4528-9559-E4DAE7455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17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919947620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0099DBF-87B3-40AC-9C11-C5985542B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엔드포인트 배포와 호출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0017D53-6F7D-43A3-BC88-562FC0F6E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여기서부터 시간당 과금이 시작됩니다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E8E39961-BEEE-4A8B-98C7-9650A9172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81328"/>
            <a:ext cx="11057839" cy="4325112"/>
          </a:xfrm>
          <a:prstGeom xmlns:a="http://schemas.openxmlformats.org/drawingml/2006/main" prst="roundRect">
            <a:avLst>
              <a:gd name="adj" fmla="val 1480"/>
            </a:avLst>
          </a:prstGeom>
          <a:solidFill xmlns:a="http://schemas.openxmlformats.org/drawingml/2006/main">
            <a:srgbClr val="0F262C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FAB54508-846B-41BC-8A57-D21F568B0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3167" y="1591056"/>
            <a:ext cx="1188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6E939B"/>
                </a:solidFill>
                <a:latin typeface="Consolas"/>
                <a:ea typeface="Consolas"/>
                <a:cs typeface="Consolas"/>
              </a:rPr>
              <a:t>python</a:t>
            </a:r>
            <a:endParaRPr sz="9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71D9AB8-8930-422D-A6F0-6BF630076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1719072"/>
            <a:ext cx="10436047" cy="3867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from sagemaker.sklearn.model import SKLearnModel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import time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endpoint_name = f"bike-ep-&lt;학번&gt;-{int(time.time())}"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model = SKLearnModel(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  model_data=estimator.model_data,   # 실습 A에서 만든 산출물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  role=role,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  entry_point="sm_train.py",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  framework_version="1.2-1",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  py_version="py3",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)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predictor = model.deploy(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  initial_instance_count=1,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  instance_type="ml.m5.large",       # 반드시 이 타입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  endpoint_name=endpoint_name,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)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print("삭제 목표 시각을 적으세요:", time.strftime("%H:%M"))</a:t>
            </a:r>
            <a:endParaRPr sz="11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9396F8D0-8033-4CB1-A880-1DDDA3C86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16168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호출은 sagemaker-runtime 의 invoke_endpoint 로도 해봅니다. 우리 curl 에 해당하는 것입니다</a:t>
            </a:r>
            <a:endParaRPr sz="12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4C4D4A8-A70C-4B3B-B3B8-6A7BABC53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10주차</a:t>
            </a:r>
            <a:endParaRPr sz="9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A37377C6-A6FD-484D-BACB-CCA8AE5B2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18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482201045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5F241D3-4D3B-42B0-B934-2FF5D50D3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호출하면서 관찰할 것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BBA580F-B01D-4A62-B42A-A3FCF2E3C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이 세 가지가 비교표의 근거가 됩니다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1F99DF91-08FE-4D0E-916A-C63F25BF7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36192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3FDAC2A3-5526-41A4-9AAF-AB1D4CC1C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36192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  <a:endParaRPr sz="12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3FBBA67-7D76-4846-BFE8-D04C7BB8D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499616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배포부터 첫 호출까지 걸린 시간</a:t>
            </a:r>
            <a:endParaRPr sz="15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B8FF1F0-438B-4686-9E68-42E25CAA8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883664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우리가 7주차에 쓴 시간과 비교합니다</a:t>
            </a:r>
            <a:endParaRPr sz="12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8A29671F-2EAF-439D-A9E5-7ABA63771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08910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C7EC4786-186E-4097-AC87-504B7E720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08910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12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A1740C07-7B4E-4D70-87A3-2C2F4A731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672334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응답 형식</a:t>
            </a:r>
            <a:endParaRPr sz="15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3DFB8960-AB3A-461C-954E-9668E6811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056382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우리 FastAPI는 JSON이었는데 여기는 무엇인가</a:t>
            </a:r>
            <a:endParaRPr sz="12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17B9EBB1-E571-4DE5-AA77-CBE4498C0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81628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722A645C-CE11-444D-9A6F-6C9E69D1F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81628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sz="12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2A43FCB1-7548-4E20-8A99-119C1FDEC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845052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잘못된 값을 보내면</a:t>
            </a:r>
            <a:endParaRPr sz="15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930FD40D-8C2F-4F40-9C42-AF4C0B163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4229100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우리 Pydantic의 422와 어떻게 다른가</a:t>
            </a:r>
            <a:endParaRPr sz="12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FDECFD85-51C5-4EE6-9443-5DB3D7AC3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54346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F76121C8-9800-4B8E-910D-53CD2594F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54346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  <a:endParaRPr sz="12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19D220B6-AAD9-4E34-916D-0DEC8F4CA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017770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로그는 어디서 보나</a:t>
            </a:r>
            <a:endParaRPr sz="15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6D217997-ED56-451A-8460-CFA7BE7DB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401818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우리는 compose logs, 여기는 CloudWatch입니다</a:t>
            </a:r>
            <a:endParaRPr sz="12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B716B9E4-236A-4A4B-984F-4CE782C78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0515" y="2226564"/>
            <a:ext cx="4324252" cy="3154680"/>
          </a:xfrm>
          <a:prstGeom xmlns:a="http://schemas.openxmlformats.org/drawingml/2006/main" prst="roundRect">
            <a:avLst>
              <a:gd name="adj" fmla="val 2319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EBFB72EE-FC30-4976-BCCE-AC2ADBB8E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2446020"/>
            <a:ext cx="3775612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028090"/>
                </a:solidFill>
                <a:latin typeface="맑은 고딕"/>
                <a:ea typeface="맑은 고딕"/>
                <a:cs typeface="맑은 고딕"/>
              </a:rPr>
              <a:t>비교표 축</a:t>
            </a:r>
            <a:endParaRPr sz="14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13D4C706-AFE9-4BAA-9475-1BC3E8890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2921508"/>
            <a:ext cx="3775612" cy="2240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구축 시간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비용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수정 자유도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운영 부담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이식성</a:t>
            </a:r>
            <a:endParaRPr sz="12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00CC1B7F-96EC-45B9-AE93-97B4F199C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10주차</a:t>
            </a:r>
            <a:endParaRPr sz="9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4970B77A-7294-48B3-9846-4B60ABA79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19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2123586335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26409B3-E92D-4267-9BD0-880F237DA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삭제하고 코드로 확인하기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E44AEF3-21FC-4A65-B257-E766A31AF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지웠을 것이다는 확인이 아닙니다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A8E09141-5BCF-48AB-A199-AD4152E45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81328"/>
            <a:ext cx="11057839" cy="4325112"/>
          </a:xfrm>
          <a:prstGeom xmlns:a="http://schemas.openxmlformats.org/drawingml/2006/main" prst="roundRect">
            <a:avLst>
              <a:gd name="adj" fmla="val 1480"/>
            </a:avLst>
          </a:prstGeom>
          <a:solidFill xmlns:a="http://schemas.openxmlformats.org/drawingml/2006/main">
            <a:srgbClr val="0F262C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047116E2-DA1A-41EE-81E0-4D9DECC68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3167" y="1591056"/>
            <a:ext cx="1188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6E939B"/>
                </a:solidFill>
                <a:latin typeface="Consolas"/>
                <a:ea typeface="Consolas"/>
                <a:cs typeface="Consolas"/>
              </a:rPr>
              <a:t>python</a:t>
            </a:r>
            <a:endParaRPr sz="9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3CAD204-E846-48B0-893C-06D69CE3C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1719072"/>
            <a:ext cx="10436047" cy="3867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# 1. 엔드포인트와 구성을 함께 삭제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predictor.delete_endpoint(delete_endpoint_config=True)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# 2. 정말 지워졌는지 눈으로 확인한다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import boto3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sm = boto3.client("sagemaker", region_name="ap-northeast-2")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eps = sm.list_endpoints()["Endpoints"]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print("남은 엔드포인트 수:", len(eps))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for e in eps: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  print("  -", e["EndpointName"], e["EndpointStatus"])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cfgs = sm.list_endpoint_configs()["EndpointConfigs"]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print("남은 엔드포인트 구성 수:", len(cfgs))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# 3. 남은 모델 객체도 정리 (과금은 없지만 헷갈린다)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for m in sm.list_models(NameContains="&lt;학번&gt;")["Models"]: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  sm.delete_model(ModelName=m["ModelName"])</a:t>
            </a:r>
            <a:endParaRPr sz="11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C1138DA6-9231-4F78-9455-147B33ADE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16168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남은 엔드포인트 수가 0으로 찍힌 화면이 오늘 배점 최고 제출물입니다</a:t>
            </a:r>
            <a:endParaRPr sz="12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A8CB0B4-842B-47BD-97A9-4F627F4FD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10주차</a:t>
            </a:r>
            <a:endParaRPr sz="9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079FDAA-E18A-44F9-815F-8D36D8589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20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932948770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B053807-B8B7-4FD4-B7BA-53A170D3E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조교 1:1 삭제 점검 절차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479CDD7-88F8-4F96-9D8D-FBC8C9F5F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구두 보고는 확인으로 인정하지 않습니다. 서명 없이는 귀가하지 않습니다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C025A719-7C36-4CE5-A74B-71FF9402C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81328"/>
            <a:ext cx="11057839" cy="810158"/>
          </a:xfrm>
          <a:prstGeom xmlns:a="http://schemas.openxmlformats.org/drawingml/2006/main" prst="roundRect">
            <a:avLst>
              <a:gd name="adj" fmla="val 6772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EE1F0AAD-76BC-4D9B-8A63-3892FCDED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1694383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F87BEAFA-8784-4657-9411-FE49EBB15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1694383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  <a:endParaRPr sz="12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8C60F45-55CC-4DAA-A7B2-9894D5BC9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609344"/>
            <a:ext cx="99605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엔드포인트 0건 확인</a:t>
            </a:r>
            <a:endParaRPr sz="145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0CF96F10-2E42-488E-800A-0E2F4533F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975104"/>
            <a:ext cx="9960559" cy="2798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학생이 명령을 실행하고 조교가 화면을 직접 봅니다</a:t>
            </a:r>
            <a:endParaRPr sz="12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0BF65394-C3D8-48B5-AD1C-7E7355E75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19502"/>
            <a:ext cx="11057839" cy="810158"/>
          </a:xfrm>
          <a:prstGeom xmlns:a="http://schemas.openxmlformats.org/drawingml/2006/main" prst="roundRect">
            <a:avLst>
              <a:gd name="adj" fmla="val 6772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152B35D8-C254-470F-B5D4-D853CE875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63255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C19D862D-2486-4CAF-A012-4DC6B2866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632558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12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D657F7E8-5043-4E61-9768-93A89160E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47518"/>
            <a:ext cx="99605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Studio 스페이스가 Stopped</a:t>
            </a:r>
            <a:endParaRPr sz="14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B540F8E2-814C-4761-89EA-A1008DCD5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13278"/>
            <a:ext cx="9960559" cy="2798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Running, Starting, Updating 이면 미통과입니다</a:t>
            </a:r>
            <a:endParaRPr sz="12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01A9BC9C-E8D5-411E-9387-9E88D2A18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357677"/>
            <a:ext cx="11057839" cy="810158"/>
          </a:xfrm>
          <a:prstGeom xmlns:a="http://schemas.openxmlformats.org/drawingml/2006/main" prst="roundRect">
            <a:avLst>
              <a:gd name="adj" fmla="val 6772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28B95B47-AEB4-4106-A302-EC59BA6C3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570732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503CAD39-A3D3-44C3-B592-34128B2CF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570732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sz="12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322FEC50-C982-482A-A34B-898E9F6A5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485693"/>
            <a:ext cx="99605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살아 있는 앱이 없음</a:t>
            </a:r>
            <a:endParaRPr sz="145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8192AAB4-D2A1-480F-A128-D6E974301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851453"/>
            <a:ext cx="9960559" cy="2798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스페이스를 멈춰도 앱이 남는 경우가 있습니다</a:t>
            </a:r>
            <a:endParaRPr sz="12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4604D871-5B37-40AE-B5BF-B8239B057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95851"/>
            <a:ext cx="11057839" cy="810158"/>
          </a:xfrm>
          <a:prstGeom xmlns:a="http://schemas.openxmlformats.org/drawingml/2006/main" prst="roundRect">
            <a:avLst>
              <a:gd name="adj" fmla="val 6772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293440EC-2709-44B9-B2C0-6BAA7D74E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4508906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5764BDCA-1493-4316-84BD-D75A08913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4508906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  <a:endParaRPr sz="12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2F103B37-6FE2-4278-B7C1-E5BE744F7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423867"/>
            <a:ext cx="99605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EC2 인스턴스가 stopped</a:t>
            </a:r>
            <a:endParaRPr sz="14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965EFD08-80E1-47F2-904C-ACAB56E33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789627"/>
            <a:ext cx="9960559" cy="2798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평소와 똑같이 마지막에 확인합니다</a:t>
            </a:r>
            <a:endParaRPr sz="125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66C6FD2D-95BE-4D9A-B796-69871E457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234026"/>
            <a:ext cx="11057839" cy="810158"/>
          </a:xfrm>
          <a:prstGeom xmlns:a="http://schemas.openxmlformats.org/drawingml/2006/main" prst="roundRect">
            <a:avLst>
              <a:gd name="adj" fmla="val 6772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1AEC5010-BAE2-4C47-84F4-084E61CE5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447081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B5289326-03C1-4509-A6BD-9380D1E9C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447081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  <a:endParaRPr sz="12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FD0643D6-5AE2-40CB-B1F9-20C5FD0A5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362042"/>
            <a:ext cx="99605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짝꿍 화면도 확인해 주기</a:t>
            </a:r>
            <a:endParaRPr sz="145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E71700CF-65DD-4294-9C7E-919EBCD96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727802"/>
            <a:ext cx="9960559" cy="2798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네 칸이 다 통과되면 조교가 명단에 서명합니다</a:t>
            </a:r>
            <a:endParaRPr sz="125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0C84D4A4-C515-45E0-8381-B75573644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10주차</a:t>
            </a:r>
            <a:endParaRPr sz="90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618ACA1F-2890-4DCC-86F5-D7A28243E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21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793631558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1E6C91E-FD24-433A-BBB9-691B169B7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오늘의 체크포인트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E190C6E-DEC2-4A2E-BCCF-A0B8CD2B6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3번을 내지 않으면 이 회차 전체가 0점입니다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3409397F-CBA2-4562-84E0-5BC843B07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723644"/>
            <a:ext cx="11057839" cy="722376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F61DDB43-5615-4F9E-AF18-41A3BFAC3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1929384"/>
            <a:ext cx="310896" cy="310896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28090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8F7F602-7A65-4EA8-B68A-86D31CEE0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1824228"/>
            <a:ext cx="1005199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학습 잡 완료 화면</a:t>
            </a:r>
            <a:endParaRPr sz="14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94B3B257-DF9C-48F8-8664-DDF8967FF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2180844"/>
            <a:ext cx="10051999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상태가 Completed 이고 S3에 model.tar.gz 가 보일 것</a:t>
            </a:r>
            <a:endParaRPr sz="12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C8AB3656-62EF-4FAE-9AB9-15F9FD710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564892"/>
            <a:ext cx="11057839" cy="722376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EAB14D9F-011E-470E-8A40-99B423D21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770632"/>
            <a:ext cx="310896" cy="310896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28090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8610E3F1-EAA4-4281-8D10-9CA6A2401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2665476"/>
            <a:ext cx="1005199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엔드포인트 호출 응답</a:t>
            </a:r>
            <a:endParaRPr sz="14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7036ADD7-4224-45E6-A454-8B9FCF8F8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3022092"/>
            <a:ext cx="10051999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엔드포인트 이름이 함께 보이는 셀 출력 스크린샷</a:t>
            </a:r>
            <a:endParaRPr sz="12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CAC59277-8504-47BC-8A5D-563E6764D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06140"/>
            <a:ext cx="11057839" cy="722376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ECB9786B-8F35-4A8E-BAA7-DCEDEC34D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3611880"/>
            <a:ext cx="310896" cy="310896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28090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35356FA9-A2D3-42F8-BA70-ED9E3E19D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3506724"/>
            <a:ext cx="1005199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삭제 확인 캡처 2장</a:t>
            </a:r>
            <a:endParaRPr sz="14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2B488165-7758-4C6B-B6DC-AAFD2A4BD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3863340"/>
            <a:ext cx="10051999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남은 엔드포인트 수 0 출력 + 콘솔 목록이 비어 있는 화면</a:t>
            </a:r>
            <a:endParaRPr sz="12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B5DA645A-B98C-4BA5-8F7D-A2A497E6F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47388"/>
            <a:ext cx="11057839" cy="722376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CF28F889-F482-4E9C-9209-6A953D795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453128"/>
            <a:ext cx="310896" cy="310896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28090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08593FF3-8260-4AEF-B8B1-949FD5582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4347972"/>
            <a:ext cx="1005199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직접구축 vs 관리형 비교표</a:t>
            </a:r>
            <a:endParaRPr sz="14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31DBCC8D-D6B2-461D-B19C-FE32C4C71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4704588"/>
            <a:ext cx="10051999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빈칸 전부 채움 + 마지막 서술 3문장 이상</a:t>
            </a:r>
            <a:endParaRPr sz="12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F0D1F9E1-C8FA-4AAE-ACD9-9F1EE0838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88636"/>
            <a:ext cx="11057839" cy="722376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E046EC79-4C62-4041-8864-5EA7CCF71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5294376"/>
            <a:ext cx="310896" cy="310896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28090"/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2B0A4A9D-FFD6-4D16-BC12-575196BE6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5189220"/>
            <a:ext cx="1005199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내일 아침 재확인 캡처</a:t>
            </a:r>
            <a:endParaRPr sz="14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89BB3286-5F45-438C-B021-BBF80FBE5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5545836"/>
            <a:ext cx="10051999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과제. 24시간 뒤에도 0인지 확인해 제출합니다</a:t>
            </a:r>
            <a:endParaRPr sz="125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B1012C14-4A69-4BE2-9508-30F3B6132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10주차</a:t>
            </a:r>
            <a:endParaRPr sz="9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ED55A3ED-9453-4733-9590-6D33ADA1C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22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307462302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4982DB9-C5C6-42D7-AE87-694795AE8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귀가 전 마지막 확인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1BA0FAE-19BB-4C21-A699-A2E9111E7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오늘 배운 가장 중요한 기술은 SageMaker가 아닙니다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9C884E11-12BB-4A53-B274-E7967AD7B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81328"/>
            <a:ext cx="11057839" cy="393192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FCF1E6"/>
          </a:solidFill>
          <a:ln xmlns:a="http://schemas.openxmlformats.org/drawingml/2006/main" w="19050">
            <a:solidFill>
              <a:srgbClr val="D97A2B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FD8CDCA7-1C31-4606-A43A-62B29DA5F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1773936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A2B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35398827-7D5A-46AE-9F03-BA2C7DFEA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1773936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!</a:t>
            </a:r>
            <a:endParaRPr sz="26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85E24B2-C239-448E-8D95-3BA072A9D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056" y="1755648"/>
            <a:ext cx="9686239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8A4A12"/>
                </a:solidFill>
                <a:latin typeface="맑은 고딕"/>
                <a:ea typeface="맑은 고딕"/>
                <a:cs typeface="맑은 고딕"/>
              </a:rPr>
              <a:t>내가 켠 것을 내가 껐는지 확인하는 습관, 그것이 오늘의 성과입니다</a:t>
            </a:r>
            <a:endParaRPr sz="18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BE8054CB-2C63-4033-AFA3-A77C02A8F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505456"/>
            <a:ext cx="10143439" cy="2651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sz="1400">
                <a:solidFill>
                  <a:srgbClr val="5C3A18"/>
                </a:solidFill>
                <a:latin typeface="맑은 고딕"/>
                <a:ea typeface="맑은 고딕"/>
                <a:cs typeface="맑은 고딕"/>
              </a:rPr>
              <a:t>list-endpoints 결과에 내 학번이 들어간 항목이 하나도 없다</a:t>
            </a:r>
            <a:endParaRPr sz="1400"/>
          </a:p>
          <a:p xmlns:a="http://schemas.openxmlformats.org/drawingml/2006/main"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sz="1400">
                <a:solidFill>
                  <a:srgbClr val="5C3A18"/>
                </a:solidFill>
                <a:latin typeface="맑은 고딕"/>
                <a:ea typeface="맑은 고딕"/>
                <a:cs typeface="맑은 고딕"/>
              </a:rPr>
              <a:t>list-endpoint-configs 와 list-models 결과에도 내 것이 없다</a:t>
            </a:r>
            <a:endParaRPr sz="1400"/>
          </a:p>
          <a:p xmlns:a="http://schemas.openxmlformats.org/drawingml/2006/main"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sz="1400">
                <a:solidFill>
                  <a:srgbClr val="5C3A18"/>
                </a:solidFill>
                <a:latin typeface="맑은 고딕"/>
                <a:ea typeface="맑은 고딕"/>
                <a:cs typeface="맑은 고딕"/>
              </a:rPr>
              <a:t>Studio 스페이스가 Stopped 이거나 삭제되었다</a:t>
            </a:r>
            <a:endParaRPr sz="1400"/>
          </a:p>
          <a:p xmlns:a="http://schemas.openxmlformats.org/drawingml/2006/main"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sz="1400">
                <a:solidFill>
                  <a:srgbClr val="5C3A18"/>
                </a:solidFill>
                <a:latin typeface="맑은 고딕"/>
                <a:ea typeface="맑은 고딕"/>
                <a:cs typeface="맑은 고딕"/>
              </a:rPr>
              <a:t>살아 있는 앱이 없고 EC2 인스턴스가 stopped 이다</a:t>
            </a:r>
            <a:endParaRPr sz="1400"/>
          </a:p>
          <a:p xmlns:a="http://schemas.openxmlformats.org/drawingml/2006/main"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sz="1400">
                <a:solidFill>
                  <a:srgbClr val="5C3A18"/>
                </a:solidFill>
                <a:latin typeface="맑은 고딕"/>
                <a:ea typeface="맑은 고딕"/>
                <a:cs typeface="맑은 고딕"/>
              </a:rPr>
              <a:t>짝꿍 화면도 내가 확인해 주었고 조교 서명을 받았다</a:t>
            </a:r>
            <a:endParaRPr sz="14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990B33B2-C0BE-4234-ACCD-A9B8F421F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10주차</a:t>
            </a:r>
            <a:endParaRPr sz="9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6EE668BE-72E8-4556-BD34-74581EE5E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23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749997601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C394471-BA2E-466C-BB0C-8A03197C8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정리 · 다음 주 예고</a:t>
            </a:r>
            <a:endParaRPr sz="3000"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F79A709-BF4B-4082-8E8C-231D39604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280160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E0983434-120E-49AB-847B-3448755BA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280160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  <a:endParaRPr sz="12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E58F18E7-23A1-4F47-B855-7E32CA401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243584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오늘 배운 것</a:t>
            </a:r>
            <a:endParaRPr sz="15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C18D580-3797-4AE9-9821-C24D99047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627632"/>
            <a:ext cx="5956347" cy="77952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관리형은 대신 해주고 자유도·이식성·이해를 가져갑니다</a:t>
            </a:r>
            <a:endParaRPr sz="125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0918B265-5E03-4FE1-AA41-0AAC2B055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516886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CB18E3F5-FCE6-4626-A74A-F1557BE2F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516886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12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B9EA1D31-ABD5-4691-A902-B2EAB9348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480310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기억할 한 문장</a:t>
            </a:r>
            <a:endParaRPr sz="15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DD218C1D-BE16-4396-A691-AA42A5884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864358"/>
            <a:ext cx="5956347" cy="77952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사람이 부족하면 관리형, 돈이 부족하면 직접 구축</a:t>
            </a:r>
            <a:endParaRPr sz="125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473B2E70-2D2B-4B09-80CD-76572B5C9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753612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AE3E7904-AA38-46BC-9CBA-D83FFA3F7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753612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sz="12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2D536D94-1D39-4439-8FB0-A26B005D1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717036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다음 주</a:t>
            </a:r>
            <a:endParaRPr sz="155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96148586-D753-4421-8E97-B28979A23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4101084"/>
            <a:ext cx="5956347" cy="77952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생성형 AI를 붙여 예측 결과를 사람 말로 설명하게 합니다</a:t>
            </a:r>
            <a:endParaRPr sz="125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5326442A-E5DB-497B-BE56-D5293E485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990338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5DCD9E0E-BF29-48A0-AEF6-46C642FB8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990338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  <a:endParaRPr sz="12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55F20263-94E4-4CE5-97F1-B6CD5983E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4953762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다음 주 준비</a:t>
            </a:r>
            <a:endParaRPr sz="155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CAE9D3CC-8E73-4D21-8904-34B00F6F6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337810"/>
            <a:ext cx="5956347" cy="77952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모델 액세스 승인 공지를 오늘 저녁에 꼭 확인하세요</a:t>
            </a:r>
            <a:endParaRPr sz="12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312F13E5-B8C9-46E3-B560-F17862A8D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0515" y="2519172"/>
            <a:ext cx="4324252" cy="2313432"/>
          </a:xfrm>
          <a:prstGeom xmlns:a="http://schemas.openxmlformats.org/drawingml/2006/main" prst="roundRect">
            <a:avLst>
              <a:gd name="adj" fmla="val 3162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A6983923-7D58-4460-A0CD-707EA0950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2738628"/>
            <a:ext cx="3775612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028090"/>
                </a:solidFill>
                <a:latin typeface="맑은 고딕"/>
                <a:ea typeface="맑은 고딕"/>
                <a:cs typeface="맑은 고딕"/>
              </a:rPr>
              <a:t>과제</a:t>
            </a:r>
            <a:endParaRPr sz="145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56D7F08D-C407-46C3-9E67-C9DF9337C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3214116"/>
            <a:ext cx="3775612" cy="1399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내일 아침 9시 전 재확인 캡처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비교표를 팀 저장소에 커밋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Cost Explorer로 실제 금액 확인</a:t>
            </a:r>
            <a:endParaRPr sz="12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C4CE9417-62DB-4471-B9BA-751F49119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10주차</a:t>
            </a:r>
            <a:endParaRPr sz="9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D956035D-2EC5-45CE-A721-CA2883B30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24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810456468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">
            <a:extLst xmlns:a="http://schemas.openxmlformats.org/drawingml/2006/main">
              <a:ext uri="{FF2B5EF4-FFF2-40B4-BE49-F238E27FC236}">
                <a16:creationId xmlns:a16="http://schemas.microsoft.com/office/drawing/2014/main" id="{EB4EF770-FB27-460B-9D70-F24E1F69A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10주차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524FED8-FDE5-4F9C-AB78-DD4BD6F94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오늘 시스템에서 데이터가 흐르는 길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12DE76C5-B9FB-4DAB-9AC8-6EDD1F89E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4" name="takeaway">
            <a:extLst xmlns:a="http://schemas.openxmlformats.org/drawingml/2006/main">
              <a:ext uri="{FF2B5EF4-FFF2-40B4-BE49-F238E27FC236}">
                <a16:creationId xmlns:a16="http://schemas.microsoft.com/office/drawing/2014/main" id="{08B6878D-41FB-4F67-8A47-28A00E245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2400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42566F"/>
                </a:solidFill>
              </a:defRPr>
            </a:pPr>
            <a:r>
              <a:rPr sz="1650" b="0">
                <a:solidFill>
                  <a:srgbClr val="42566F"/>
                </a:solidFill>
              </a:rPr>
              <a:t>관리형 학습과 엔드포인트를 사용하고 호출 후 관련 리소스를 삭제한다.</a:t>
            </a:r>
          </a:p>
        </p:txBody>
      </p:sp>
      <p:sp>
        <p:nvSpPr>
          <p:cNvPr id="5" name="node-1">
            <a:extLst xmlns:a="http://schemas.openxmlformats.org/drawingml/2006/main">
              <a:ext uri="{FF2B5EF4-FFF2-40B4-BE49-F238E27FC236}">
                <a16:creationId xmlns:a16="http://schemas.microsoft.com/office/drawing/2014/main" id="{286A9216-3FC1-43A9-8DCF-1A740B51C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14625"/>
            <a:ext cx="14478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4288">
            <a:solidFill>
              <a:srgbClr val="8EA6C0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5263C"/>
                </a:solidFill>
              </a:defRPr>
            </a:pPr>
            <a:r>
              <a:rPr sz="1275" b="1">
                <a:solidFill>
                  <a:srgbClr val="15263C"/>
                </a:solidFill>
              </a:rPr>
              <a:t>S3 data</a:t>
            </a:r>
          </a:p>
        </p:txBody>
      </p:sp>
      <p:sp>
        <p:nvSpPr>
          <p:cNvPr id="6" name="node-2">
            <a:extLst xmlns:a="http://schemas.openxmlformats.org/drawingml/2006/main">
              <a:ext uri="{FF2B5EF4-FFF2-40B4-BE49-F238E27FC236}">
                <a16:creationId xmlns:a16="http://schemas.microsoft.com/office/drawing/2014/main" id="{F3161723-4D90-41BD-9D69-E575F00A9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714625"/>
            <a:ext cx="14478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8EA6C0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5263C"/>
                </a:solidFill>
              </a:defRPr>
            </a:pPr>
            <a:r>
              <a:rPr sz="1275" b="1">
                <a:solidFill>
                  <a:srgbClr val="15263C"/>
                </a:solidFill>
              </a:rPr>
              <a:t>Training Job</a:t>
            </a:r>
          </a:p>
        </p:txBody>
      </p:sp>
      <p:sp>
        <p:nvSpPr>
          <p:cNvPr id="7" name="node-3">
            <a:extLst xmlns:a="http://schemas.openxmlformats.org/drawingml/2006/main">
              <a:ext uri="{FF2B5EF4-FFF2-40B4-BE49-F238E27FC236}">
                <a16:creationId xmlns:a16="http://schemas.microsoft.com/office/drawing/2014/main" id="{9588D3EA-36CF-4253-A7C1-0C11DE445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714625"/>
            <a:ext cx="14478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8EA6C0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5263C"/>
                </a:solidFill>
              </a:defRPr>
            </a:pPr>
            <a:r>
              <a:rPr sz="1275" b="1">
                <a:solidFill>
                  <a:srgbClr val="15263C"/>
                </a:solidFill>
              </a:rPr>
              <a:t>model.tar.gz</a:t>
            </a:r>
          </a:p>
        </p:txBody>
      </p:sp>
      <p:sp>
        <p:nvSpPr>
          <p:cNvPr id="8" name="node-4">
            <a:extLst xmlns:a="http://schemas.openxmlformats.org/drawingml/2006/main">
              <a:ext uri="{FF2B5EF4-FFF2-40B4-BE49-F238E27FC236}">
                <a16:creationId xmlns:a16="http://schemas.microsoft.com/office/drawing/2014/main" id="{7BBB3818-921D-4CC9-9DB6-106E96981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714625"/>
            <a:ext cx="14478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8EA6C0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5263C"/>
                </a:solidFill>
              </a:defRPr>
            </a:pPr>
            <a:r>
              <a:rPr sz="1275" b="1">
                <a:solidFill>
                  <a:srgbClr val="15263C"/>
                </a:solidFill>
              </a:rPr>
              <a:t>Model</a:t>
            </a:r>
          </a:p>
        </p:txBody>
      </p:sp>
      <p:sp>
        <p:nvSpPr>
          <p:cNvPr id="9" name="node-5">
            <a:extLst xmlns:a="http://schemas.openxmlformats.org/drawingml/2006/main">
              <a:ext uri="{FF2B5EF4-FFF2-40B4-BE49-F238E27FC236}">
                <a16:creationId xmlns:a16="http://schemas.microsoft.com/office/drawing/2014/main" id="{FA103058-CC66-4FE7-8CCA-E39369E10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714625"/>
            <a:ext cx="14478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8EA6C0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5263C"/>
                </a:solidFill>
              </a:defRPr>
            </a:pPr>
            <a:r>
              <a:rPr sz="1275" b="1">
                <a:solidFill>
                  <a:srgbClr val="15263C"/>
                </a:solidFill>
              </a:rPr>
              <a:t>Endpoint config</a:t>
            </a:r>
          </a:p>
        </p:txBody>
      </p:sp>
      <p:sp>
        <p:nvSpPr>
          <p:cNvPr id="10" name="node-6">
            <a:extLst xmlns:a="http://schemas.openxmlformats.org/drawingml/2006/main">
              <a:ext uri="{FF2B5EF4-FFF2-40B4-BE49-F238E27FC236}">
                <a16:creationId xmlns:a16="http://schemas.microsoft.com/office/drawing/2014/main" id="{F78A7FA3-401F-4200-ACEA-EF73A9B63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14625"/>
            <a:ext cx="14478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8EA6C0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5263C"/>
                </a:solidFill>
              </a:defRPr>
            </a:pPr>
            <a:r>
              <a:rPr sz="1275" b="1">
                <a:solidFill>
                  <a:srgbClr val="15263C"/>
                </a:solidFill>
              </a:rPr>
              <a:t>Endpoint</a:t>
            </a:r>
          </a:p>
        </p:txBody>
      </p:sp>
      <p:sp>
        <p:nvSpPr>
          <p:cNvPr id="11" name="node-7">
            <a:extLst xmlns:a="http://schemas.openxmlformats.org/drawingml/2006/main">
              <a:ext uri="{FF2B5EF4-FFF2-40B4-BE49-F238E27FC236}">
                <a16:creationId xmlns:a16="http://schemas.microsoft.com/office/drawing/2014/main" id="{CD2F178E-C27D-4A9E-97EB-929B9703D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714625"/>
            <a:ext cx="14478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0E5"/>
          </a:solidFill>
          <a:ln xmlns:a="http://schemas.openxmlformats.org/drawingml/2006/main" w="14288">
            <a:solidFill>
              <a:srgbClr val="E77722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5263C"/>
                </a:solidFill>
              </a:defRPr>
            </a:pPr>
            <a:r>
              <a:rPr sz="1275" b="1">
                <a:solidFill>
                  <a:srgbClr val="15263C"/>
                </a:solidFill>
              </a:rPr>
              <a:t>Delete</a:t>
            </a:r>
          </a:p>
        </p:txBody>
      </p:sp>
      <p:cxnSp>
        <p:nvCxnSpPr>
          <p:cNvPr id="48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019300" y="3286125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7895"/>
            </a:solidFill>
            <a:prstDash val="solid"/>
            <a:headEnd type="arrow" w="med" len="med"/>
          </a:ln>
        </p:spPr>
      </p:cxnSp>
      <p:cxnSp>
        <p:nvCxnSpPr>
          <p:cNvPr id="49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619500" y="3286125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7895"/>
            </a:solidFill>
            <a:prstDash val="solid"/>
            <a:headEnd type="arrow" w="med" len="med"/>
          </a:ln>
        </p:spPr>
      </p:cxnSp>
      <p:cxnSp>
        <p:nvCxnSpPr>
          <p:cNvPr id="50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219700" y="3286125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7895"/>
            </a:solidFill>
            <a:prstDash val="solid"/>
            <a:headEnd type="arrow" w="med" len="med"/>
          </a:ln>
        </p:spPr>
      </p:cxnSp>
      <p:cxnSp>
        <p:nvCxnSpPr>
          <p:cNvPr id="51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6819900" y="3286125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7895"/>
            </a:solidFill>
            <a:prstDash val="solid"/>
            <a:headEnd type="arrow" w="med" len="med"/>
          </a:ln>
        </p:spPr>
      </p:cxnSp>
      <p:cxnSp>
        <p:nvCxnSpPr>
          <p:cNvPr id="52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420100" y="3286125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7895"/>
            </a:solidFill>
            <a:prstDash val="solid"/>
            <a:headEnd type="arrow" w="med" len="med"/>
          </a:ln>
        </p:spPr>
      </p:cxnSp>
      <p:cxnSp>
        <p:nvCxnSpPr>
          <p:cNvPr id="53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10020300" y="3286125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7895"/>
            </a:solidFill>
            <a:prstDash val="solid"/>
            <a:headEnd type="arrow" w="med" len="med"/>
          </a:ln>
        </p:spPr>
      </p:cxnSp>
      <p:sp>
        <p:nvSpPr>
          <p:cNvPr id="18" name="read-order">
            <a:extLst xmlns:a="http://schemas.openxmlformats.org/drawingml/2006/main">
              <a:ext uri="{FF2B5EF4-FFF2-40B4-BE49-F238E27FC236}">
                <a16:creationId xmlns:a16="http://schemas.microsoft.com/office/drawing/2014/main" id="{2E936A47-35AE-432B-A558-578580EEA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76750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왼쪽에서 오른쪽으로 읽습니다. 각 화살표는 다음 단계가 바로 앞 단계의 결과를 입력으로 사용한다는 뜻입니다.</a:t>
            </a:r>
          </a:p>
        </p:txBody>
      </p:sp>
      <p:sp>
        <p:nvSpPr>
          <p:cNvPr id="19" name="footer">
            <a:extLst xmlns:a="http://schemas.openxmlformats.org/drawingml/2006/main">
              <a:ext uri="{FF2B5EF4-FFF2-40B4-BE49-F238E27FC236}">
                <a16:creationId xmlns:a16="http://schemas.microsoft.com/office/drawing/2014/main" id="{65671918-938C-4D18-9E32-87F11CBC4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확인 질문: 어느 단계가 실패했는지 파일·로그·URL로 증명할 수 있는가?</a:t>
            </a:r>
          </a:p>
        </p:txBody>
      </p:sp>
    </p:spTree>
    <p:extLst>
      <p:ext uri="{BB962C8B-B14F-4D97-AF65-F5344CB8AC3E}">
        <p14:creationId xmlns:p14="http://schemas.microsoft.com/office/powerpoint/2010/main" val="1064430798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F8750AF2-EFC2-452A-AD51-BD6A588F4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10주차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1D68DCC-5A5C-4DFD-AA29-31ED11E6D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AWS 화면으로 가는 길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0D9BFF5C-172E-4866-8237-D3D85AE46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bd4464d0cc4de1"/>
          <a:stretch xmlns:a="http://schemas.openxmlformats.org/drawingml/2006/main"/>
        </p:blipFill>
        <p:spPr>
          <a:xfrm xmlns:a="http://schemas.openxmlformats.org/drawingml/2006/main">
            <a:off x="2070299" y="1666875"/>
            <a:ext cx="2812653" cy="4000500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41674709-E082-43D7-909A-F9DBBE479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F286E885-B81F-4C6D-9990-22152B6BC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SageMaker AI → Inference → Endpoints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5E481237-1A39-45E2-BEA2-BEA2A8635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리전과 계정/역할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리소스 이름과 상태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비용이 발생하는 실행 자원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작업 뒤 중지·삭제 여부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C49A3037-3452-4996-9514-737AC6CC9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a5e63dfcaa12457e"/>
              </a:rPr>
              <a:t>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546a73a674604c45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C247E42D-B5D1-4471-B817-4149447E5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화면 모양은 바뀔 수 있습니다. 버튼 위치보다 메뉴 이름과 리소스 상태를 기준으로 찾습니다.</a:t>
            </a:r>
          </a:p>
        </p:txBody>
      </p:sp>
    </p:spTree>
    <p:extLst>
      <p:ext uri="{BB962C8B-B14F-4D97-AF65-F5344CB8AC3E}">
        <p14:creationId xmlns:p14="http://schemas.microsoft.com/office/powerpoint/2010/main" val="1177422993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F8750AF2-EFC2-452A-AD51-BD6A588F4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10주차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1D68DCC-5A5C-4DFD-AA29-31ED11E6D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01: SageMaker 모델·구성·엔드포인트 사전 점검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0D9BFF5C-172E-4866-8237-D3D85AE46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41674709-E082-43D7-909A-F9DBBE479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F286E885-B81F-4C6D-9990-22152B6BC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CloudShell 또는 Systems Manager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5E481237-1A39-45E2-BEA2-BEA2A8635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SageMaker 모델·구성·엔드포인트 사전 점검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C49A3037-3452-4996-9514-737AC6CC9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684141adfd6c4944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aa7460bb6f9149c3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C247E42D-B5D1-4471-B817-4149447E5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5a447609b14ff2"/>
          <a:stretch xmlns:a="http://schemas.openxmlformats.org/drawingml/2006/main"/>
        </p:blipFill>
        <p:spPr>
          <a:xfrm xmlns:a="http://schemas.openxmlformats.org/drawingml/2006/main">
            <a:off x="571500" y="2032992"/>
            <a:ext cx="5810250" cy="3268266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177422993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F8750AF2-EFC2-452A-AD51-BD6A588F4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10주차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1D68DCC-5A5C-4DFD-AA29-31ED11E6D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02: SageMaker 모델 목록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0D9BFF5C-172E-4866-8237-D3D85AE46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41674709-E082-43D7-909A-F9DBBE479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F286E885-B81F-4C6D-9990-22152B6BC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SageMaker AI → Deployments &amp; inference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5E481237-1A39-45E2-BEA2-BEA2A8635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SageMaker 모델 목록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C49A3037-3452-4996-9514-737AC6CC9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f4b7a47f58d74d4c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62e77e7e4f3a4e4c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C247E42D-B5D1-4471-B817-4149447E5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2ba6d207364de6"/>
          <a:stretch xmlns:a="http://schemas.openxmlformats.org/drawingml/2006/main"/>
        </p:blipFill>
        <p:spPr>
          <a:xfrm xmlns:a="http://schemas.openxmlformats.org/drawingml/2006/main">
            <a:off x="571500" y="2032992"/>
            <a:ext cx="5810250" cy="3268266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177422993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F8750AF2-EFC2-452A-AD51-BD6A588F4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10주차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1D68DCC-5A5C-4DFD-AA29-31ED11E6D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03: 엔드포인트 구성 목록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0D9BFF5C-172E-4866-8237-D3D85AE46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41674709-E082-43D7-909A-F9DBBE479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F286E885-B81F-4C6D-9990-22152B6BC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SageMaker AI → Deployments &amp; inference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5E481237-1A39-45E2-BEA2-BEA2A8635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엔드포인트 구성 목록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C49A3037-3452-4996-9514-737AC6CC9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7aa2009bd2644fe8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7e41678091c24e6f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C247E42D-B5D1-4471-B817-4149447E5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127841a5c8479c"/>
          <a:stretch xmlns:a="http://schemas.openxmlformats.org/drawingml/2006/main"/>
        </p:blipFill>
        <p:spPr>
          <a:xfrm xmlns:a="http://schemas.openxmlformats.org/drawingml/2006/main">
            <a:off x="571500" y="2032992"/>
            <a:ext cx="5810250" cy="3268266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177422993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F8750AF2-EFC2-452A-AD51-BD6A588F4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10주차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1D68DCC-5A5C-4DFD-AA29-31ED11E6D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04: 실습 전 엔드포인트 없음 확인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0D9BFF5C-172E-4866-8237-D3D85AE46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41674709-E082-43D7-909A-F9DBBE479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F286E885-B81F-4C6D-9990-22152B6BC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SageMaker AI → Deployments &amp; inference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5E481237-1A39-45E2-BEA2-BEA2A8635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실습 전 엔드포인트 없음 확인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C49A3037-3452-4996-9514-737AC6CC9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6e607762ae8a49b8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d7f31157955d4a8e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C247E42D-B5D1-4471-B817-4149447E5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9758b7903547aa"/>
          <a:stretch xmlns:a="http://schemas.openxmlformats.org/drawingml/2006/main"/>
        </p:blipFill>
        <p:spPr>
          <a:xfrm xmlns:a="http://schemas.openxmlformats.org/drawingml/2006/main">
            <a:off x="571500" y="2032992"/>
            <a:ext cx="5810250" cy="3268266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177422993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F8750AF2-EFC2-452A-AD51-BD6A588F4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10주차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1D68DCC-5A5C-4DFD-AA29-31ED11E6D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05: 서버리스 엔드포인트 생성 요청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0D9BFF5C-172E-4866-8237-D3D85AE46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41674709-E082-43D7-909A-F9DBBE479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F286E885-B81F-4C6D-9990-22152B6BC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CloudShell 또는 Systems Manager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5E481237-1A39-45E2-BEA2-BEA2A8635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서버리스 엔드포인트 생성 요청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C49A3037-3452-4996-9514-737AC6CC9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29a6f8eacc9e4d29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1ce1edb75e6e4dfc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C247E42D-B5D1-4471-B817-4149447E5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0d6f25f83b49e9"/>
          <a:stretch xmlns:a="http://schemas.openxmlformats.org/drawingml/2006/main"/>
        </p:blipFill>
        <p:spPr>
          <a:xfrm xmlns:a="http://schemas.openxmlformats.org/drawingml/2006/main">
            <a:off x="571500" y="2032992"/>
            <a:ext cx="5810250" cy="3268266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177422993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F8750AF2-EFC2-452A-AD51-BD6A588F4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10주차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1D68DCC-5A5C-4DFD-AA29-31ED11E6D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06: 생성 중 엔드포인트 목록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0D9BFF5C-172E-4866-8237-D3D85AE46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41674709-E082-43D7-909A-F9DBBE479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F286E885-B81F-4C6D-9990-22152B6BC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SageMaker AI → Deployments &amp; inference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5E481237-1A39-45E2-BEA2-BEA2A8635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생성 중 엔드포인트 목록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C49A3037-3452-4996-9514-737AC6CC9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24465392fa8b4924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347779fafa194096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C247E42D-B5D1-4471-B817-4149447E5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a2e4bccd1647d6"/>
          <a:stretch xmlns:a="http://schemas.openxmlformats.org/drawingml/2006/main"/>
        </p:blipFill>
        <p:spPr>
          <a:xfrm xmlns:a="http://schemas.openxmlformats.org/drawingml/2006/main">
            <a:off x="571500" y="2032992"/>
            <a:ext cx="5810250" cy="3268266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177422993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F8750AF2-EFC2-452A-AD51-BD6A588F4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10주차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1D68DCC-5A5C-4DFD-AA29-31ED11E6D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07: 생성 중 엔드포인트 상세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0D9BFF5C-172E-4866-8237-D3D85AE46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41674709-E082-43D7-909A-F9DBBE479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F286E885-B81F-4C6D-9990-22152B6BC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SageMaker AI → Deployments &amp; inference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5E481237-1A39-45E2-BEA2-BEA2A8635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생성 중 엔드포인트 상세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C49A3037-3452-4996-9514-737AC6CC9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574ea734124147f4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3594e645bfbe4b2f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C247E42D-B5D1-4471-B817-4149447E5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021dfe01c64fe4"/>
          <a:stretch xmlns:a="http://schemas.openxmlformats.org/drawingml/2006/main"/>
        </p:blipFill>
        <p:spPr>
          <a:xfrm xmlns:a="http://schemas.openxmlformats.org/drawingml/2006/main">
            <a:off x="571500" y="2031987"/>
            <a:ext cx="5810250" cy="3270275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177422993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F8750AF2-EFC2-452A-AD51-BD6A588F4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10주차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1D68DCC-5A5C-4DFD-AA29-31ED11E6D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08: 모델 v1 상세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0D9BFF5C-172E-4866-8237-D3D85AE46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41674709-E082-43D7-909A-F9DBBE479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F286E885-B81F-4C6D-9990-22152B6BC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SageMaker AI → Deployments &amp; inference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5E481237-1A39-45E2-BEA2-BEA2A8635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모델 v1 상세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C49A3037-3452-4996-9514-737AC6CC9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2d4d72fd9107459e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585d3597e885446c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C247E42D-B5D1-4471-B817-4149447E5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2fb5961282484a"/>
          <a:stretch xmlns:a="http://schemas.openxmlformats.org/drawingml/2006/main"/>
        </p:blipFill>
        <p:spPr>
          <a:xfrm xmlns:a="http://schemas.openxmlformats.org/drawingml/2006/main">
            <a:off x="571500" y="2032992"/>
            <a:ext cx="5810250" cy="3268266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177422993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F8750AF2-EFC2-452A-AD51-BD6A588F4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10주차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1D68DCC-5A5C-4DFD-AA29-31ED11E6D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09: 서버리스 구성 v1 상세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0D9BFF5C-172E-4866-8237-D3D85AE46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41674709-E082-43D7-909A-F9DBBE479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F286E885-B81F-4C6D-9990-22152B6BC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SageMaker AI → Deployments &amp; inference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5E481237-1A39-45E2-BEA2-BEA2A8635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서버리스 구성 v1 상세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C49A3037-3452-4996-9514-737AC6CC9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5d033da8642142f3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1e8f4b4a294b4bb3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C247E42D-B5D1-4471-B817-4149447E5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e3e1563605432e"/>
          <a:stretch xmlns:a="http://schemas.openxmlformats.org/drawingml/2006/main"/>
        </p:blipFill>
        <p:spPr>
          <a:xfrm xmlns:a="http://schemas.openxmlformats.org/drawingml/2006/main">
            <a:off x="571500" y="2031987"/>
            <a:ext cx="5810250" cy="3270275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177422993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F8750AF2-EFC2-452A-AD51-BD6A588F4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10주차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1D68DCC-5A5C-4DFD-AA29-31ED11E6D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10: 훈련 작업 목록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0D9BFF5C-172E-4866-8237-D3D85AE46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41674709-E082-43D7-909A-F9DBBE479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F286E885-B81F-4C6D-9990-22152B6BC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SageMaker AI → Deployments &amp; inference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5E481237-1A39-45E2-BEA2-BEA2A8635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훈련 작업 목록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C49A3037-3452-4996-9514-737AC6CC9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4b4b85beaa834412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12b4f803e4554518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C247E42D-B5D1-4471-B817-4149447E5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d32647b9514055"/>
          <a:stretch xmlns:a="http://schemas.openxmlformats.org/drawingml/2006/main"/>
        </p:blipFill>
        <p:spPr>
          <a:xfrm xmlns:a="http://schemas.openxmlformats.org/drawingml/2006/main">
            <a:off x="571500" y="2032992"/>
            <a:ext cx="5810250" cy="3268266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177422993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F8750AF2-EFC2-452A-AD51-BD6A588F4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10주차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1D68DCC-5A5C-4DFD-AA29-31ED11E6D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11: S3 모델 산출물 경로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0D9BFF5C-172E-4866-8237-D3D85AE46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41674709-E082-43D7-909A-F9DBBE479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F286E885-B81F-4C6D-9990-22152B6BC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S3 → models/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5E481237-1A39-45E2-BEA2-BEA2A8635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S3 모델 산출물 경로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C49A3037-3452-4996-9514-737AC6CC9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0ce07f078d744c48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d7307c6422aa4e8c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C247E42D-B5D1-4471-B817-4149447E5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352496f1854652"/>
          <a:stretch xmlns:a="http://schemas.openxmlformats.org/drawingml/2006/main"/>
        </p:blipFill>
        <p:spPr>
          <a:xfrm xmlns:a="http://schemas.openxmlformats.org/drawingml/2006/main">
            <a:off x="571500" y="2032992"/>
            <a:ext cx="5810250" cy="3268266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177422993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F8750AF2-EFC2-452A-AD51-BD6A588F4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10주차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1D68DCC-5A5C-4DFD-AA29-31ED11E6D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12: 훈련 작업 생성 양식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0D9BFF5C-172E-4866-8237-D3D85AE46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41674709-E082-43D7-909A-F9DBBE479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F286E885-B81F-4C6D-9990-22152B6BC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SageMaker AI → Deployments &amp; inference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5E481237-1A39-45E2-BEA2-BEA2A8635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훈련 작업 생성 양식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C49A3037-3452-4996-9514-737AC6CC9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64bb6eec85a24447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becfff2fb4ff477e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C247E42D-B5D1-4471-B817-4149447E5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5e0c1434b04275"/>
          <a:stretch xmlns:a="http://schemas.openxmlformats.org/drawingml/2006/main"/>
        </p:blipFill>
        <p:spPr>
          <a:xfrm xmlns:a="http://schemas.openxmlformats.org/drawingml/2006/main">
            <a:off x="571500" y="2031987"/>
            <a:ext cx="5810250" cy="3270275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177422993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F8750AF2-EFC2-452A-AD51-BD6A588F4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10주차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1D68DCC-5A5C-4DFD-AA29-31ED11E6D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13: 서버리스 엔드포인트 상태 확인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0D9BFF5C-172E-4866-8237-D3D85AE46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41674709-E082-43D7-909A-F9DBBE479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F286E885-B81F-4C6D-9990-22152B6BC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SageMaker AI → Deployments &amp; inference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5E481237-1A39-45E2-BEA2-BEA2A8635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서버리스 엔드포인트 상태 확인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C49A3037-3452-4996-9514-737AC6CC9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3eee418e11dd4e8e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85e860d226874924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C247E42D-B5D1-4471-B817-4149447E5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481eca6e4a4b18"/>
          <a:stretch xmlns:a="http://schemas.openxmlformats.org/drawingml/2006/main"/>
        </p:blipFill>
        <p:spPr>
          <a:xfrm xmlns:a="http://schemas.openxmlformats.org/drawingml/2006/main">
            <a:off x="571500" y="2032992"/>
            <a:ext cx="5810250" cy="3268266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177422993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F8750AF2-EFC2-452A-AD51-BD6A588F4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10주차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1D68DCC-5A5C-4DFD-AA29-31ED11E6D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14: 엔드포인트 관찰성 지표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0D9BFF5C-172E-4866-8237-D3D85AE46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41674709-E082-43D7-909A-F9DBBE479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F286E885-B81F-4C6D-9990-22152B6BC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SageMaker AI → Deployments &amp; inference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5E481237-1A39-45E2-BEA2-BEA2A8635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엔드포인트 관찰성 지표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C49A3037-3452-4996-9514-737AC6CC9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201ef19c62724953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4043c5bb40604b83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C247E42D-B5D1-4471-B817-4149447E5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53544e1f654bd0"/>
          <a:stretch xmlns:a="http://schemas.openxmlformats.org/drawingml/2006/main"/>
        </p:blipFill>
        <p:spPr>
          <a:xfrm xmlns:a="http://schemas.openxmlformats.org/drawingml/2006/main">
            <a:off x="571500" y="2031987"/>
            <a:ext cx="5810250" cy="3270275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177422993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F8750AF2-EFC2-452A-AD51-BD6A588F4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10주차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1D68DCC-5A5C-4DFD-AA29-31ED11E6D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15: SageMaker 서비스 할당량 목록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0D9BFF5C-172E-4866-8237-D3D85AE46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41674709-E082-43D7-909A-F9DBBE479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F286E885-B81F-4C6D-9990-22152B6BC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Service Quotas → Amazon SageMaker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5E481237-1A39-45E2-BEA2-BEA2A8635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SageMaker 서비스 할당량 목록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C49A3037-3452-4996-9514-737AC6CC9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88af7bc163a74b48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c542ea6f21474273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C247E42D-B5D1-4471-B817-4149447E5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9172a1d5324c1a"/>
          <a:stretch xmlns:a="http://schemas.openxmlformats.org/drawingml/2006/main"/>
        </p:blipFill>
        <p:spPr>
          <a:xfrm xmlns:a="http://schemas.openxmlformats.org/drawingml/2006/main">
            <a:off x="571500" y="2032992"/>
            <a:ext cx="5810250" cy="3268266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177422993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F8750AF2-EFC2-452A-AD51-BD6A588F4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10주차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1D68DCC-5A5C-4DFD-AA29-31ED11E6D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16: ml.m5.large 관련 할당량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0D9BFF5C-172E-4866-8237-D3D85AE46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41674709-E082-43D7-909A-F9DBBE479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F286E885-B81F-4C6D-9990-22152B6BC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Service Quotas → Amazon SageMaker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5E481237-1A39-45E2-BEA2-BEA2A8635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ml.m5.large 관련 할당량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C49A3037-3452-4996-9514-737AC6CC9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ddf8cb6ae01b4215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24c859f8897b4c52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C247E42D-B5D1-4471-B817-4149447E5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8c00fc988e4684"/>
          <a:stretch xmlns:a="http://schemas.openxmlformats.org/drawingml/2006/main"/>
        </p:blipFill>
        <p:spPr>
          <a:xfrm xmlns:a="http://schemas.openxmlformats.org/drawingml/2006/main">
            <a:off x="571500" y="2031987"/>
            <a:ext cx="5810250" cy="3270275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177422993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F8750AF2-EFC2-452A-AD51-BD6A588F4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10주차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1D68DCC-5A5C-4DFD-AA29-31ED11E6D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17: 실시간 엔드포인트 ml.m5.large 할당량 0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0D9BFF5C-172E-4866-8237-D3D85AE46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41674709-E082-43D7-909A-F9DBBE479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F286E885-B81F-4C6D-9990-22152B6BC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Service Quotas → Amazon SageMaker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5E481237-1A39-45E2-BEA2-BEA2A8635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실시간 ml.m5.large 계정 할당량이 0이라 서버리스 방식을 사용해야 함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C49A3037-3452-4996-9514-737AC6CC9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18fb80dda45a4e74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40714b5286b04662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C247E42D-B5D1-4471-B817-4149447E5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4ebac8594c4ea8"/>
          <a:stretch xmlns:a="http://schemas.openxmlformats.org/drawingml/2006/main"/>
        </p:blipFill>
        <p:spPr>
          <a:xfrm xmlns:a="http://schemas.openxmlformats.org/drawingml/2006/main">
            <a:off x="571500" y="2032992"/>
            <a:ext cx="5810250" cy="3268266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177422993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F8750AF2-EFC2-452A-AD51-BD6A588F4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10주차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1D68DCC-5A5C-4DFD-AA29-31ED11E6D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18: 서버리스 엔드포인트 v1 Failed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0D9BFF5C-172E-4866-8237-D3D85AE46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41674709-E082-43D7-909A-F9DBBE479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F286E885-B81F-4C6D-9990-22152B6BC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SageMaker AI → Deployments &amp; inference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5E481237-1A39-45E2-BEA2-BEA2A8635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서버리스 엔드포인트 v1 Failed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C49A3037-3452-4996-9514-737AC6CC9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bfdfce8771e74396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7685866fe01b485f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C247E42D-B5D1-4471-B817-4149447E5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32f92786f14a6a"/>
          <a:stretch xmlns:a="http://schemas.openxmlformats.org/drawingml/2006/main"/>
        </p:blipFill>
        <p:spPr>
          <a:xfrm xmlns:a="http://schemas.openxmlformats.org/drawingml/2006/main">
            <a:off x="571500" y="2031987"/>
            <a:ext cx="5810250" cy="3270275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177422993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F8750AF2-EFC2-452A-AD51-BD6A588F4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10주차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1D68DCC-5A5C-4DFD-AA29-31ED11E6D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19: serve 진입점 누락 오류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0D9BFF5C-172E-4866-8237-D3D85AE46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41674709-E082-43D7-909A-F9DBBE479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F286E885-B81F-4C6D-9990-22152B6BC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SageMaker AI → Deployments &amp; inference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5E481237-1A39-45E2-BEA2-BEA2A8635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`Model entrypoint executable "serve" was not found in container PATH`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C49A3037-3452-4996-9514-737AC6CC9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b5c0bc32e2b54fdd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071827f5a7f5402c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C247E42D-B5D1-4471-B817-4149447E5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2bdb80350042e9"/>
          <a:stretch xmlns:a="http://schemas.openxmlformats.org/drawingml/2006/main"/>
        </p:blipFill>
        <p:spPr>
          <a:xfrm xmlns:a="http://schemas.openxmlformats.org/drawingml/2006/main">
            <a:off x="571500" y="2031987"/>
            <a:ext cx="5810250" cy="3270275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177422993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F8750AF2-EFC2-452A-AD51-BD6A588F4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10주차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1D68DCC-5A5C-4DFD-AA29-31ED11E6D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20: 실패 엔드포인트 삭제 확인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0D9BFF5C-172E-4866-8237-D3D85AE46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41674709-E082-43D7-909A-F9DBBE479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F286E885-B81F-4C6D-9990-22152B6BC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SageMaker AI → Deployments &amp; inference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5E481237-1A39-45E2-BEA2-BEA2A8635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실패 엔드포인트 삭제 확인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C49A3037-3452-4996-9514-737AC6CC9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8de5cdfdef704592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4f3985de6db341dc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C247E42D-B5D1-4471-B817-4149447E5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a21d5c1cea4c6c"/>
          <a:stretch xmlns:a="http://schemas.openxmlformats.org/drawingml/2006/main"/>
        </p:blipFill>
        <p:spPr>
          <a:xfrm xmlns:a="http://schemas.openxmlformats.org/drawingml/2006/main">
            <a:off x="571500" y="2032992"/>
            <a:ext cx="5810250" cy="3268266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177422993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F8750AF2-EFC2-452A-AD51-BD6A588F4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10주차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1D68DCC-5A5C-4DFD-AA29-31ED11E6D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21: 실패 엔드포인트 삭제 완료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0D9BFF5C-172E-4866-8237-D3D85AE46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41674709-E082-43D7-909A-F9DBBE479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F286E885-B81F-4C6D-9990-22152B6BC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SageMaker AI → Deployments &amp; inference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5E481237-1A39-45E2-BEA2-BEA2A8635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실패 엔드포인트 삭제 완료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C49A3037-3452-4996-9514-737AC6CC9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7f9f7aa7d3a74077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38419cbd8bb04fd6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C247E42D-B5D1-4471-B817-4149447E5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5a08652aff4b94"/>
          <a:stretch xmlns:a="http://schemas.openxmlformats.org/drawingml/2006/main"/>
        </p:blipFill>
        <p:spPr>
          <a:xfrm xmlns:a="http://schemas.openxmlformats.org/drawingml/2006/main">
            <a:off x="571500" y="2032992"/>
            <a:ext cx="5810250" cy="3268266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177422993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F8750AF2-EFC2-452A-AD51-BD6A588F4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10주차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1D68DCC-5A5C-4DFD-AA29-31ED11E6D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22: 이미지 수정을 위한 EC2 시작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0D9BFF5C-172E-4866-8237-D3D85AE46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41674709-E082-43D7-909A-F9DBBE479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F286E885-B81F-4C6D-9990-22152B6BC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EC2 → ysu-mlops-lab-ec2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5E481237-1A39-45E2-BEA2-BEA2A8635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이미지 수정을 위한 EC2 시작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C49A3037-3452-4996-9514-737AC6CC9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941795bb65854e1b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e7748296c5cd404f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C247E42D-B5D1-4471-B817-4149447E5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82e86b90fc475c"/>
          <a:stretch xmlns:a="http://schemas.openxmlformats.org/drawingml/2006/main"/>
        </p:blipFill>
        <p:spPr>
          <a:xfrm xmlns:a="http://schemas.openxmlformats.org/drawingml/2006/main">
            <a:off x="571500" y="2032992"/>
            <a:ext cx="5810250" cy="3268266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177422993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F8750AF2-EFC2-452A-AD51-BD6A588F4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10주차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1D68DCC-5A5C-4DFD-AA29-31ED11E6D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23: serve 포함 이미지 1.2 빌드 명령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0D9BFF5C-172E-4866-8237-D3D85AE46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41674709-E082-43D7-909A-F9DBBE479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F286E885-B81F-4C6D-9990-22152B6BC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CloudShell 또는 Systems Manager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5E481237-1A39-45E2-BEA2-BEA2A8635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serve 포함 이미지 1.2 빌드 명령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C49A3037-3452-4996-9514-737AC6CC9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8f7580b1d96b436f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fe3135ac47344eaf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C247E42D-B5D1-4471-B817-4149447E5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163c72f55046ee"/>
          <a:stretch xmlns:a="http://schemas.openxmlformats.org/drawingml/2006/main"/>
        </p:blipFill>
        <p:spPr>
          <a:xfrm xmlns:a="http://schemas.openxmlformats.org/drawingml/2006/main">
            <a:off x="571500" y="2031987"/>
            <a:ext cx="5810250" cy="3270275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177422993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F8750AF2-EFC2-452A-AD51-BD6A588F4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10주차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1D68DCC-5A5C-4DFD-AA29-31ED11E6D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24: 이미지 1.2 빌드 명령 접수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0D9BFF5C-172E-4866-8237-D3D85AE46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41674709-E082-43D7-909A-F9DBBE479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F286E885-B81F-4C6D-9990-22152B6BC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CloudShell 또는 Systems Manager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5E481237-1A39-45E2-BEA2-BEA2A8635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이미지 1.2 빌드 명령 접수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C49A3037-3452-4996-9514-737AC6CC9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06ba4c5a571d4b4e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2f4d196d14b54617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C247E42D-B5D1-4471-B817-4149447E5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0f69c6b2594507"/>
          <a:stretch xmlns:a="http://schemas.openxmlformats.org/drawingml/2006/main"/>
        </p:blipFill>
        <p:spPr>
          <a:xfrm xmlns:a="http://schemas.openxmlformats.org/drawingml/2006/main">
            <a:off x="571500" y="2031987"/>
            <a:ext cx="5810250" cy="3270275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177422993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F8750AF2-EFC2-452A-AD51-BD6A588F4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10주차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1D68DCC-5A5C-4DFD-AA29-31ED11E6D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25: 이미지 1.2 빌드·푸시 성공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0D9BFF5C-172E-4866-8237-D3D85AE46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41674709-E082-43D7-909A-F9DBBE479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F286E885-B81F-4C6D-9990-22152B6BC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CloudShell 또는 Systems Manager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5E481237-1A39-45E2-BEA2-BEA2A8635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이미지 1.2 빌드·푸시 성공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C49A3037-3452-4996-9514-737AC6CC9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72150e613a764815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54a37a3821b24520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C247E42D-B5D1-4471-B817-4149447E5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af126038de4b03"/>
          <a:stretch xmlns:a="http://schemas.openxmlformats.org/drawingml/2006/main"/>
        </p:blipFill>
        <p:spPr>
          <a:xfrm xmlns:a="http://schemas.openxmlformats.org/drawingml/2006/main">
            <a:off x="571500" y="2031987"/>
            <a:ext cx="5810250" cy="3270275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177422993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F8750AF2-EFC2-452A-AD51-BD6A588F4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10주차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1D68DCC-5A5C-4DFD-AA29-31ED11E6D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26: 로컬 ping·invocations 검증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0D9BFF5C-172E-4866-8237-D3D85AE46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41674709-E082-43D7-909A-F9DBBE479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F286E885-B81F-4C6D-9990-22152B6BC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CloudShell 또는 Systems Manager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5E481237-1A39-45E2-BEA2-BEA2A8635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`/ping` 200과 `/invocations` prediction 응답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C49A3037-3452-4996-9514-737AC6CC9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f55767ead5c34bfc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1b6117b7669645ea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C247E42D-B5D1-4471-B817-4149447E5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1657de61be4908"/>
          <a:stretch xmlns:a="http://schemas.openxmlformats.org/drawingml/2006/main"/>
        </p:blipFill>
        <p:spPr>
          <a:xfrm xmlns:a="http://schemas.openxmlformats.org/drawingml/2006/main">
            <a:off x="571500" y="2031987"/>
            <a:ext cx="5810250" cy="3270275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177422993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F8750AF2-EFC2-452A-AD51-BD6A588F4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10주차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1D68DCC-5A5C-4DFD-AA29-31ED11E6D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27: ECR 이미지 1.2 확인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0D9BFF5C-172E-4866-8237-D3D85AE46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41674709-E082-43D7-909A-F9DBBE479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F286E885-B81F-4C6D-9990-22152B6BC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ECR → ysu-mlops-api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5E481237-1A39-45E2-BEA2-BEA2A8635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ECR 이미지 1.2 확인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C49A3037-3452-4996-9514-737AC6CC9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418bb1790ac54b4c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73b4c1392eaa4a68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C247E42D-B5D1-4471-B817-4149447E5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ea7281c3854363"/>
          <a:stretch xmlns:a="http://schemas.openxmlformats.org/drawingml/2006/main"/>
        </p:blipFill>
        <p:spPr>
          <a:xfrm xmlns:a="http://schemas.openxmlformats.org/drawingml/2006/main">
            <a:off x="571500" y="2032992"/>
            <a:ext cx="5810250" cy="3268266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177422993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F8750AF2-EFC2-452A-AD51-BD6A588F4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10주차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1D68DCC-5A5C-4DFD-AA29-31ED11E6D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28: 모델·구성·엔드포인트 v2 생성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0D9BFF5C-172E-4866-8237-D3D85AE46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41674709-E082-43D7-909A-F9DBBE479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F286E885-B81F-4C6D-9990-22152B6BC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CloudShell 또는 Systems Manager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5E481237-1A39-45E2-BEA2-BEA2A8635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모델·구성·엔드포인트 v2 생성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C49A3037-3452-4996-9514-737AC6CC9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4dc669ee28b14f5a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d6742a8c8c974eed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C247E42D-B5D1-4471-B817-4149447E5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7592a331384c38"/>
          <a:stretch xmlns:a="http://schemas.openxmlformats.org/drawingml/2006/main"/>
        </p:blipFill>
        <p:spPr>
          <a:xfrm xmlns:a="http://schemas.openxmlformats.org/drawingml/2006/main">
            <a:off x="571500" y="2032992"/>
            <a:ext cx="5810250" cy="3268266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177422993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F8750AF2-EFC2-452A-AD51-BD6A588F4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10주차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1D68DCC-5A5C-4DFD-AA29-31ED11E6D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29: 이미지 수정 후 EC2 중지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0D9BFF5C-172E-4866-8237-D3D85AE46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41674709-E082-43D7-909A-F9DBBE479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F286E885-B81F-4C6D-9990-22152B6BC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EC2 → ysu-mlops-lab-ec2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5E481237-1A39-45E2-BEA2-BEA2A8635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이미지 수정 후 EC2 중지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C49A3037-3452-4996-9514-737AC6CC9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81e6d422029b46c9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5dc3a4a1fab448bb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C247E42D-B5D1-4471-B817-4149447E5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266cd1d1fb4f7a"/>
          <a:stretch xmlns:a="http://schemas.openxmlformats.org/drawingml/2006/main"/>
        </p:blipFill>
        <p:spPr>
          <a:xfrm xmlns:a="http://schemas.openxmlformats.org/drawingml/2006/main">
            <a:off x="571500" y="2032992"/>
            <a:ext cx="5810250" cy="3268266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177422993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F8750AF2-EFC2-452A-AD51-BD6A588F4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10주차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1D68DCC-5A5C-4DFD-AA29-31ED11E6D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30: 서버리스 엔드포인트 v2 생성 중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0D9BFF5C-172E-4866-8237-D3D85AE46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41674709-E082-43D7-909A-F9DBBE479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F286E885-B81F-4C6D-9990-22152B6BC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SageMaker AI → Deployments &amp; inference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5E481237-1A39-45E2-BEA2-BEA2A8635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서버리스 엔드포인트 v2 생성 중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C49A3037-3452-4996-9514-737AC6CC9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fc9dedec56ba464c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81a0c81add764ba6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C247E42D-B5D1-4471-B817-4149447E5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1b31d21d7a4cf0"/>
          <a:stretch xmlns:a="http://schemas.openxmlformats.org/drawingml/2006/main"/>
        </p:blipFill>
        <p:spPr>
          <a:xfrm xmlns:a="http://schemas.openxmlformats.org/drawingml/2006/main">
            <a:off x="571500" y="2032992"/>
            <a:ext cx="5810250" cy="3268266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177422993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F8750AF2-EFC2-452A-AD51-BD6A588F4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10주차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1D68DCC-5A5C-4DFD-AA29-31ED11E6D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31: 수정 모델 v2 상세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0D9BFF5C-172E-4866-8237-D3D85AE46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41674709-E082-43D7-909A-F9DBBE479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F286E885-B81F-4C6D-9990-22152B6BC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SageMaker AI → Deployments &amp; inference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5E481237-1A39-45E2-BEA2-BEA2A8635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수정 모델 v2 상세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C49A3037-3452-4996-9514-737AC6CC9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9b5d4b43ed464923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e34823bd5f5c4628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C247E42D-B5D1-4471-B817-4149447E5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68ed30b90e4795"/>
          <a:stretch xmlns:a="http://schemas.openxmlformats.org/drawingml/2006/main"/>
        </p:blipFill>
        <p:spPr>
          <a:xfrm xmlns:a="http://schemas.openxmlformats.org/drawingml/2006/main">
            <a:off x="571500" y="2031987"/>
            <a:ext cx="5810250" cy="3270275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177422993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F8750AF2-EFC2-452A-AD51-BD6A588F4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10주차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1D68DCC-5A5C-4DFD-AA29-31ED11E6D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32: 서버리스 구성 v2 상세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0D9BFF5C-172E-4866-8237-D3D85AE46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41674709-E082-43D7-909A-F9DBBE479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F286E885-B81F-4C6D-9990-22152B6BC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SageMaker AI → Deployments &amp; inference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5E481237-1A39-45E2-BEA2-BEA2A8635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서버리스 구성 v2 상세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C49A3037-3452-4996-9514-737AC6CC9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3287e26d174b4146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ec0ed8a483c14d64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C247E42D-B5D1-4471-B817-4149447E5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3c0cb928b941cb"/>
          <a:stretch xmlns:a="http://schemas.openxmlformats.org/drawingml/2006/main"/>
        </p:blipFill>
        <p:spPr>
          <a:xfrm xmlns:a="http://schemas.openxmlformats.org/drawingml/2006/main">
            <a:off x="571500" y="2031987"/>
            <a:ext cx="5810250" cy="3270275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177422993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F8750AF2-EFC2-452A-AD51-BD6A588F4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10주차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1D68DCC-5A5C-4DFD-AA29-31ED11E6D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33: 엔드포인트 v2 생성 목록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0D9BFF5C-172E-4866-8237-D3D85AE46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41674709-E082-43D7-909A-F9DBBE479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F286E885-B81F-4C6D-9990-22152B6BC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SageMaker AI → Deployments &amp; inference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5E481237-1A39-45E2-BEA2-BEA2A8635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엔드포인트 v2 생성 목록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C49A3037-3452-4996-9514-737AC6CC9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07ee1b3c888b4c71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606eddb8207e4cdf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C247E42D-B5D1-4471-B817-4149447E5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4f4dbec62d4f4c"/>
          <a:stretch xmlns:a="http://schemas.openxmlformats.org/drawingml/2006/main"/>
        </p:blipFill>
        <p:spPr>
          <a:xfrm xmlns:a="http://schemas.openxmlformats.org/drawingml/2006/main">
            <a:off x="571500" y="2032992"/>
            <a:ext cx="5810250" cy="3268266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177422993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F8750AF2-EFC2-452A-AD51-BD6A588F4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10주차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1D68DCC-5A5C-4DFD-AA29-31ED11E6D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34: 서버리스 엔드포인트 v2 InService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0D9BFF5C-172E-4866-8237-D3D85AE46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41674709-E082-43D7-909A-F9DBBE479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F286E885-B81F-4C6D-9990-22152B6BC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SageMaker AI → Deployments &amp; inference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5E481237-1A39-45E2-BEA2-BEA2A8635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상태 InService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C49A3037-3452-4996-9514-737AC6CC9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39c09363d179451a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2cdcf75cb6be4e05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C247E42D-B5D1-4471-B817-4149447E5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1f34fe8cd54b93"/>
          <a:stretch xmlns:a="http://schemas.openxmlformats.org/drawingml/2006/main"/>
        </p:blipFill>
        <p:spPr>
          <a:xfrm xmlns:a="http://schemas.openxmlformats.org/drawingml/2006/main">
            <a:off x="571500" y="2031987"/>
            <a:ext cx="5810250" cy="3270275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177422993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F8750AF2-EFC2-452A-AD51-BD6A588F4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10주차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1D68DCC-5A5C-4DFD-AA29-31ED11E6D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35: 첫 서버리스 추론 성공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0D9BFF5C-172E-4866-8237-D3D85AE46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41674709-E082-43D7-909A-F9DBBE479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F286E885-B81F-4C6D-9990-22152B6BC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CloudShell 또는 Systems Manager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5E481237-1A39-45E2-BEA2-BEA2A8635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prediction 1, score 6.9, model_version 1.2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C49A3037-3452-4996-9514-737AC6CC9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16105744302346ac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a62672f37644449a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C247E42D-B5D1-4471-B817-4149447E5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d62e7885794740"/>
          <a:stretch xmlns:a="http://schemas.openxmlformats.org/drawingml/2006/main"/>
        </p:blipFill>
        <p:spPr>
          <a:xfrm xmlns:a="http://schemas.openxmlformats.org/drawingml/2006/main">
            <a:off x="571500" y="2032992"/>
            <a:ext cx="5810250" cy="3268266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177422993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F8750AF2-EFC2-452A-AD51-BD6A588F4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10주차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1D68DCC-5A5C-4DFD-AA29-31ED11E6D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36: 임계값 아래·위 추론 비교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0D9BFF5C-172E-4866-8237-D3D85AE46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41674709-E082-43D7-909A-F9DBBE479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F286E885-B81F-4C6D-9990-22152B6BC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CloudShell 또는 Systems Manager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5E481237-1A39-45E2-BEA2-BEA2A8635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score 2.5는 0, score 7.0은 1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C49A3037-3452-4996-9514-737AC6CC9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5a51a2eab6e6452d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3553a84d31654599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C247E42D-B5D1-4471-B817-4149447E5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192ba8b06c4b00"/>
          <a:stretch xmlns:a="http://schemas.openxmlformats.org/drawingml/2006/main"/>
        </p:blipFill>
        <p:spPr>
          <a:xfrm xmlns:a="http://schemas.openxmlformats.org/drawingml/2006/main">
            <a:off x="571500" y="2032992"/>
            <a:ext cx="5810250" cy="3268266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177422993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F8750AF2-EFC2-452A-AD51-BD6A588F4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10주차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1D68DCC-5A5C-4DFD-AA29-31ED11E6D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37: 서버리스 v2 모니터링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0D9BFF5C-172E-4866-8237-D3D85AE46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41674709-E082-43D7-909A-F9DBBE479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F286E885-B81F-4C6D-9990-22152B6BC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SageMaker AI → Deployments &amp; inference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5E481237-1A39-45E2-BEA2-BEA2A8635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서버리스 v2 모니터링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C49A3037-3452-4996-9514-737AC6CC9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3615c979210d4c72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5b9a00eaef1b4b89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C247E42D-B5D1-4471-B817-4149447E5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4e8acfa33240b3"/>
          <a:stretch xmlns:a="http://schemas.openxmlformats.org/drawingml/2006/main"/>
        </p:blipFill>
        <p:spPr>
          <a:xfrm xmlns:a="http://schemas.openxmlformats.org/drawingml/2006/main">
            <a:off x="571500" y="2031987"/>
            <a:ext cx="5810250" cy="3270275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177422993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F8750AF2-EFC2-452A-AD51-BD6A588F4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10주차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1D68DCC-5A5C-4DFD-AA29-31ED11E6D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38: 서버리스 v2 설정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0D9BFF5C-172E-4866-8237-D3D85AE46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41674709-E082-43D7-909A-F9DBBE479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F286E885-B81F-4C6D-9990-22152B6BC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SageMaker AI → Deployments &amp; inference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5E481237-1A39-45E2-BEA2-BEA2A8635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서버리스 v2 설정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C49A3037-3452-4996-9514-737AC6CC9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b4cd528cab5c4f3c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70baeb8b2daf4968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C247E42D-B5D1-4471-B817-4149447E5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57d08dba164909"/>
          <a:stretch xmlns:a="http://schemas.openxmlformats.org/drawingml/2006/main"/>
        </p:blipFill>
        <p:spPr>
          <a:xfrm xmlns:a="http://schemas.openxmlformats.org/drawingml/2006/main">
            <a:off x="571500" y="2031987"/>
            <a:ext cx="5810250" cy="3270275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177422993"/>
      </p:ext>
    </p:extLst>
  </p:cSld>
</p:sld>
</file>

<file path=ppt/slides/slide6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F8750AF2-EFC2-452A-AD51-BD6A588F4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10주차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1D68DCC-5A5C-4DFD-AA29-31ED11E6D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39: 서버리스 v2 CloudWatch 로그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0D9BFF5C-172E-4866-8237-D3D85AE46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41674709-E082-43D7-909A-F9DBBE479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F286E885-B81F-4C6D-9990-22152B6BC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SageMaker AI → Deployments &amp; inference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5E481237-1A39-45E2-BEA2-BEA2A8635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서버리스 v2 CloudWatch 로그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C49A3037-3452-4996-9514-737AC6CC9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c1a3b55fca3440ff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7bbabe1c6dbe411e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C247E42D-B5D1-4471-B817-4149447E5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85ca73e4a142df"/>
          <a:stretch xmlns:a="http://schemas.openxmlformats.org/drawingml/2006/main"/>
        </p:blipFill>
        <p:spPr>
          <a:xfrm xmlns:a="http://schemas.openxmlformats.org/drawingml/2006/main">
            <a:off x="571500" y="2032992"/>
            <a:ext cx="5810250" cy="3268266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177422993"/>
      </p:ext>
    </p:extLst>
  </p:cSld>
</p:sld>
</file>

<file path=ppt/slides/slide6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F8750AF2-EFC2-452A-AD51-BD6A588F4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10주차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1D68DCC-5A5C-4DFD-AA29-31ED11E6D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40: 성공 엔드포인트 삭제 확인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0D9BFF5C-172E-4866-8237-D3D85AE46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41674709-E082-43D7-909A-F9DBBE479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F286E885-B81F-4C6D-9990-22152B6BC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SageMaker AI → Deployments &amp; inference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5E481237-1A39-45E2-BEA2-BEA2A8635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성공 엔드포인트 삭제 확인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C49A3037-3452-4996-9514-737AC6CC9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ac4e7daee2824571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b6916242587b466b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C247E42D-B5D1-4471-B817-4149447E5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d8dd8e4d6b446e"/>
          <a:stretch xmlns:a="http://schemas.openxmlformats.org/drawingml/2006/main"/>
        </p:blipFill>
        <p:spPr>
          <a:xfrm xmlns:a="http://schemas.openxmlformats.org/drawingml/2006/main">
            <a:off x="571500" y="2032992"/>
            <a:ext cx="5810250" cy="3268266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177422993"/>
      </p:ext>
    </p:extLst>
  </p:cSld>
</p:sld>
</file>

<file path=ppt/slides/slide67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F8750AF2-EFC2-452A-AD51-BD6A588F4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10주차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1D68DCC-5A5C-4DFD-AA29-31ED11E6D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41: 엔드포인트 v2 삭제 요청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0D9BFF5C-172E-4866-8237-D3D85AE46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41674709-E082-43D7-909A-F9DBBE479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F286E885-B81F-4C6D-9990-22152B6BC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SageMaker AI → Deployments &amp; inference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5E481237-1A39-45E2-BEA2-BEA2A8635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엔드포인트 v2 삭제 요청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C49A3037-3452-4996-9514-737AC6CC9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60041f6d0cfa4b7c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63fb82a6a6944432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C247E42D-B5D1-4471-B817-4149447E5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0c407895354b67"/>
          <a:stretch xmlns:a="http://schemas.openxmlformats.org/drawingml/2006/main"/>
        </p:blipFill>
        <p:spPr>
          <a:xfrm xmlns:a="http://schemas.openxmlformats.org/drawingml/2006/main">
            <a:off x="571500" y="2032992"/>
            <a:ext cx="5810250" cy="3268266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177422993"/>
      </p:ext>
    </p:extLst>
  </p:cSld>
</p:sld>
</file>

<file path=ppt/slides/slide68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F8750AF2-EFC2-452A-AD51-BD6A588F4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10주차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1D68DCC-5A5C-4DFD-AA29-31ED11E6D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42: Endpoint→Config→Model 삭제 완료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0D9BFF5C-172E-4866-8237-D3D85AE46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41674709-E082-43D7-909A-F9DBBE479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F286E885-B81F-4C6D-9990-22152B6BC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CloudShell 또는 Systems Manager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5E481237-1A39-45E2-BEA2-BEA2A8635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Endpoint → Endpoint Configuration → Model 순서와 남은 엔드포인트 0건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C49A3037-3452-4996-9514-737AC6CC9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43c69530ff43444a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701f8f7c6b9f4f78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C247E42D-B5D1-4471-B817-4149447E5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87fa103ea44aeb"/>
          <a:stretch xmlns:a="http://schemas.openxmlformats.org/drawingml/2006/main"/>
        </p:blipFill>
        <p:spPr>
          <a:xfrm xmlns:a="http://schemas.openxmlformats.org/drawingml/2006/main">
            <a:off x="571500" y="2032992"/>
            <a:ext cx="5810250" cy="3268266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177422993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2026-08-24T11:46:30.6220000Z</dcterms:created>
  <dcterms:modified xsi:type="dcterms:W3CDTF">2026-08-24T11:46:30.6220000Z</dcterms:modified>
</coreProperties>
</file>