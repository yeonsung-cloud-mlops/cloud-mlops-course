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8047c00af624f20" /><Relationship Type="http://schemas.openxmlformats.org/officeDocument/2006/relationships/extended-properties" Target="/docProps/app.xml" Id="R27bcef9646b44fab" /><Relationship Type="http://schemas.openxmlformats.org/officeDocument/2006/relationships/officeDocument" Target="/ppt/presentation.xml" Id="R52f8d23a58bc40b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071c572eca64811"/>
  </p:sldMasterIdLst>
  <p:notesMasterIdLst>
    <p:notesMasterId xmlns:r="http://schemas.openxmlformats.org/officeDocument/2006/relationships" r:id="R0399492f09514b70"/>
  </p:notesMasterIdLst>
  <p:sldIdLst>
    <p:sldId xmlns:r="http://schemas.openxmlformats.org/officeDocument/2006/relationships" id="256" r:id="R07d78e82284b4117"/>
    <p:sldId xmlns:r="http://schemas.openxmlformats.org/officeDocument/2006/relationships" id="257" r:id="R13d08dc483b541f6"/>
    <p:sldId xmlns:r="http://schemas.openxmlformats.org/officeDocument/2006/relationships" id="258" r:id="R00f18419494d43c0"/>
    <p:sldId xmlns:r="http://schemas.openxmlformats.org/officeDocument/2006/relationships" id="259" r:id="R73fe842f1ac74e53"/>
    <p:sldId xmlns:r="http://schemas.openxmlformats.org/officeDocument/2006/relationships" id="260" r:id="Rcce18e0ad0e2439d"/>
    <p:sldId xmlns:r="http://schemas.openxmlformats.org/officeDocument/2006/relationships" id="261" r:id="R924f09c60f744fa5"/>
    <p:sldId xmlns:r="http://schemas.openxmlformats.org/officeDocument/2006/relationships" id="262" r:id="R03af9b9463d748ef"/>
    <p:sldId xmlns:r="http://schemas.openxmlformats.org/officeDocument/2006/relationships" id="263" r:id="Rd227d7acd7a343d7"/>
    <p:sldId xmlns:r="http://schemas.openxmlformats.org/officeDocument/2006/relationships" id="264" r:id="R5257b34eadb34d42"/>
    <p:sldId xmlns:r="http://schemas.openxmlformats.org/officeDocument/2006/relationships" id="265" r:id="R0689284f7ed94fa5"/>
    <p:sldId xmlns:r="http://schemas.openxmlformats.org/officeDocument/2006/relationships" id="266" r:id="R85f7389d944544fa"/>
    <p:sldId xmlns:r="http://schemas.openxmlformats.org/officeDocument/2006/relationships" id="267" r:id="R13e867396f534296"/>
    <p:sldId xmlns:r="http://schemas.openxmlformats.org/officeDocument/2006/relationships" id="268" r:id="R509b410d2cab4056"/>
    <p:sldId xmlns:r="http://schemas.openxmlformats.org/officeDocument/2006/relationships" id="269" r:id="R1e635ef734f849e1"/>
    <p:sldId xmlns:r="http://schemas.openxmlformats.org/officeDocument/2006/relationships" id="270" r:id="Re3d957574a3b4994"/>
    <p:sldId xmlns:r="http://schemas.openxmlformats.org/officeDocument/2006/relationships" id="271" r:id="Ra13463bcef284e67"/>
    <p:sldId xmlns:r="http://schemas.openxmlformats.org/officeDocument/2006/relationships" id="272" r:id="R4d6fdf4068884d0b"/>
    <p:sldId xmlns:r="http://schemas.openxmlformats.org/officeDocument/2006/relationships" id="273" r:id="R96392332ca9a4424"/>
    <p:sldId xmlns:r="http://schemas.openxmlformats.org/officeDocument/2006/relationships" id="274" r:id="Rb6a24b6e32f447af"/>
    <p:sldId xmlns:r="http://schemas.openxmlformats.org/officeDocument/2006/relationships" id="275" r:id="R4aec09a36c464788"/>
    <p:sldId xmlns:r="http://schemas.openxmlformats.org/officeDocument/2006/relationships" id="276" r:id="R34b1af1f67044504"/>
    <p:sldId xmlns:r="http://schemas.openxmlformats.org/officeDocument/2006/relationships" id="277" r:id="R0b56f74a13bb4547"/>
    <p:sldId xmlns:r="http://schemas.openxmlformats.org/officeDocument/2006/relationships" id="278" r:id="Rac902d71c31c482f"/>
    <p:sldId xmlns:r="http://schemas.openxmlformats.org/officeDocument/2006/relationships" id="279" r:id="R57231e02991e431a"/>
    <p:sldId xmlns:r="http://schemas.openxmlformats.org/officeDocument/2006/relationships" id="280" r:id="R1afc104fbfc344fd"/>
    <p:sldId xmlns:r="http://schemas.openxmlformats.org/officeDocument/2006/relationships" id="281" r:id="R4da9ca5646ea4c43"/>
    <p:sldId xmlns:r="http://schemas.openxmlformats.org/officeDocument/2006/relationships" id="282" r:id="R3d56db9114724efa"/>
    <p:sldId xmlns:r="http://schemas.openxmlformats.org/officeDocument/2006/relationships" id="283" r:id="Rb04c60e0e2114c41"/>
    <p:sldId xmlns:r="http://schemas.openxmlformats.org/officeDocument/2006/relationships" id="284" r:id="R82793de4b25a400d"/>
    <p:sldId xmlns:r="http://schemas.openxmlformats.org/officeDocument/2006/relationships" id="285" r:id="R09d2510c6a92490d"/>
    <p:sldId xmlns:r="http://schemas.openxmlformats.org/officeDocument/2006/relationships" id="286" r:id="R2028d022b81c471a"/>
    <p:sldId xmlns:r="http://schemas.openxmlformats.org/officeDocument/2006/relationships" id="287" r:id="Rb6a4dfd424e54955"/>
    <p:sldId xmlns:r="http://schemas.openxmlformats.org/officeDocument/2006/relationships" id="288" r:id="R20ab1a6baa68417d"/>
    <p:sldId xmlns:r="http://schemas.openxmlformats.org/officeDocument/2006/relationships" id="289" r:id="Rffa3ece39a1841e6"/>
    <p:sldId xmlns:r="http://schemas.openxmlformats.org/officeDocument/2006/relationships" id="290" r:id="R1f1ddf2224e44881"/>
    <p:sldId xmlns:r="http://schemas.openxmlformats.org/officeDocument/2006/relationships" id="291" r:id="R2b96a582e3774d1f"/>
    <p:sldId xmlns:r="http://schemas.openxmlformats.org/officeDocument/2006/relationships" id="292" r:id="Rcd65372dbffe47b0"/>
    <p:sldId xmlns:r="http://schemas.openxmlformats.org/officeDocument/2006/relationships" id="293" r:id="R7229d12395c848f5"/>
    <p:sldId xmlns:r="http://schemas.openxmlformats.org/officeDocument/2006/relationships" id="294" r:id="Rc23348f9fc7b40a7"/>
    <p:sldId xmlns:r="http://schemas.openxmlformats.org/officeDocument/2006/relationships" id="295" r:id="R82e66b1a16b44a7e"/>
    <p:sldId xmlns:r="http://schemas.openxmlformats.org/officeDocument/2006/relationships" id="296" r:id="R8091440177864fea"/>
    <p:sldId xmlns:r="http://schemas.openxmlformats.org/officeDocument/2006/relationships" id="297" r:id="R5961a3d495f340a9"/>
    <p:sldId xmlns:r="http://schemas.openxmlformats.org/officeDocument/2006/relationships" id="298" r:id="Rf57b3508b578403e"/>
    <p:sldId xmlns:r="http://schemas.openxmlformats.org/officeDocument/2006/relationships" id="299" r:id="R7b53184909914a84"/>
    <p:sldId xmlns:r="http://schemas.openxmlformats.org/officeDocument/2006/relationships" id="300" r:id="R9cdfab48c19f46c7"/>
    <p:sldId xmlns:r="http://schemas.openxmlformats.org/officeDocument/2006/relationships" id="301" r:id="R4dd197e8565e4c88"/>
    <p:sldId xmlns:r="http://schemas.openxmlformats.org/officeDocument/2006/relationships" id="302" r:id="R34bf345b9f21447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6a5eaea170c4df5" /><Relationship Type="http://schemas.openxmlformats.org/officeDocument/2006/relationships/slideMaster" Target="/ppt/slideMasters/slideMaster1.xml" Id="R2071c572eca64811" /><Relationship Type="http://schemas.openxmlformats.org/officeDocument/2006/relationships/notesMaster" Target="/ppt/notesMasters/notesMaster1.xml" Id="R0399492f09514b70" /><Relationship Type="http://schemas.openxmlformats.org/officeDocument/2006/relationships/presProps" Target="/ppt/presProps.xml" Id="Rb81a2ad715cb4d99" /><Relationship Type="http://schemas.openxmlformats.org/officeDocument/2006/relationships/viewProps" Target="/ppt/viewProps.xml" Id="R231fc9443180496e" /><Relationship Type="http://schemas.openxmlformats.org/officeDocument/2006/relationships/tableStyles" Target="/ppt/tableStyles.xml" Id="R4dc143d0c3c845d5" /><Relationship Type="http://schemas.openxmlformats.org/officeDocument/2006/relationships/slide" Target="/ppt/slides/slide1.xml" Id="R07d78e82284b4117" /><Relationship Type="http://schemas.openxmlformats.org/officeDocument/2006/relationships/slide" Target="/ppt/slides/slide2.xml" Id="R13d08dc483b541f6" /><Relationship Type="http://schemas.openxmlformats.org/officeDocument/2006/relationships/slide" Target="/ppt/slides/slide3.xml" Id="R00f18419494d43c0" /><Relationship Type="http://schemas.openxmlformats.org/officeDocument/2006/relationships/slide" Target="/ppt/slides/slide4.xml" Id="R73fe842f1ac74e53" /><Relationship Type="http://schemas.openxmlformats.org/officeDocument/2006/relationships/slide" Target="/ppt/slides/slide5.xml" Id="Rcce18e0ad0e2439d" /><Relationship Type="http://schemas.openxmlformats.org/officeDocument/2006/relationships/slide" Target="/ppt/slides/slide6.xml" Id="R924f09c60f744fa5" /><Relationship Type="http://schemas.openxmlformats.org/officeDocument/2006/relationships/slide" Target="/ppt/slides/slide7.xml" Id="R03af9b9463d748ef" /><Relationship Type="http://schemas.openxmlformats.org/officeDocument/2006/relationships/slide" Target="/ppt/slides/slide8.xml" Id="Rd227d7acd7a343d7" /><Relationship Type="http://schemas.openxmlformats.org/officeDocument/2006/relationships/slide" Target="/ppt/slides/slide9.xml" Id="R5257b34eadb34d42" /><Relationship Type="http://schemas.openxmlformats.org/officeDocument/2006/relationships/slide" Target="/ppt/slides/slide10.xml" Id="R0689284f7ed94fa5" /><Relationship Type="http://schemas.openxmlformats.org/officeDocument/2006/relationships/slide" Target="/ppt/slides/slide11.xml" Id="R85f7389d944544fa" /><Relationship Type="http://schemas.openxmlformats.org/officeDocument/2006/relationships/slide" Target="/ppt/slides/slide12.xml" Id="R13e867396f534296" /><Relationship Type="http://schemas.openxmlformats.org/officeDocument/2006/relationships/slide" Target="/ppt/slides/slide13.xml" Id="R509b410d2cab4056" /><Relationship Type="http://schemas.openxmlformats.org/officeDocument/2006/relationships/slide" Target="/ppt/slides/slide14.xml" Id="R1e635ef734f849e1" /><Relationship Type="http://schemas.openxmlformats.org/officeDocument/2006/relationships/slide" Target="/ppt/slides/slide15.xml" Id="Re3d957574a3b4994" /><Relationship Type="http://schemas.openxmlformats.org/officeDocument/2006/relationships/slide" Target="/ppt/slides/slide16.xml" Id="Ra13463bcef284e67" /><Relationship Type="http://schemas.openxmlformats.org/officeDocument/2006/relationships/slide" Target="/ppt/slides/slide17.xml" Id="R4d6fdf4068884d0b" /><Relationship Type="http://schemas.openxmlformats.org/officeDocument/2006/relationships/slide" Target="/ppt/slides/slide18.xml" Id="R96392332ca9a4424" /><Relationship Type="http://schemas.openxmlformats.org/officeDocument/2006/relationships/slide" Target="/ppt/slides/slide19.xml" Id="Rb6a24b6e32f447af" /><Relationship Type="http://schemas.openxmlformats.org/officeDocument/2006/relationships/slide" Target="/ppt/slides/slide20.xml" Id="R4aec09a36c464788" /><Relationship Type="http://schemas.openxmlformats.org/officeDocument/2006/relationships/slide" Target="/ppt/slides/slide21.xml" Id="R34b1af1f67044504" /><Relationship Type="http://schemas.openxmlformats.org/officeDocument/2006/relationships/slide" Target="/ppt/slides/slide22.xml" Id="R0b56f74a13bb4547" /><Relationship Type="http://schemas.openxmlformats.org/officeDocument/2006/relationships/slide" Target="/ppt/slides/slide23.xml" Id="Rac902d71c31c482f" /><Relationship Type="http://schemas.openxmlformats.org/officeDocument/2006/relationships/slide" Target="/ppt/slides/slide24.xml" Id="R57231e02991e431a" /><Relationship Type="http://schemas.openxmlformats.org/officeDocument/2006/relationships/slide" Target="/ppt/slides/slide25.xml" Id="R1afc104fbfc344fd" /><Relationship Type="http://schemas.openxmlformats.org/officeDocument/2006/relationships/slide" Target="/ppt/slides/slide26.xml" Id="R4da9ca5646ea4c43" /><Relationship Type="http://schemas.openxmlformats.org/officeDocument/2006/relationships/slide" Target="/ppt/slides/slide27.xml" Id="R3d56db9114724efa" /><Relationship Type="http://schemas.openxmlformats.org/officeDocument/2006/relationships/slide" Target="/ppt/slides/slide28.xml" Id="Rb04c60e0e2114c41" /><Relationship Type="http://schemas.openxmlformats.org/officeDocument/2006/relationships/slide" Target="/ppt/slides/slide29.xml" Id="R82793de4b25a400d" /><Relationship Type="http://schemas.openxmlformats.org/officeDocument/2006/relationships/slide" Target="/ppt/slides/slide30.xml" Id="R09d2510c6a92490d" /><Relationship Type="http://schemas.openxmlformats.org/officeDocument/2006/relationships/slide" Target="/ppt/slides/slide31.xml" Id="R2028d022b81c471a" /><Relationship Type="http://schemas.openxmlformats.org/officeDocument/2006/relationships/slide" Target="/ppt/slides/slide32.xml" Id="Rb6a4dfd424e54955" /><Relationship Type="http://schemas.openxmlformats.org/officeDocument/2006/relationships/slide" Target="/ppt/slides/slide33.xml" Id="R20ab1a6baa68417d" /><Relationship Type="http://schemas.openxmlformats.org/officeDocument/2006/relationships/slide" Target="/ppt/slides/slide34.xml" Id="Rffa3ece39a1841e6" /><Relationship Type="http://schemas.openxmlformats.org/officeDocument/2006/relationships/slide" Target="/ppt/slides/slide35.xml" Id="R1f1ddf2224e44881" /><Relationship Type="http://schemas.openxmlformats.org/officeDocument/2006/relationships/slide" Target="/ppt/slides/slide36.xml" Id="R2b96a582e3774d1f" /><Relationship Type="http://schemas.openxmlformats.org/officeDocument/2006/relationships/slide" Target="/ppt/slides/slide37.xml" Id="Rcd65372dbffe47b0" /><Relationship Type="http://schemas.openxmlformats.org/officeDocument/2006/relationships/slide" Target="/ppt/slides/slide38.xml" Id="R7229d12395c848f5" /><Relationship Type="http://schemas.openxmlformats.org/officeDocument/2006/relationships/slide" Target="/ppt/slides/slide39.xml" Id="Rc23348f9fc7b40a7" /><Relationship Type="http://schemas.openxmlformats.org/officeDocument/2006/relationships/slide" Target="/ppt/slides/slide40.xml" Id="R82e66b1a16b44a7e" /><Relationship Type="http://schemas.openxmlformats.org/officeDocument/2006/relationships/slide" Target="/ppt/slides/slide41.xml" Id="R8091440177864fea" /><Relationship Type="http://schemas.openxmlformats.org/officeDocument/2006/relationships/slide" Target="/ppt/slides/slide42.xml" Id="R5961a3d495f340a9" /><Relationship Type="http://schemas.openxmlformats.org/officeDocument/2006/relationships/slide" Target="/ppt/slides/slide43.xml" Id="Rf57b3508b578403e" /><Relationship Type="http://schemas.openxmlformats.org/officeDocument/2006/relationships/slide" Target="/ppt/slides/slide44.xml" Id="R7b53184909914a84" /><Relationship Type="http://schemas.openxmlformats.org/officeDocument/2006/relationships/slide" Target="/ppt/slides/slide45.xml" Id="R9cdfab48c19f46c7" /><Relationship Type="http://schemas.openxmlformats.org/officeDocument/2006/relationships/slide" Target="/ppt/slides/slide46.xml" Id="R4dd197e8565e4c88" /><Relationship Type="http://schemas.openxmlformats.org/officeDocument/2006/relationships/slide" Target="/ppt/slides/slide47.xml" Id="R34bf345b9f21447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71cc4f8b9d24d7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ff30a88a2764a96" /><Relationship Type="http://schemas.openxmlformats.org/officeDocument/2006/relationships/notesMaster" Target="/ppt/notesMasters/notesMaster1.xml" Id="R3dfc999c0e79460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c0cd9a1fef44de2" /><Relationship Type="http://schemas.openxmlformats.org/officeDocument/2006/relationships/notesMaster" Target="/ppt/notesMasters/notesMaster1.xml" Id="Redd5a161b549419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d131e1760f245a2" /><Relationship Type="http://schemas.openxmlformats.org/officeDocument/2006/relationships/notesMaster" Target="/ppt/notesMasters/notesMaster1.xml" Id="Redb67b6e4be5437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6b43c39c51b4092" /><Relationship Type="http://schemas.openxmlformats.org/officeDocument/2006/relationships/notesMaster" Target="/ppt/notesMasters/notesMaster1.xml" Id="R866bf84074f04ab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8727a06b13749da" /><Relationship Type="http://schemas.openxmlformats.org/officeDocument/2006/relationships/notesMaster" Target="/ppt/notesMasters/notesMaster1.xml" Id="Rb2f80d5cefae452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f659730b8e34c64" /><Relationship Type="http://schemas.openxmlformats.org/officeDocument/2006/relationships/notesMaster" Target="/ppt/notesMasters/notesMaster1.xml" Id="R2adca9d946c64a3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18df6a340e14810" /><Relationship Type="http://schemas.openxmlformats.org/officeDocument/2006/relationships/notesMaster" Target="/ppt/notesMasters/notesMaster1.xml" Id="R074abac441cb40d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a409f5a41f5422a" /><Relationship Type="http://schemas.openxmlformats.org/officeDocument/2006/relationships/notesMaster" Target="/ppt/notesMasters/notesMaster1.xml" Id="R0715c64609bc41b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708b19df48d49b1" /><Relationship Type="http://schemas.openxmlformats.org/officeDocument/2006/relationships/notesMaster" Target="/ppt/notesMasters/notesMaster1.xml" Id="Rb6cdf9d90c88417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7a06a256de14bec" /><Relationship Type="http://schemas.openxmlformats.org/officeDocument/2006/relationships/notesMaster" Target="/ppt/notesMasters/notesMaster1.xml" Id="Raf9beeef79b34cd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3b0602e084a4a52" /><Relationship Type="http://schemas.openxmlformats.org/officeDocument/2006/relationships/notesMaster" Target="/ppt/notesMasters/notesMaster1.xml" Id="R10b12a2cbf6544d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a774748a8ab497b" /><Relationship Type="http://schemas.openxmlformats.org/officeDocument/2006/relationships/notesMaster" Target="/ppt/notesMasters/notesMaster1.xml" Id="Rea34ce7d8de74f6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5431758edf14d0b" /><Relationship Type="http://schemas.openxmlformats.org/officeDocument/2006/relationships/notesMaster" Target="/ppt/notesMasters/notesMaster1.xml" Id="Rb5560bc42a88401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884435b95b1491d" /><Relationship Type="http://schemas.openxmlformats.org/officeDocument/2006/relationships/notesMaster" Target="/ppt/notesMasters/notesMaster1.xml" Id="R993cbf02601f45e7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38527906a90f47ae" /><Relationship Type="http://schemas.openxmlformats.org/officeDocument/2006/relationships/notesMaster" Target="/ppt/notesMasters/notesMaster1.xml" Id="R30036bbbbda8425b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69f298ddeb824e86" /><Relationship Type="http://schemas.openxmlformats.org/officeDocument/2006/relationships/notesMaster" Target="/ppt/notesMasters/notesMaster1.xml" Id="R121ebc77e6f54563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c091f316aafb462b" /><Relationship Type="http://schemas.openxmlformats.org/officeDocument/2006/relationships/notesMaster" Target="/ppt/notesMasters/notesMaster1.xml" Id="Rd08dc254401e4f9d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c3cf6af357624250" /><Relationship Type="http://schemas.openxmlformats.org/officeDocument/2006/relationships/notesMaster" Target="/ppt/notesMasters/notesMaster1.xml" Id="Rcaeede70128f4a34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0df95c31c8544318" /><Relationship Type="http://schemas.openxmlformats.org/officeDocument/2006/relationships/notesMaster" Target="/ppt/notesMasters/notesMaster1.xml" Id="R1b912ae077b44102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826dde75121144a9" /><Relationship Type="http://schemas.openxmlformats.org/officeDocument/2006/relationships/notesMaster" Target="/ppt/notesMasters/notesMaster1.xml" Id="R7b233d1b52c9406c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5be88da9b62b46cd" /><Relationship Type="http://schemas.openxmlformats.org/officeDocument/2006/relationships/notesMaster" Target="/ppt/notesMasters/notesMaster1.xml" Id="Rb764952ba5a64518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04e5f14640c6482a" /><Relationship Type="http://schemas.openxmlformats.org/officeDocument/2006/relationships/notesMaster" Target="/ppt/notesMasters/notesMaster1.xml" Id="Rdaccd2b3b38e4d55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d03b3f4322ba4893" /><Relationship Type="http://schemas.openxmlformats.org/officeDocument/2006/relationships/notesMaster" Target="/ppt/notesMasters/notesMaster1.xml" Id="R7a45987b2b3f41b0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5b3f341d9a2e41d8" /><Relationship Type="http://schemas.openxmlformats.org/officeDocument/2006/relationships/notesMaster" Target="/ppt/notesMasters/notesMaster1.xml" Id="R6c97ea121f3b4f24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6728cc213a6c4433" /><Relationship Type="http://schemas.openxmlformats.org/officeDocument/2006/relationships/notesMaster" Target="/ppt/notesMasters/notesMaster1.xml" Id="R8207b8f8a0ff4a63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b1d68216b91d4068" /><Relationship Type="http://schemas.openxmlformats.org/officeDocument/2006/relationships/notesMaster" Target="/ppt/notesMasters/notesMaster1.xml" Id="R6431d6aa7e5545fd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9fc6981de14c4d04" /><Relationship Type="http://schemas.openxmlformats.org/officeDocument/2006/relationships/notesMaster" Target="/ppt/notesMasters/notesMaster1.xml" Id="Rcf862fd959c042d6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da0a7847257545b8" /><Relationship Type="http://schemas.openxmlformats.org/officeDocument/2006/relationships/notesMaster" Target="/ppt/notesMasters/notesMaster1.xml" Id="R8b8202ae0b974672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c7b86a37094c4909" /><Relationship Type="http://schemas.openxmlformats.org/officeDocument/2006/relationships/notesMaster" Target="/ppt/notesMasters/notesMaster1.xml" Id="Rc409e3cbd2f94b4c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c7d4fe7a1ee64824" /><Relationship Type="http://schemas.openxmlformats.org/officeDocument/2006/relationships/notesMaster" Target="/ppt/notesMasters/notesMaster1.xml" Id="Rb3b987f8eb264137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3a6edfe61c7e49f7" /><Relationship Type="http://schemas.openxmlformats.org/officeDocument/2006/relationships/notesMaster" Target="/ppt/notesMasters/notesMaster1.xml" Id="R3fe117073e00418a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fd88f7f30f7747b8" /><Relationship Type="http://schemas.openxmlformats.org/officeDocument/2006/relationships/notesMaster" Target="/ppt/notesMasters/notesMaster1.xml" Id="R945c31e1ad4340b4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473c7afbb3c547af" /><Relationship Type="http://schemas.openxmlformats.org/officeDocument/2006/relationships/notesMaster" Target="/ppt/notesMasters/notesMaster1.xml" Id="Re25f4494b46b40a4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ab57b0b2893b479b" /><Relationship Type="http://schemas.openxmlformats.org/officeDocument/2006/relationships/notesMaster" Target="/ppt/notesMasters/notesMaster1.xml" Id="Rf7fb3cde96c34d39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e466554ff81748e5" /><Relationship Type="http://schemas.openxmlformats.org/officeDocument/2006/relationships/notesMaster" Target="/ppt/notesMasters/notesMaster1.xml" Id="Rba191a59987640b4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a52e7c3bb1c54bae" /><Relationship Type="http://schemas.openxmlformats.org/officeDocument/2006/relationships/notesMaster" Target="/ppt/notesMasters/notesMaster1.xml" Id="Rf63fbfcf6f204b7c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8522b2ca2ef94c62" /><Relationship Type="http://schemas.openxmlformats.org/officeDocument/2006/relationships/notesMaster" Target="/ppt/notesMasters/notesMaster1.xml" Id="R64dd29605e1b4d03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9152644ce8314eed" /><Relationship Type="http://schemas.openxmlformats.org/officeDocument/2006/relationships/notesMaster" Target="/ppt/notesMasters/notesMaster1.xml" Id="Rccbb8e19ee724a10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615bff9f272c4124" /><Relationship Type="http://schemas.openxmlformats.org/officeDocument/2006/relationships/notesMaster" Target="/ppt/notesMasters/notesMaster1.xml" Id="Rf4ac40b9dce044bf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7649a7467dc14782" /><Relationship Type="http://schemas.openxmlformats.org/officeDocument/2006/relationships/notesMaster" Target="/ppt/notesMasters/notesMaster1.xml" Id="R438bf779cb1444f8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bd4d1f4cc49e4cd2" /><Relationship Type="http://schemas.openxmlformats.org/officeDocument/2006/relationships/notesMaster" Target="/ppt/notesMasters/notesMaster1.xml" Id="R2bc65bfbe9224971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a2f23a1e0f3e4ccd" /><Relationship Type="http://schemas.openxmlformats.org/officeDocument/2006/relationships/notesMaster" Target="/ppt/notesMasters/notesMaster1.xml" Id="Re9e6dc14e16d4337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0410c39db69e42d3" /><Relationship Type="http://schemas.openxmlformats.org/officeDocument/2006/relationships/notesMaster" Target="/ppt/notesMasters/notesMaster1.xml" Id="R0b80be6d113840a6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01a26aba563349bd" /><Relationship Type="http://schemas.openxmlformats.org/officeDocument/2006/relationships/notesMaster" Target="/ppt/notesMasters/notesMaster1.xml" Id="R50b7c800c8a6427c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58c9a8befd4042ff" /><Relationship Type="http://schemas.openxmlformats.org/officeDocument/2006/relationships/notesMaster" Target="/ppt/notesMasters/notesMaster1.xml" Id="R801832566ad6481b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0ed9ceea6f184249" /><Relationship Type="http://schemas.openxmlformats.org/officeDocument/2006/relationships/notesMaster" Target="/ppt/notesMasters/notesMaster1.xml" Id="R6c5fcd2d88634bdb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c320d984ffe9495d" /><Relationship Type="http://schemas.openxmlformats.org/officeDocument/2006/relationships/notesMaster" Target="/ppt/notesMasters/notesMaster1.xml" Id="R0e1c6f9545c149a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도입 데모를 반드시 먼저 보여주세요. 정상 요청 30건을 쏘고 대시보드 선이 올라가는 것, 깨진 요청 20건을 쏘고 에러율이 치솟는 것, 그리고 메일함에 알람이 도착한 화면까지. 오늘 만들 것은 이 메일 한 통이라고 말합니다.</a:t>
            </a:r>
            <a:endParaRPr/>
          </a:p>
          <a:p xmlns:a="http://schemas.openxmlformats.org/drawingml/2006/main">
            <a:r>
              <a:t>
[Sources]
- https://docs.aws.amazon.com/AmazonCloudWatch/latest/monitoring/create_dashboard.html
- https://console.aws.amazon.com/cloudwatch/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실습 B의 마지막 25분은 M3 전 구간 연결 점검에 씁니다. 팀별로 강사 앞에서 통과해야 하므로 시간 배분을 미리 공지하세요. M3는 오늘 반드시 넘어갑니다.</a:t>
            </a:r>
            <a:endParaRPr/>
          </a:p>
          <a:p xmlns:a="http://schemas.openxmlformats.org/drawingml/2006/main">
            <a:r>
              <a:t>
[Sources]
- https://docs.aws.amazon.com/AmazonCloudWatch/latest/monitoring/create_dashboard.html
- https://console.aws.amazon.com/cloudwatch/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
[Sources]
- https://docs.aws.amazon.com/AmazonCloudWatch/latest/monitoring/create_dashboard.html
- https://console.aws.amazon.com/cloudwatch/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디스크가 압도적 1위입니다. 지난주에 자동 배포를 만들었으니 커밋할 때마다 이미지가 EC2에 하나씩 쌓인다는 점을 연결해서 설명하세요. df -h 로 80%가 넘으면 docker system prune -af 를 칩니다.</a:t>
            </a:r>
            <a:endParaRPr/>
          </a:p>
          <a:p xmlns:a="http://schemas.openxmlformats.org/drawingml/2006/main">
            <a:r>
              <a:t>
[Sources]
- https://docs.aws.amazon.com/AmazonCloudWatch/latest/monitoring/create_dashboard.html
- https://console.aws.amazon.com/cloudwatch/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학생들에게 지금 여러분 서비스가 살았는지 죽었는지 아느냐고 물어보세요. 브라우저로 들어가 봐야 압니다. 그 상태를 깨는 것이 오늘 수업의 목적입니다.</a:t>
            </a:r>
            <a:endParaRPr/>
          </a:p>
          <a:p xmlns:a="http://schemas.openxmlformats.org/drawingml/2006/main">
            <a:r>
              <a:t>
[Sources]
- https://docs.aws.amazon.com/AmazonCloudWatch/latest/monitoring/create_dashboard.html
- https://console.aws.amazon.com/cloudwatch/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로그만 있으면 안 되냐고 물어보세요. 지난 한 시간 평균 응답시간을 알려면 로그 몇만 줄을 매번 계산해야 합니다. 느리고 비쌉니다. 그래서 미리 숫자로 뽑아 놓는 것이 메트릭입니다.</a:t>
            </a:r>
            <a:endParaRPr/>
          </a:p>
          <a:p xmlns:a="http://schemas.openxmlformats.org/drawingml/2006/main">
            <a:r>
              <a:t>
[Sources]
- https://docs.aws.amazon.com/AmazonCloudWatch/latest/monitoring/create_dashboard.html
- https://console.aws.amazon.com/cloudwatch/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조건 셋을 못 채우면 그건 지표가 아니라 장식이라고 말해주세요. 알람이 너무 자주 오면 사람이 무시하기 시작하는데, 이걸 알람 피로라고 하고 알람이 없는 것보다 나쁩니다. 그래서 임계값은 울리면 내가 지금 뭔가 한다 수준으로 잡습니다.</a:t>
            </a:r>
            <a:endParaRPr/>
          </a:p>
          <a:p xmlns:a="http://schemas.openxmlformats.org/drawingml/2006/main">
            <a:r>
              <a:t>
[Sources]
- https://docs.aws.amazon.com/AmazonCloudWatch/latest/monitoring/create_dashboard.html
- https://console.aws.amazon.com/cloudwatch/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과목에서 제일 중요한 이야기 중 하나라고 예고하고 시작하세요. 4주차에 나온 정확도는 테스트 데이터에서 나온 숫자인데, 서비스는 미래의 데이터를 상대한다는 점을 짚어주면 이해가 빠릅니다.</a:t>
            </a:r>
            <a:endParaRPr/>
          </a:p>
          <a:p xmlns:a="http://schemas.openxmlformats.org/drawingml/2006/main">
            <a:r>
              <a:t>
[Sources]
- https://docs.aws.amazon.com/AmazonCloudWatch/latest/monitoring/create_dashboard.html
- https://console.aws.amazon.com/cloudwatch/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성능을 정확히 재려면 정답이 필요한데 정답은 늦게 옵니다. 이탈 예측이 맞았는지는 3개월 뒤에 압니다. 그래서 차선책으로 입력 분포를 감시하는 겁니다. 정교하진 않지만 없는 것보다 압도적으로 낫습니다.</a:t>
            </a:r>
            <a:endParaRPr/>
          </a:p>
          <a:p xmlns:a="http://schemas.openxmlformats.org/drawingml/2006/main">
            <a:r>
              <a:t>
[Sources]
- https://docs.aws.amazon.com/AmazonCloudWatch/latest/monitoring/create_dashboard.html
- https://console.aws.amazon.com/cloudwatch/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재학습 정책 한 줄이 있는 팀과 없는 팀은 발표 때 완전히 다르게 보입니다. NCS 선정모델 성능 관리하기가 요구하는 게 정확히 이겁니다. 모델을 만들어봤다와 모델을 운영해봤다를 가르는 지점이라고 말해주세요.</a:t>
            </a:r>
            <a:endParaRPr/>
          </a:p>
          <a:p xmlns:a="http://schemas.openxmlformats.org/drawingml/2006/main">
            <a:r>
              <a:t>
[Sources]
- https://docs.aws.amazon.com/AmazonCloudWatch/latest/monitoring/create_dashboard.html
- https://console.aws.amazon.com/cloudwatch/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솔직하게 말한다는 태도로 설명하세요. 실습으로 전환할 수 없는 이유를 분명히 말해주면 오히려 신뢰가 생깁니다. 가용률은 전체 요청에서 에러 요청을 뺀 비율이라고 알려주면 이미 SLI를 만들고 있다는 감이 옵니다.</a:t>
            </a:r>
            <a:endParaRPr/>
          </a:p>
          <a:p xmlns:a="http://schemas.openxmlformats.org/drawingml/2006/main">
            <a:r>
              <a:t>
[Sources]
- https://docs.aws.amazon.com/AmazonCloudWatch/latest/monitoring/create_dashboard.html
- https://console.aws.amazon.com/cloudwatch/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
[Sources]
- https://docs.aws.amazon.com/AmazonCloudWatch/latest/monitoring/create_dashboard.html
- https://console.aws.amazon.com/cloudwatch/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권한 테스트에서 AccessDenied가 뜨면 학생 권한으로는 해결이 안 되니 바로 강사를 부르라고 하세요. 인스턴스 역할에 CloudWatchAgentServerPolicy를 붙여야 합니다. 메트릭은 콘솔에 뜨기까지 2~3분 걸리니 안 보인다고 바로 다시 하지 말라고 미리 말합니다.</a:t>
            </a:r>
            <a:endParaRPr/>
          </a:p>
          <a:p xmlns:a="http://schemas.openxmlformats.org/drawingml/2006/main">
            <a:r>
              <a:t>
[Sources]
- https://docs.aws.amazon.com/AmazonCloudWatch/latest/monitoring/create_dashboard.html
- https://console.aws.amazon.com/cloudwatch/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에러율 위젯은 지표 두 개를 먼저 추가한 뒤 Math expression으로 만듭니다. m1이 ErrorCount인지 왼쪽 Id 열에서 반드시 확인하게 하세요. 원본 두 지표는 눈 아이콘을 꺼서 숨깁니다. DriftScore 위젯은 실습 B가 끝난 뒤에 추가합니다.</a:t>
            </a:r>
            <a:endParaRPr/>
          </a:p>
          <a:p xmlns:a="http://schemas.openxmlformats.org/drawingml/2006/main">
            <a:r>
              <a:t>
[Sources]
- https://docs.aws.amazon.com/AmazonCloudWatch/latest/monitoring/create_dashboard.html
- https://console.aws.amazon.com/cloudwatch/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종료코드가 0이면 권한이 있는 겁니다. 요청을 쏜 뒤에 EC2에서 tail -3 /var/log/mlops/app.log 로 로그가 쌓이는 것도 같이 보여주세요. 로그 파일이 없으면 컨테이너 볼륨 마운트가 빠진 겁니다.</a:t>
            </a:r>
            <a:endParaRPr/>
          </a:p>
          <a:p xmlns:a="http://schemas.openxmlformats.org/drawingml/2006/main">
            <a:r>
              <a:t>
[Sources]
- https://docs.aws.amazon.com/AmazonCloudWatch/latest/monitoring/create_dashboard.html
- https://console.aws.amazon.com/cloudwatch/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학교 메일은 스팸함을 반드시 확인시키세요. 아예 안 오면 개인 메일로 다시 구독합니다. 알람을 만든 뒤에는 sns publish 로 배달 테스트를 먼저 하고, /predict/_boom 을 30번 호출해 일부러 알람을 울립니다.</a:t>
            </a:r>
            <a:endParaRPr/>
          </a:p>
          <a:p xmlns:a="http://schemas.openxmlformats.org/drawingml/2006/main">
            <a:r>
              <a:t>
[Sources]
- https://docs.aws.amazon.com/AmazonCloudWatch/latest/monitoring/create_dashboard.html
- https://console.aws.amazon.com/cloudwatch/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알람이 계속 INSUFFICIENT_DATA면 요청이 아예 없어서 데이터가 없는 겁니다. 정상입니다. 요청 몇 건을 쏘고 다시 보게 하세요. 50분이 지나면 강제 종료하고 완성본 태그를 가져다 쓰게 합니다.</a:t>
            </a:r>
            <a:endParaRPr/>
          </a:p>
          <a:p xmlns:a="http://schemas.openxmlformats.org/drawingml/2006/main">
            <a:r>
              <a:t>
[Sources]
- https://docs.aws.amazon.com/AmazonCloudWatch/latest/monitoring/create_dashboard.html
- https://console.aws.amazon.com/cloudwatch/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
[Sources]
- https://docs.aws.amazon.com/AmazonCloudWatch/latest/monitoring/create_dashboard.html
- https://console.aws.amazon.com/cloudwatch/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기준선은 반드시 학습에 쓴 데이터로 만들어야 합니다. 테스트 데이터로 만드는 팀이 매년 나옵니다. 그리고 입력 로그에 이름이나 연락처가 그대로 찍히는 팀을 잡아내세요. 감점 사유입니다.</a:t>
            </a:r>
            <a:endParaRPr/>
          </a:p>
          <a:p xmlns:a="http://schemas.openxmlformats.org/drawingml/2006/main">
            <a:r>
              <a:t>
[Sources]
- https://docs.aws.amazon.com/AmazonCloudWatch/latest/monitoring/create_dashboard.html
- https://console.aws.amazon.com/cloudwatch/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드리프트를 유발한 뒤 해당 컬럼 판정이 경고로 바뀌고 학습범위밖 건수가 올라가는 것을 눈으로 확인시키세요. 그리고 이 점수는 DriftScore 메트릭으로도 올라가니 대시보드에 위젯을 하나 더 추가하고 주석선 1.0을 긋게 합니다.</a:t>
            </a:r>
            <a:endParaRPr/>
          </a:p>
          <a:p xmlns:a="http://schemas.openxmlformats.org/drawingml/2006/main">
            <a:r>
              <a:t>
[Sources]
- https://docs.aws.amazon.com/AmazonCloudWatch/latest/monitoring/create_dashboard.html
- https://console.aws.amazon.com/cloudwatch/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조종사는 30년 경력자도 이륙 전에 종이 체크리스트를 소리 내어 읽습니다. 사람 기억은 피곤하면 무너지기 때문입니다. 매일 3분이면 되고 실무에서는 이걸 하나씩 알람으로 옮기는 것이 운영 개선이라고 말해주세요.</a:t>
            </a:r>
            <a:endParaRPr/>
          </a:p>
          <a:p xmlns:a="http://schemas.openxmlformats.org/drawingml/2006/main">
            <a:r>
              <a:t>
[Sources]
- https://docs.aws.amazon.com/AmazonCloudWatch/latest/monitoring/create_dashboard.html
- https://console.aws.amazon.com/cloudwatch/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네 번째 항목이 오늘의 진짜 관문입니다. 내 컴퓨터에선 되는데요를 깨는 항목이니 팀 안에서 서로 다른 사람 노트북으로 교차 호출을 시키세요. 미통과 항목이 있는 팀은 13주차 코칭을 그 항목부터 시작합니다.</a:t>
            </a:r>
            <a:endParaRPr/>
          </a:p>
          <a:p xmlns:a="http://schemas.openxmlformats.org/drawingml/2006/main">
            <a:r>
              <a:t>
[Sources]
- https://docs.aws.amazon.com/AmazonCloudWatch/latest/monitoring/create_dashboard.html
- https://console.aws.amazon.com/cloudwatch/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알람 메일이 늦게 오는 팀은 실습 B를 진행하면서 백그라운드로 기다리게 하세요. 메일이 안 오면 set-alarm-state 로 수동 발송해서 배달 자체를 확인할 수 있습니다.</a:t>
            </a:r>
            <a:endParaRPr/>
          </a:p>
          <a:p xmlns:a="http://schemas.openxmlformats.org/drawingml/2006/main">
            <a:r>
              <a:t>
[Sources]
- https://docs.aws.amazon.com/AmazonCloudWatch/latest/monitoring/create_dashboard.html
- https://console.aws.amazon.com/cloudwatch/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로그 보존기간을 안 잡으면 무기한 보존이 기본값이라 비용이 계속 붙습니다. put-retention-policy 명령을 화면에 띄워두고 같이 실행하게 하세요.</a:t>
            </a:r>
            <a:endParaRPr/>
          </a:p>
          <a:p xmlns:a="http://schemas.openxmlformats.org/drawingml/2006/main">
            <a:r>
              <a:t>
[Sources]
- https://docs.aws.amazon.com/AmazonCloudWatch/latest/monitoring/create_dashboard.html
- https://console.aws.amazon.com/cloudwatch/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다음 주는 손에 가장 많이 남는 회차라고 예고하세요. 그리고 시연 영상은 다음 주에 반드시 강사에게 파일을 보여줘야 하는 필수 통과 조건이라고 지금 못 박아두면 준비가 됩니다.</a:t>
            </a:r>
            <a:endParaRPr/>
          </a:p>
          <a:p xmlns:a="http://schemas.openxmlformats.org/drawingml/2006/main">
            <a:r>
              <a:t>
[Sources]
- https://docs.aws.amazon.com/AmazonCloudWatch/latest/monitoring/create_dashboard.html
- https://console.aws.amazon.com/cloudwatch/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https://docs.aws.amazon.com/AmazonCloudWatch/latest/monitoring/create_dashboard.html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https://docs.aws.amazon.com/AmazonCloudWatch/latest/monitoring/create_dashboard.html</a:t>
            </a:r>
          </a:p>
          <a:p xmlns:a="http://schemas.openxmlformats.org/drawingml/2006/main">
            <a:r>
              <a:t>- https://console.aws.amazon.com/cloudwatch/</a:t>
            </a:r>
          </a:p>
          <a:p xmlns:a="http://schemas.openxmlformats.org/drawingml/2006/main">
            <a:r>
              <a:t>- AWS 공식 문서 화면 캡처, 2026-08-24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 안내]</a:t>
            </a:r>
          </a:p>
          <a:p xmlns:a="http://schemas.openxmlformats.org/drawingml/2006/main">
            <a:r>
              <a:t>- 경로: CloudWatch → Dashboards → Custom dashboards</a:t>
            </a:r>
          </a:p>
          <a:p xmlns:a="http://schemas.openxmlformats.org/drawingml/2006/main">
            <a:r>
              <a:t>- 확인: 대시보드가 늦게 로드될 수 있으므로 목록 개수와 로딩 상태를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https://ap-northeast-2.console.aws.amazon.com/cloudwatch/home?region=ap-northeast-2#dashboards</a:t>
            </a:r>
          </a:p>
          <a:p xmlns:a="http://schemas.openxmlformats.org/drawingml/2006/main">
            <a:r>
              <a:t>- https://docs.aws.amazon.com/AmazonCloudWatch/latest/monitoring/create_dashboard.html</a:t>
            </a:r>
          </a:p>
          <a:p xmlns:a="http://schemas.openxmlformats.org/drawingml/2006/main">
            <a:r>
              <a:t>- 실제 AWS 콘솔 캡처, 2026-08-24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 안내]</a:t>
            </a:r>
          </a:p>
          <a:p xmlns:a="http://schemas.openxmlformats.org/drawingml/2006/main">
            <a:r>
              <a:t>- 경로: CloudShell → logs·cloudwatch 명령 실행</a:t>
            </a:r>
          </a:p>
          <a:p xmlns:a="http://schemas.openxmlformats.org/drawingml/2006/main">
            <a:r>
              <a:t>- 확인: 대시보드 검증 오류가 없고 새 경보가 데이터 부족으로 시작하는지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https://ap-northeast-2.console.aws.amazon.com/cloudshell/home?region=ap-northeast-2</a:t>
            </a:r>
          </a:p>
          <a:p xmlns:a="http://schemas.openxmlformats.org/drawingml/2006/main">
            <a:r>
              <a:t>- https://docs.aws.amazon.com/AmazonCloudWatch/latest/monitoring/create_dashboard.html</a:t>
            </a:r>
          </a:p>
          <a:p xmlns:a="http://schemas.openxmlformats.org/drawingml/2006/main">
            <a:r>
              <a:t>- 실제 AWS 콘솔 캡처, 2026-08-24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 안내]</a:t>
            </a:r>
          </a:p>
          <a:p xmlns:a="http://schemas.openxmlformats.org/drawingml/2006/main">
            <a:r>
              <a:t>- 경로: CloudWatch → Dashboards</a:t>
            </a:r>
          </a:p>
          <a:p xmlns:a="http://schemas.openxmlformats.org/drawingml/2006/main">
            <a:r>
              <a:t>- 확인: 기존 대시보드와 ysu-mlops-week13이 함께 표시되는지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https://ap-northeast-2.console.aws.amazon.com/cloudwatch/home?region=ap-northeast-2#dashboards</a:t>
            </a:r>
          </a:p>
          <a:p xmlns:a="http://schemas.openxmlformats.org/drawingml/2006/main">
            <a:r>
              <a:t>- https://docs.aws.amazon.com/AmazonCloudWatch/latest/monitoring/create_dashboard.html</a:t>
            </a:r>
          </a:p>
          <a:p xmlns:a="http://schemas.openxmlformats.org/drawingml/2006/main">
            <a:r>
              <a:t>- 실제 AWS 콘솔 캡처, 2026-08-24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 안내]</a:t>
            </a:r>
          </a:p>
          <a:p xmlns:a="http://schemas.openxmlformats.org/drawingml/2006/main">
            <a:r>
              <a:t>- 경로: CloudWatch → Dashboards → ysu-mlops-week13</a:t>
            </a:r>
          </a:p>
          <a:p xmlns:a="http://schemas.openxmlformats.org/drawingml/2006/main">
            <a:r>
              <a:t>- 확인: 요청·오류, 지연 시간, 최근 로그 위젯의 목적을 구분한다.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https://ap-northeast-2.console.aws.amazon.com/cloudwatch/home?region=ap-northeast-2#dashboards/dashboard/ysu-mlops-week13</a:t>
            </a:r>
          </a:p>
          <a:p xmlns:a="http://schemas.openxmlformats.org/drawingml/2006/main">
            <a:r>
              <a:t>- https://docs.aws.amazon.com/AmazonCloudWatch/latest/monitoring/create_dashboard.html</a:t>
            </a:r>
          </a:p>
          <a:p xmlns:a="http://schemas.openxmlformats.org/drawingml/2006/main">
            <a:r>
              <a:t>- 실제 AWS 콘솔 캡처, 2026-08-24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 안내]</a:t>
            </a:r>
          </a:p>
          <a:p xmlns:a="http://schemas.openxmlformats.org/drawingml/2006/main">
            <a:r>
              <a:t>- 경로: CloudShell → get-metric-statistics</a:t>
            </a:r>
          </a:p>
          <a:p xmlns:a="http://schemas.openxmlformats.org/drawingml/2006/main">
            <a:r>
              <a:t>- 확인: 전송 직후에는 데이터 포인트가 비어도 설정 오류라고 단정하지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https://ap-northeast-2.console.aws.amazon.com/cloudshell/home?region=ap-northeast-2</a:t>
            </a:r>
          </a:p>
          <a:p xmlns:a="http://schemas.openxmlformats.org/drawingml/2006/main">
            <a:r>
              <a:t>- https://docs.aws.amazon.com/AmazonCloudWatch/latest/monitoring/create_dashboard.html</a:t>
            </a:r>
          </a:p>
          <a:p xmlns:a="http://schemas.openxmlformats.org/drawingml/2006/main">
            <a:r>
              <a:t>- 실제 AWS 콘솔 캡처, 2026-08-24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 안내]</a:t>
            </a:r>
          </a:p>
          <a:p xmlns:a="http://schemas.openxmlformats.org/drawingml/2006/main">
            <a:r>
              <a:t>- 경로: CloudWatch → Logs → Log groups</a:t>
            </a:r>
          </a:p>
          <a:p xmlns:a="http://schemas.openxmlformats.org/drawingml/2006/main">
            <a:r>
              <a:t>- 확인: /ysu/mlops/week13 로그 그룹과 보존 기간을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https://ap-northeast-2.console.aws.amazon.com/cloudwatch/home?region=ap-northeast-2#logsV2:log-groups</a:t>
            </a:r>
          </a:p>
          <a:p xmlns:a="http://schemas.openxmlformats.org/drawingml/2006/main">
            <a:r>
              <a:t>- https://docs.aws.amazon.com/AmazonCloudWatch/latest/monitoring/create_dashboard.html</a:t>
            </a:r>
          </a:p>
          <a:p xmlns:a="http://schemas.openxmlformats.org/drawingml/2006/main">
            <a:r>
              <a:t>- 실제 AWS 콘솔 캡처, 2026-08-24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 안내]</a:t>
            </a:r>
          </a:p>
          <a:p xmlns:a="http://schemas.openxmlformats.org/drawingml/2006/main">
            <a:r>
              <a:t>- 경로: CloudWatch → Log groups → /ysu/mlops/week13 → Log streams</a:t>
            </a:r>
          </a:p>
          <a:p xmlns:a="http://schemas.openxmlformats.org/drawingml/2006/main">
            <a:r>
              <a:t>- 확인: lab 스트림의 마지막 이벤트 시간을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https://ap-northeast-2.console.aws.amazon.com/cloudwatch/home?region=ap-northeast-2#logsV2:log-groups/log-group/$252Fysu$252Fmlops$252Fweek13</a:t>
            </a:r>
          </a:p>
          <a:p xmlns:a="http://schemas.openxmlformats.org/drawingml/2006/main">
            <a:r>
              <a:t>- https://docs.aws.amazon.com/AmazonCloudWatch/latest/monitoring/create_dashboard.html</a:t>
            </a:r>
          </a:p>
          <a:p xmlns:a="http://schemas.openxmlformats.org/drawingml/2006/main">
            <a:r>
              <a:t>- 실제 AWS 콘솔 캡처, 2026-08-24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 안내]</a:t>
            </a:r>
          </a:p>
          <a:p xmlns:a="http://schemas.openxmlformats.org/drawingml/2006/main">
            <a:r>
              <a:t>- 경로: CloudWatch → Log groups → /ysu/mlops/week13 → lab</a:t>
            </a:r>
          </a:p>
          <a:p xmlns:a="http://schemas.openxmlformats.org/drawingml/2006/main">
            <a:r>
              <a:t>- 확인: 시작, health, 예측 요청을 시간순으로 연결해 본다.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https://ap-northeast-2.console.aws.amazon.com/cloudwatch/home?region=ap-northeast-2#logsV2:log-groups/log-group/$252Fysu$252Fmlops$252Fweek13/log-events/lab</a:t>
            </a:r>
          </a:p>
          <a:p xmlns:a="http://schemas.openxmlformats.org/drawingml/2006/main">
            <a:r>
              <a:t>- https://docs.aws.amazon.com/AmazonCloudWatch/latest/monitoring/create_dashboard.html</a:t>
            </a:r>
          </a:p>
          <a:p xmlns:a="http://schemas.openxmlformats.org/drawingml/2006/main">
            <a:r>
              <a:t>- 실제 AWS 콘솔 캡처, 2026-08-24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 안내]</a:t>
            </a:r>
          </a:p>
          <a:p xmlns:a="http://schemas.openxmlformats.org/drawingml/2006/main">
            <a:r>
              <a:t>- 경로: CloudWatch → Alarms → All alarms</a:t>
            </a:r>
          </a:p>
          <a:p xmlns:a="http://schemas.openxmlformats.org/drawingml/2006/main">
            <a:r>
              <a:t>- 확인: LatencyMs 500ms 초과 조건과 현재 정상 상태를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https://ap-northeast-2.console.aws.amazon.com/cloudwatch/home?region=ap-northeast-2#alarmsV2:</a:t>
            </a:r>
          </a:p>
          <a:p xmlns:a="http://schemas.openxmlformats.org/drawingml/2006/main">
            <a:r>
              <a:t>- https://docs.aws.amazon.com/AmazonCloudWatch/latest/monitoring/create_dashboard.html</a:t>
            </a:r>
          </a:p>
          <a:p xmlns:a="http://schemas.openxmlformats.org/drawingml/2006/main">
            <a:r>
              <a:t>- 실제 AWS 콘솔 캡처, 2026-08-24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 안내]</a:t>
            </a:r>
          </a:p>
          <a:p xmlns:a="http://schemas.openxmlformats.org/drawingml/2006/main">
            <a:r>
              <a:t>- 경로: CloudWatch → Alarms → YSU-Week13-HighLatency</a:t>
            </a:r>
          </a:p>
          <a:p xmlns:a="http://schemas.openxmlformats.org/drawingml/2006/main">
            <a:r>
              <a:t>- 확인: 네임스페이스, 디멘션, 평균 통계, 1분 평가, 누락 데이터 처리를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https://ap-northeast-2.console.aws.amazon.com/cloudwatch/home?region=ap-northeast-2#alarmsV2:alarm/YSU-Week13-HighLatency</a:t>
            </a:r>
          </a:p>
          <a:p xmlns:a="http://schemas.openxmlformats.org/drawingml/2006/main">
            <a:r>
              <a:t>- https://docs.aws.amazon.com/AmazonCloudWatch/latest/monitoring/create_dashboard.html</a:t>
            </a:r>
          </a:p>
          <a:p xmlns:a="http://schemas.openxmlformats.org/drawingml/2006/main">
            <a:r>
              <a:t>- 실제 AWS 콘솔 캡처, 2026-08-24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 안내]</a:t>
            </a:r>
          </a:p>
          <a:p xmlns:a="http://schemas.openxmlformats.org/drawingml/2006/main">
            <a:r>
              <a:t>- 경로: CloudShell → put-metric-data·put-log-events</a:t>
            </a:r>
          </a:p>
          <a:p xmlns:a="http://schemas.openxmlformats.org/drawingml/2006/main">
            <a:r>
              <a:t>- 확인: 500ms 임계값보다 큰 920ms 지표와 WARN 로그를 같은 시점에 남긴다.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https://ap-northeast-2.console.aws.amazon.com/cloudshell/home?region=ap-northeast-2</a:t>
            </a:r>
          </a:p>
          <a:p xmlns:a="http://schemas.openxmlformats.org/drawingml/2006/main">
            <a:r>
              <a:t>- https://docs.aws.amazon.com/AmazonCloudWatch/latest/monitoring/create_dashboard.html</a:t>
            </a:r>
          </a:p>
          <a:p xmlns:a="http://schemas.openxmlformats.org/drawingml/2006/main">
            <a:r>
              <a:t>- 실제 AWS 콘솔 캡처, 2026-08-24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 안내]</a:t>
            </a:r>
          </a:p>
          <a:p xmlns:a="http://schemas.openxmlformats.org/drawingml/2006/main">
            <a:r>
              <a:t>- 경로: CloudWatch → Dashboards → ysu-mlops-week13</a:t>
            </a:r>
          </a:p>
          <a:p xmlns:a="http://schemas.openxmlformats.org/drawingml/2006/main">
            <a:r>
              <a:t>- 확인: 그래프 데이터와 latency_ms=920 WARN 로그를 함께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https://ap-northeast-2.console.aws.amazon.com/cloudwatch/home?region=ap-northeast-2#dashboards/dashboard/ysu-mlops-week13</a:t>
            </a:r>
          </a:p>
          <a:p xmlns:a="http://schemas.openxmlformats.org/drawingml/2006/main">
            <a:r>
              <a:t>- https://docs.aws.amazon.com/AmazonCloudWatch/latest/monitoring/create_dashboard.html</a:t>
            </a:r>
          </a:p>
          <a:p xmlns:a="http://schemas.openxmlformats.org/drawingml/2006/main">
            <a:r>
              <a:t>- 실제 AWS 콘솔 캡처, 2026-08-24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 안내]</a:t>
            </a:r>
          </a:p>
          <a:p xmlns:a="http://schemas.openxmlformats.org/drawingml/2006/main">
            <a:r>
              <a:t>- 경로: CloudWatch → Alarms → YSU-Week13-HighLatency</a:t>
            </a:r>
          </a:p>
          <a:p xmlns:a="http://schemas.openxmlformats.org/drawingml/2006/main">
            <a:r>
              <a:t>- 확인: 평가 주기가 지난 뒤 상태가 정상에서 경보 상태로 바뀌는지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https://ap-northeast-2.console.aws.amazon.com/cloudwatch/home?region=ap-northeast-2#alarmsV2:alarm/YSU-Week13-HighLatency</a:t>
            </a:r>
          </a:p>
          <a:p xmlns:a="http://schemas.openxmlformats.org/drawingml/2006/main">
            <a:r>
              <a:t>- https://docs.aws.amazon.com/AmazonCloudWatch/latest/monitoring/create_dashboard.html</a:t>
            </a:r>
          </a:p>
          <a:p xmlns:a="http://schemas.openxmlformats.org/drawingml/2006/main">
            <a:r>
              <a:t>- 실제 AWS 콘솔 캡처, 2026-08-24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 안내]</a:t>
            </a:r>
          </a:p>
          <a:p xmlns:a="http://schemas.openxmlformats.org/drawingml/2006/main">
            <a:r>
              <a:t>- 경로: CloudWatch → Alarm detail → History</a:t>
            </a:r>
          </a:p>
          <a:p xmlns:a="http://schemas.openxmlformats.org/drawingml/2006/main">
            <a:r>
              <a:t>- 확인: 생성, 데이터 부족→정상, 정상→경보 전환 시간이 기록되는지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https://ap-northeast-2.console.aws.amazon.com/cloudwatch/home?region=ap-northeast-2#alarmsV2:alarm/YSU-Week13-HighLatency</a:t>
            </a:r>
          </a:p>
          <a:p xmlns:a="http://schemas.openxmlformats.org/drawingml/2006/main">
            <a:r>
              <a:t>- https://docs.aws.amazon.com/AmazonCloudWatch/latest/monitoring/create_dashboard.html</a:t>
            </a:r>
          </a:p>
          <a:p xmlns:a="http://schemas.openxmlformats.org/drawingml/2006/main">
            <a:r>
              <a:t>- 실제 AWS 콘솔 캡처, 2026-08-24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 안내]</a:t>
            </a:r>
          </a:p>
          <a:p xmlns:a="http://schemas.openxmlformats.org/drawingml/2006/main">
            <a:r>
              <a:t>- 경로: CloudShell → put-metric-data·put-log-events</a:t>
            </a:r>
          </a:p>
          <a:p xmlns:a="http://schemas.openxmlformats.org/drawingml/2006/main">
            <a:r>
              <a:t>- 확인: 임계값 아래 지표와 recovery 로그를 전송한다.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https://ap-northeast-2.console.aws.amazon.com/cloudshell/home?region=ap-northeast-2</a:t>
            </a:r>
          </a:p>
          <a:p xmlns:a="http://schemas.openxmlformats.org/drawingml/2006/main">
            <a:r>
              <a:t>- https://docs.aws.amazon.com/AmazonCloudWatch/latest/monitoring/create_dashboard.html</a:t>
            </a:r>
          </a:p>
          <a:p xmlns:a="http://schemas.openxmlformats.org/drawingml/2006/main">
            <a:r>
              <a:t>- 실제 AWS 콘솔 캡처, 2026-08-24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 안내]</a:t>
            </a:r>
          </a:p>
          <a:p xmlns:a="http://schemas.openxmlformats.org/drawingml/2006/main">
            <a:r>
              <a:t>- 경로: CloudShell → cloudwatch describe-alarms</a:t>
            </a:r>
          </a:p>
          <a:p xmlns:a="http://schemas.openxmlformats.org/drawingml/2006/main">
            <a:r>
              <a:t>- 확인: 105ms가 500ms보다 작아서 상태가 OK로 바뀌었다는 이유를 읽는다.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https://ap-northeast-2.console.aws.amazon.com/cloudshell/home?region=ap-northeast-2</a:t>
            </a:r>
          </a:p>
          <a:p xmlns:a="http://schemas.openxmlformats.org/drawingml/2006/main">
            <a:r>
              <a:t>- https://docs.aws.amazon.com/AmazonCloudWatch/latest/monitoring/create_dashboard.html</a:t>
            </a:r>
          </a:p>
          <a:p xmlns:a="http://schemas.openxmlformats.org/drawingml/2006/main">
            <a:r>
              <a:t>- 실제 AWS 콘솔 캡처, 2026-08-24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 안내]</a:t>
            </a:r>
          </a:p>
          <a:p xmlns:a="http://schemas.openxmlformats.org/drawingml/2006/main">
            <a:r>
              <a:t>- 경로: CloudWatch → Alarms → YSU-Week13-HighLatency</a:t>
            </a:r>
          </a:p>
          <a:p xmlns:a="http://schemas.openxmlformats.org/drawingml/2006/main">
            <a:r>
              <a:t>- 확인: 상태 정상과 마지막 상태 업데이트 시간을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https://ap-northeast-2.console.aws.amazon.com/cloudwatch/home?region=ap-northeast-2#alarmsV2:alarm/YSU-Week13-HighLatency</a:t>
            </a:r>
          </a:p>
          <a:p xmlns:a="http://schemas.openxmlformats.org/drawingml/2006/main">
            <a:r>
              <a:t>- https://docs.aws.amazon.com/AmazonCloudWatch/latest/monitoring/create_dashboard.html</a:t>
            </a:r>
          </a:p>
          <a:p xmlns:a="http://schemas.openxmlformats.org/drawingml/2006/main">
            <a:r>
              <a:t>- 실제 AWS 콘솔 캡처, 2026-08-24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 안내]</a:t>
            </a:r>
          </a:p>
          <a:p xmlns:a="http://schemas.openxmlformats.org/drawingml/2006/main">
            <a:r>
              <a:t>- 경로: CloudShell → get-metric-statistics</a:t>
            </a:r>
          </a:p>
          <a:p xmlns:a="http://schemas.openxmlformats.org/drawingml/2006/main">
            <a:r>
              <a:t>- 확인: 130.5ms, 920ms, 105ms 세 데이터 포인트와 시간을 비교한다.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https://ap-northeast-2.console.aws.amazon.com/cloudshell/home?region=ap-northeast-2</a:t>
            </a:r>
          </a:p>
          <a:p xmlns:a="http://schemas.openxmlformats.org/drawingml/2006/main">
            <a:r>
              <a:t>- https://docs.aws.amazon.com/AmazonCloudWatch/latest/monitoring/create_dashboard.html</a:t>
            </a:r>
          </a:p>
          <a:p xmlns:a="http://schemas.openxmlformats.org/drawingml/2006/main">
            <a:r>
              <a:t>- 실제 AWS 콘솔 캡처, 2026-08-24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 안내]</a:t>
            </a:r>
          </a:p>
          <a:p xmlns:a="http://schemas.openxmlformats.org/drawingml/2006/main">
            <a:r>
              <a:t>- 경로: CloudShell → delete-alarms·delete-dashboards·delete-log-group</a:t>
            </a:r>
          </a:p>
          <a:p xmlns:a="http://schemas.openxmlformats.org/drawingml/2006/main">
            <a:r>
              <a:t>- 확인: 13주차 임시 리소스만 삭제하고 기존 운영 대시보드·경보는 보존한다.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https://ap-northeast-2.console.aws.amazon.com/cloudshell/home?region=ap-northeast-2</a:t>
            </a:r>
          </a:p>
          <a:p xmlns:a="http://schemas.openxmlformats.org/drawingml/2006/main">
            <a:r>
              <a:t>- https://docs.aws.amazon.com/AmazonCloudWatch/latest/monitoring/create_dashboard.html</a:t>
            </a:r>
          </a:p>
          <a:p xmlns:a="http://schemas.openxmlformats.org/drawingml/2006/main">
            <a:r>
              <a:t>- 실제 AWS 콘솔 캡처, 2026-08-24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[강사 안내]</a:t>
            </a:r>
          </a:p>
          <a:p xmlns:a="http://schemas.openxmlformats.org/drawingml/2006/main">
            <a:r>
              <a:t>- 경로: CloudWatch → Dashboards</a:t>
            </a:r>
          </a:p>
          <a:p xmlns:a="http://schemas.openxmlformats.org/drawingml/2006/main">
            <a:r>
              <a:t>- 확인: ysu-mlops-week13은 사라지고 ysu-mlops-lab-dashboard만 남았는지 확인한다.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https://ap-northeast-2.console.aws.amazon.com/cloudwatch/home?region=ap-northeast-2#dashboards</a:t>
            </a:r>
          </a:p>
          <a:p xmlns:a="http://schemas.openxmlformats.org/drawingml/2006/main">
            <a:r>
              <a:t>- https://docs.aws.amazon.com/AmazonCloudWatch/latest/monitoring/create_dashboard.html</a:t>
            </a:r>
          </a:p>
          <a:p xmlns:a="http://schemas.openxmlformats.org/drawingml/2006/main">
            <a:r>
              <a:t>- 실제 AWS 콘솔 캡처, 2026-08-24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fc128dc771945ad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60cec4d06cf49bf" /><Relationship Type="http://schemas.openxmlformats.org/officeDocument/2006/relationships/slideLayout" Target="/ppt/slideLayouts/slideLayout1.xml" Id="R4fc1a3e489214790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fc1a3e489214790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047e72647f456d" /><Relationship Type="http://schemas.openxmlformats.org/officeDocument/2006/relationships/notesSlide" Target="/ppt/notesSlides/notesSlide1.xml" Id="Rb1ffc78d3cad4fd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f23a7aa1d8482e" /><Relationship Type="http://schemas.openxmlformats.org/officeDocument/2006/relationships/notesSlide" Target="/ppt/notesSlides/notesSlide2.xml" Id="R23c035ecdee9434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a663c28eb74064" /><Relationship Type="http://schemas.openxmlformats.org/officeDocument/2006/relationships/notesSlide" Target="/ppt/notesSlides/notesSlide3.xml" Id="R1fe694f2085d4e3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c04861fa894cfe" /><Relationship Type="http://schemas.openxmlformats.org/officeDocument/2006/relationships/notesSlide" Target="/ppt/notesSlides/notesSlide4.xml" Id="R1fa02b641f7042a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71cad312514c8c" /><Relationship Type="http://schemas.openxmlformats.org/officeDocument/2006/relationships/notesSlide" Target="/ppt/notesSlides/notesSlide5.xml" Id="R66bf06b85aec456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d7435448b84923" /><Relationship Type="http://schemas.openxmlformats.org/officeDocument/2006/relationships/notesSlide" Target="/ppt/notesSlides/notesSlide6.xml" Id="R7a32d739b8c0469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04d575946f4640" /><Relationship Type="http://schemas.openxmlformats.org/officeDocument/2006/relationships/notesSlide" Target="/ppt/notesSlides/notesSlide7.xml" Id="R45e4a9f4238b4b7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5d06de4b724802" /><Relationship Type="http://schemas.openxmlformats.org/officeDocument/2006/relationships/notesSlide" Target="/ppt/notesSlides/notesSlide8.xml" Id="Raec9f24c261e478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e2e520b8684597" /><Relationship Type="http://schemas.openxmlformats.org/officeDocument/2006/relationships/notesSlide" Target="/ppt/notesSlides/notesSlide9.xml" Id="R4775fa61e69e482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6d61b1fa2b4dd0" /><Relationship Type="http://schemas.openxmlformats.org/officeDocument/2006/relationships/notesSlide" Target="/ppt/notesSlides/notesSlide10.xml" Id="Rbced27044efe449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1c77535d344c10" /><Relationship Type="http://schemas.openxmlformats.org/officeDocument/2006/relationships/notesSlide" Target="/ppt/notesSlides/notesSlide11.xml" Id="Ra35bd003d8a4436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cfa93d970f4dfa" /><Relationship Type="http://schemas.openxmlformats.org/officeDocument/2006/relationships/notesSlide" Target="/ppt/notesSlides/notesSlide12.xml" Id="Rcbe951f51f4c432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4f592ebb234ce6" /><Relationship Type="http://schemas.openxmlformats.org/officeDocument/2006/relationships/notesSlide" Target="/ppt/notesSlides/notesSlide13.xml" Id="R6cbc58dbad764dd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4dae752b284071" /><Relationship Type="http://schemas.openxmlformats.org/officeDocument/2006/relationships/notesSlide" Target="/ppt/notesSlides/notesSlide14.xml" Id="R7e102926204648fe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83966eab6b4d58" /><Relationship Type="http://schemas.openxmlformats.org/officeDocument/2006/relationships/notesSlide" Target="/ppt/notesSlides/notesSlide15.xml" Id="R122231fe6bce40e9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f349dfb0e94688" /><Relationship Type="http://schemas.openxmlformats.org/officeDocument/2006/relationships/notesSlide" Target="/ppt/notesSlides/notesSlide16.xml" Id="Re0ec3cc4d74044ea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5fb9ab4efd4af0" /><Relationship Type="http://schemas.openxmlformats.org/officeDocument/2006/relationships/notesSlide" Target="/ppt/notesSlides/notesSlide17.xml" Id="R6d594e5cd3f84bbe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84e553774a4b2f" /><Relationship Type="http://schemas.openxmlformats.org/officeDocument/2006/relationships/notesSlide" Target="/ppt/notesSlides/notesSlide18.xml" Id="R2272db3f6a114f2b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68e7bcd4b948f6" /><Relationship Type="http://schemas.openxmlformats.org/officeDocument/2006/relationships/notesSlide" Target="/ppt/notesSlides/notesSlide19.xml" Id="R95023d01ff0e4e1c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e770673cc24c28" /><Relationship Type="http://schemas.openxmlformats.org/officeDocument/2006/relationships/notesSlide" Target="/ppt/notesSlides/notesSlide20.xml" Id="R7d6aa7077d744356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e58bf82a5a4596" /><Relationship Type="http://schemas.openxmlformats.org/officeDocument/2006/relationships/notesSlide" Target="/ppt/notesSlides/notesSlide21.xml" Id="R6438cc647ea54926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ebe48043024556" /><Relationship Type="http://schemas.openxmlformats.org/officeDocument/2006/relationships/notesSlide" Target="/ppt/notesSlides/notesSlide22.xml" Id="R74d1f52aaa294f87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f6bd39faf54559" /><Relationship Type="http://schemas.openxmlformats.org/officeDocument/2006/relationships/notesSlide" Target="/ppt/notesSlides/notesSlide23.xml" Id="Rcc6de8fd535b45b7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d5c704cb26477a" /><Relationship Type="http://schemas.openxmlformats.org/officeDocument/2006/relationships/notesSlide" Target="/ppt/notesSlides/notesSlide24.xml" Id="R2931d0408d5f4894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d819b1354f494f" /><Relationship Type="http://schemas.openxmlformats.org/officeDocument/2006/relationships/notesSlide" Target="/ppt/notesSlides/notesSlide25.xml" Id="R19176f4be5ad4bcb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0dc7630fa242fc" /><Relationship Type="http://schemas.openxmlformats.org/officeDocument/2006/relationships/notesSlide" Target="/ppt/notesSlides/notesSlide26.xml" Id="R2a8ca684bbce493a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860a9b72d84cb3" /><Relationship Type="http://schemas.openxmlformats.org/officeDocument/2006/relationships/image" Target="/ppt/media/image.jpeg" Id="R46aa9afc345b464c" /><Relationship Type="http://schemas.openxmlformats.org/officeDocument/2006/relationships/hyperlink" Target="https://console.aws.amazon.com/cloudwatch/" TargetMode="External" Id="R510343ddae6d4daf" /><Relationship Type="http://schemas.openxmlformats.org/officeDocument/2006/relationships/hyperlink" Target="https://docs.aws.amazon.com/AmazonCloudWatch/latest/monitoring/create_dashboard.html" TargetMode="External" Id="Rb2663fbc338743a4" /><Relationship Type="http://schemas.openxmlformats.org/officeDocument/2006/relationships/notesSlide" Target="/ppt/notesSlides/notesSlide27.xml" Id="R6d5834f073a244bb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c9933a49254398" /><Relationship Type="http://schemas.openxmlformats.org/officeDocument/2006/relationships/hyperlink" Target="https://ap-northeast-2.console.aws.amazon.com/cloudwatch/home?region=ap-northeast-2#dashboards" TargetMode="External" Id="R67f971d08a80426a" /><Relationship Type="http://schemas.openxmlformats.org/officeDocument/2006/relationships/hyperlink" Target="https://docs.aws.amazon.com/AmazonCloudWatch/latest/monitoring/create_dashboard.html" TargetMode="External" Id="R7a6d9470c158448a" /><Relationship Type="http://schemas.openxmlformats.org/officeDocument/2006/relationships/image" Target="/ppt/media/image2.jpeg" Id="Ra7fe86d09cc7499a" /><Relationship Type="http://schemas.openxmlformats.org/officeDocument/2006/relationships/notesSlide" Target="/ppt/notesSlides/notesSlide28.xml" Id="R91ae00f1389341b2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d7a25ca4ed4358" /><Relationship Type="http://schemas.openxmlformats.org/officeDocument/2006/relationships/hyperlink" Target="https://ap-northeast-2.console.aws.amazon.com/cloudshell/home?region=ap-northeast-2" TargetMode="External" Id="Rb5445e3cd34d4596" /><Relationship Type="http://schemas.openxmlformats.org/officeDocument/2006/relationships/hyperlink" Target="https://docs.aws.amazon.com/AmazonCloudWatch/latest/monitoring/create_dashboard.html" TargetMode="External" Id="R5574556181e74f5a" /><Relationship Type="http://schemas.openxmlformats.org/officeDocument/2006/relationships/image" Target="/ppt/media/image3.jpeg" Id="Rd86db7adb3ab47ac" /><Relationship Type="http://schemas.openxmlformats.org/officeDocument/2006/relationships/notesSlide" Target="/ppt/notesSlides/notesSlide29.xml" Id="R4f929f9d98ef4ee7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38bcfeaf3b49a0" /><Relationship Type="http://schemas.openxmlformats.org/officeDocument/2006/relationships/hyperlink" Target="https://ap-northeast-2.console.aws.amazon.com/cloudwatch/home?region=ap-northeast-2#dashboards" TargetMode="External" Id="R4101730b2d8a4d68" /><Relationship Type="http://schemas.openxmlformats.org/officeDocument/2006/relationships/hyperlink" Target="https://docs.aws.amazon.com/AmazonCloudWatch/latest/monitoring/create_dashboard.html" TargetMode="External" Id="R41afa075a13847e0" /><Relationship Type="http://schemas.openxmlformats.org/officeDocument/2006/relationships/image" Target="/ppt/media/image4.jpeg" Id="R77439da576394778" /><Relationship Type="http://schemas.openxmlformats.org/officeDocument/2006/relationships/notesSlide" Target="/ppt/notesSlides/notesSlide30.xml" Id="R1b28499278ec4d61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b4dc163b024542" /><Relationship Type="http://schemas.openxmlformats.org/officeDocument/2006/relationships/hyperlink" Target="https://ap-northeast-2.console.aws.amazon.com/cloudwatch/home?region=ap-northeast-2#dashboards/dashboard/ysu-mlops-week13" TargetMode="External" Id="R26380c664994408e" /><Relationship Type="http://schemas.openxmlformats.org/officeDocument/2006/relationships/hyperlink" Target="https://docs.aws.amazon.com/AmazonCloudWatch/latest/monitoring/create_dashboard.html" TargetMode="External" Id="R2bca0028af254b88" /><Relationship Type="http://schemas.openxmlformats.org/officeDocument/2006/relationships/image" Target="/ppt/media/image5.jpeg" Id="R7bc30f8e2bcc41f4" /><Relationship Type="http://schemas.openxmlformats.org/officeDocument/2006/relationships/notesSlide" Target="/ppt/notesSlides/notesSlide31.xml" Id="Rbb638329ea9a4d24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147217b8c54d81" /><Relationship Type="http://schemas.openxmlformats.org/officeDocument/2006/relationships/hyperlink" Target="https://ap-northeast-2.console.aws.amazon.com/cloudshell/home?region=ap-northeast-2" TargetMode="External" Id="Rd293d26620f64826" /><Relationship Type="http://schemas.openxmlformats.org/officeDocument/2006/relationships/hyperlink" Target="https://docs.aws.amazon.com/AmazonCloudWatch/latest/monitoring/create_dashboard.html" TargetMode="External" Id="R8a6e4874b2ca4e32" /><Relationship Type="http://schemas.openxmlformats.org/officeDocument/2006/relationships/image" Target="/ppt/media/image6.jpeg" Id="R3f19cf264291452c" /><Relationship Type="http://schemas.openxmlformats.org/officeDocument/2006/relationships/notesSlide" Target="/ppt/notesSlides/notesSlide32.xml" Id="Rcc45ca8d77d34d49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ec1e9d6f6b4f26" /><Relationship Type="http://schemas.openxmlformats.org/officeDocument/2006/relationships/hyperlink" Target="https://ap-northeast-2.console.aws.amazon.com/cloudwatch/home?region=ap-northeast-2#logsV2:log-groups" TargetMode="External" Id="R40988da231174c5a" /><Relationship Type="http://schemas.openxmlformats.org/officeDocument/2006/relationships/hyperlink" Target="https://docs.aws.amazon.com/AmazonCloudWatch/latest/monitoring/create_dashboard.html" TargetMode="External" Id="R2104246e90be4338" /><Relationship Type="http://schemas.openxmlformats.org/officeDocument/2006/relationships/image" Target="/ppt/media/image7.jpeg" Id="R8618a1f813b3438a" /><Relationship Type="http://schemas.openxmlformats.org/officeDocument/2006/relationships/notesSlide" Target="/ppt/notesSlides/notesSlide33.xml" Id="Rbffb33507b6f4531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dc4518f3584968" /><Relationship Type="http://schemas.openxmlformats.org/officeDocument/2006/relationships/hyperlink" Target="https://ap-northeast-2.console.aws.amazon.com/cloudwatch/home?region=ap-northeast-2#logsV2:log-groups/log-group/$252Fysu$252Fmlops$252Fweek13" TargetMode="External" Id="R6066e2a050b04f74" /><Relationship Type="http://schemas.openxmlformats.org/officeDocument/2006/relationships/hyperlink" Target="https://docs.aws.amazon.com/AmazonCloudWatch/latest/monitoring/create_dashboard.html" TargetMode="External" Id="Rc7465e55968f4cae" /><Relationship Type="http://schemas.openxmlformats.org/officeDocument/2006/relationships/image" Target="/ppt/media/image8.jpeg" Id="Rad4e182681bb4297" /><Relationship Type="http://schemas.openxmlformats.org/officeDocument/2006/relationships/notesSlide" Target="/ppt/notesSlides/notesSlide34.xml" Id="R62a675f5ca8f47fe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6df78610bd45f5" /><Relationship Type="http://schemas.openxmlformats.org/officeDocument/2006/relationships/hyperlink" Target="https://ap-northeast-2.console.aws.amazon.com/cloudwatch/home?region=ap-northeast-2#logsV2:log-groups/log-group/$252Fysu$252Fmlops$252Fweek13/log-events/lab" TargetMode="External" Id="R57514ed0a5954e94" /><Relationship Type="http://schemas.openxmlformats.org/officeDocument/2006/relationships/hyperlink" Target="https://docs.aws.amazon.com/AmazonCloudWatch/latest/monitoring/create_dashboard.html" TargetMode="External" Id="R5e467b185a104879" /><Relationship Type="http://schemas.openxmlformats.org/officeDocument/2006/relationships/image" Target="/ppt/media/image9.jpeg" Id="Ra613bb4ee6ef4981" /><Relationship Type="http://schemas.openxmlformats.org/officeDocument/2006/relationships/notesSlide" Target="/ppt/notesSlides/notesSlide35.xml" Id="R075c60a9efe540c8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4ff492a6af49f7" /><Relationship Type="http://schemas.openxmlformats.org/officeDocument/2006/relationships/hyperlink" Target="https://ap-northeast-2.console.aws.amazon.com/cloudwatch/home?region=ap-northeast-2#alarmsV2:" TargetMode="External" Id="Rac4d38b5920e4323" /><Relationship Type="http://schemas.openxmlformats.org/officeDocument/2006/relationships/hyperlink" Target="https://docs.aws.amazon.com/AmazonCloudWatch/latest/monitoring/create_dashboard.html" TargetMode="External" Id="Rdf4dc11eeb7d4eed" /><Relationship Type="http://schemas.openxmlformats.org/officeDocument/2006/relationships/image" Target="/ppt/media/image10.jpeg" Id="R08f644d56b0944c6" /><Relationship Type="http://schemas.openxmlformats.org/officeDocument/2006/relationships/notesSlide" Target="/ppt/notesSlides/notesSlide36.xml" Id="R395663b712ae44de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735935ab0e40a9" /><Relationship Type="http://schemas.openxmlformats.org/officeDocument/2006/relationships/hyperlink" Target="https://ap-northeast-2.console.aws.amazon.com/cloudwatch/home?region=ap-northeast-2#alarmsV2:alarm/YSU-Week13-HighLatency" TargetMode="External" Id="Re08f427a795e47b0" /><Relationship Type="http://schemas.openxmlformats.org/officeDocument/2006/relationships/hyperlink" Target="https://docs.aws.amazon.com/AmazonCloudWatch/latest/monitoring/create_dashboard.html" TargetMode="External" Id="R897eebc08e8a4c72" /><Relationship Type="http://schemas.openxmlformats.org/officeDocument/2006/relationships/image" Target="/ppt/media/image11.jpeg" Id="Re314deb5d9cd4f31" /><Relationship Type="http://schemas.openxmlformats.org/officeDocument/2006/relationships/notesSlide" Target="/ppt/notesSlides/notesSlide37.xml" Id="Rac94a70a34cc494e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f3ce2876c04f93" /><Relationship Type="http://schemas.openxmlformats.org/officeDocument/2006/relationships/hyperlink" Target="https://ap-northeast-2.console.aws.amazon.com/cloudshell/home?region=ap-northeast-2" TargetMode="External" Id="R96ce48c97a9b4553" /><Relationship Type="http://schemas.openxmlformats.org/officeDocument/2006/relationships/hyperlink" Target="https://docs.aws.amazon.com/AmazonCloudWatch/latest/monitoring/create_dashboard.html" TargetMode="External" Id="R080384bf36d04b72" /><Relationship Type="http://schemas.openxmlformats.org/officeDocument/2006/relationships/image" Target="/ppt/media/image12.jpeg" Id="R988fc5b10c774db6" /><Relationship Type="http://schemas.openxmlformats.org/officeDocument/2006/relationships/notesSlide" Target="/ppt/notesSlides/notesSlide38.xml" Id="Re3ca0ba82b6849ee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851f7c449c47a3" /><Relationship Type="http://schemas.openxmlformats.org/officeDocument/2006/relationships/hyperlink" Target="https://ap-northeast-2.console.aws.amazon.com/cloudwatch/home?region=ap-northeast-2#dashboards/dashboard/ysu-mlops-week13" TargetMode="External" Id="R6a81029031604c64" /><Relationship Type="http://schemas.openxmlformats.org/officeDocument/2006/relationships/hyperlink" Target="https://docs.aws.amazon.com/AmazonCloudWatch/latest/monitoring/create_dashboard.html" TargetMode="External" Id="Rc7885dc29d2a4d4b" /><Relationship Type="http://schemas.openxmlformats.org/officeDocument/2006/relationships/image" Target="/ppt/media/image13.jpeg" Id="R38598ac0350c493e" /><Relationship Type="http://schemas.openxmlformats.org/officeDocument/2006/relationships/notesSlide" Target="/ppt/notesSlides/notesSlide39.xml" Id="Re797cc3d4e664b66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e24ee0a7b44eef" /><Relationship Type="http://schemas.openxmlformats.org/officeDocument/2006/relationships/hyperlink" Target="https://ap-northeast-2.console.aws.amazon.com/cloudwatch/home?region=ap-northeast-2#alarmsV2:alarm/YSU-Week13-HighLatency" TargetMode="External" Id="R85fbdfa006b94825" /><Relationship Type="http://schemas.openxmlformats.org/officeDocument/2006/relationships/hyperlink" Target="https://docs.aws.amazon.com/AmazonCloudWatch/latest/monitoring/create_dashboard.html" TargetMode="External" Id="R1e5fb3c2daae4632" /><Relationship Type="http://schemas.openxmlformats.org/officeDocument/2006/relationships/image" Target="/ppt/media/image14.jpeg" Id="R93fffed5f0324f35" /><Relationship Type="http://schemas.openxmlformats.org/officeDocument/2006/relationships/notesSlide" Target="/ppt/notesSlides/notesSlide40.xml" Id="R8edc5cd39ecd4256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522146e90640a8" /><Relationship Type="http://schemas.openxmlformats.org/officeDocument/2006/relationships/hyperlink" Target="https://ap-northeast-2.console.aws.amazon.com/cloudwatch/home?region=ap-northeast-2#alarmsV2:alarm/YSU-Week13-HighLatency" TargetMode="External" Id="R3c539cccac794365" /><Relationship Type="http://schemas.openxmlformats.org/officeDocument/2006/relationships/hyperlink" Target="https://docs.aws.amazon.com/AmazonCloudWatch/latest/monitoring/create_dashboard.html" TargetMode="External" Id="Rf29e7ce2aae842d1" /><Relationship Type="http://schemas.openxmlformats.org/officeDocument/2006/relationships/image" Target="/ppt/media/image15.jpeg" Id="R6fd7d0a38f084c1f" /><Relationship Type="http://schemas.openxmlformats.org/officeDocument/2006/relationships/notesSlide" Target="/ppt/notesSlides/notesSlide41.xml" Id="R6002d35c618a4915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acc8d6faad4b5f" /><Relationship Type="http://schemas.openxmlformats.org/officeDocument/2006/relationships/hyperlink" Target="https://ap-northeast-2.console.aws.amazon.com/cloudshell/home?region=ap-northeast-2" TargetMode="External" Id="R6a27f1025932497f" /><Relationship Type="http://schemas.openxmlformats.org/officeDocument/2006/relationships/hyperlink" Target="https://docs.aws.amazon.com/AmazonCloudWatch/latest/monitoring/create_dashboard.html" TargetMode="External" Id="Rc3b868eddeab4e43" /><Relationship Type="http://schemas.openxmlformats.org/officeDocument/2006/relationships/image" Target="/ppt/media/image16.jpeg" Id="R18965f233ab442b6" /><Relationship Type="http://schemas.openxmlformats.org/officeDocument/2006/relationships/notesSlide" Target="/ppt/notesSlides/notesSlide42.xml" Id="R14d7e5763d624c64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450069861e44a2" /><Relationship Type="http://schemas.openxmlformats.org/officeDocument/2006/relationships/hyperlink" Target="https://ap-northeast-2.console.aws.amazon.com/cloudshell/home?region=ap-northeast-2" TargetMode="External" Id="Rda98d0adee714f93" /><Relationship Type="http://schemas.openxmlformats.org/officeDocument/2006/relationships/hyperlink" Target="https://docs.aws.amazon.com/AmazonCloudWatch/latest/monitoring/create_dashboard.html" TargetMode="External" Id="Rbe74f9a757cd48d8" /><Relationship Type="http://schemas.openxmlformats.org/officeDocument/2006/relationships/image" Target="/ppt/media/image17.jpeg" Id="Rcfa54edcc54b4112" /><Relationship Type="http://schemas.openxmlformats.org/officeDocument/2006/relationships/notesSlide" Target="/ppt/notesSlides/notesSlide43.xml" Id="Rc862f9e988d84815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36f2dea5104dff" /><Relationship Type="http://schemas.openxmlformats.org/officeDocument/2006/relationships/hyperlink" Target="https://ap-northeast-2.console.aws.amazon.com/cloudwatch/home?region=ap-northeast-2#alarmsV2:alarm/YSU-Week13-HighLatency" TargetMode="External" Id="R745a06aea1b5414b" /><Relationship Type="http://schemas.openxmlformats.org/officeDocument/2006/relationships/hyperlink" Target="https://docs.aws.amazon.com/AmazonCloudWatch/latest/monitoring/create_dashboard.html" TargetMode="External" Id="Rfd11f0edf7c54fb8" /><Relationship Type="http://schemas.openxmlformats.org/officeDocument/2006/relationships/image" Target="/ppt/media/image18.jpeg" Id="R1dd51a97731f43ac" /><Relationship Type="http://schemas.openxmlformats.org/officeDocument/2006/relationships/notesSlide" Target="/ppt/notesSlides/notesSlide44.xml" Id="R0bd5e956d33b4543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374874ee8e4f84" /><Relationship Type="http://schemas.openxmlformats.org/officeDocument/2006/relationships/hyperlink" Target="https://ap-northeast-2.console.aws.amazon.com/cloudshell/home?region=ap-northeast-2" TargetMode="External" Id="R83ca43b1ad6848f1" /><Relationship Type="http://schemas.openxmlformats.org/officeDocument/2006/relationships/hyperlink" Target="https://docs.aws.amazon.com/AmazonCloudWatch/latest/monitoring/create_dashboard.html" TargetMode="External" Id="Rdc44ce317a1241d0" /><Relationship Type="http://schemas.openxmlformats.org/officeDocument/2006/relationships/image" Target="/ppt/media/image19.jpeg" Id="R3f5dc8216c274b1f" /><Relationship Type="http://schemas.openxmlformats.org/officeDocument/2006/relationships/notesSlide" Target="/ppt/notesSlides/notesSlide45.xml" Id="Rb1b9ad57d8b74f26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907aaa42424b8a" /><Relationship Type="http://schemas.openxmlformats.org/officeDocument/2006/relationships/hyperlink" Target="https://ap-northeast-2.console.aws.amazon.com/cloudshell/home?region=ap-northeast-2" TargetMode="External" Id="R207a7f53dfd74c23" /><Relationship Type="http://schemas.openxmlformats.org/officeDocument/2006/relationships/hyperlink" Target="https://docs.aws.amazon.com/AmazonCloudWatch/latest/monitoring/create_dashboard.html" TargetMode="External" Id="R5c0d0437daca4199" /><Relationship Type="http://schemas.openxmlformats.org/officeDocument/2006/relationships/image" Target="/ppt/media/image20.jpeg" Id="R14eab53e3b3f44e3" /><Relationship Type="http://schemas.openxmlformats.org/officeDocument/2006/relationships/notesSlide" Target="/ppt/notesSlides/notesSlide46.xml" Id="R3de4106ea9d343b6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e99f8888384b79" /><Relationship Type="http://schemas.openxmlformats.org/officeDocument/2006/relationships/hyperlink" Target="https://ap-northeast-2.console.aws.amazon.com/cloudwatch/home?region=ap-northeast-2#dashboards" TargetMode="External" Id="R12b80c4f5f0c4bec" /><Relationship Type="http://schemas.openxmlformats.org/officeDocument/2006/relationships/hyperlink" Target="https://docs.aws.amazon.com/AmazonCloudWatch/latest/monitoring/create_dashboard.html" TargetMode="External" Id="Rd61dc2258ef84f94" /><Relationship Type="http://schemas.openxmlformats.org/officeDocument/2006/relationships/image" Target="/ppt/media/image21.jpeg" Id="Rf770497d4a744d17" /><Relationship Type="http://schemas.openxmlformats.org/officeDocument/2006/relationships/notesSlide" Target="/ppt/notesSlides/notesSlide47.xml" Id="Rd4fa101d672b4d5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3323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ECC817A0-0875-4027-9B14-F347A3143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760" y="-1371600"/>
            <a:ext cx="4754880" cy="4754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4E5B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0CE94717-DB7C-491C-B084-E7ABEBA10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8480" y="4206240"/>
            <a:ext cx="2834640" cy="2834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1951E360-DCFD-4334-9C53-C89069FB5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234440"/>
            <a:ext cx="54864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b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400" b="1">
                <a:solidFill>
                  <a:srgbClr val="02C39A"/>
                </a:solidFill>
                <a:latin typeface="맑은 고딕"/>
                <a:ea typeface="맑은 고딕"/>
                <a:cs typeface="맑은 고딕"/>
              </a:rPr>
              <a:t>13  주차</a:t>
            </a:r>
            <a:endParaRPr sz="84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8AC0B235-8D65-4E37-BC76-4FFE4C7DD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697480"/>
            <a:ext cx="8595360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6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모니터링과 운영 (M3 파이프라인 완성)</a:t>
            </a:r>
            <a:endParaRPr sz="36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076F1904-1279-40F4-9F74-F951AD3F3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160520"/>
            <a:ext cx="841248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A8C6CC"/>
                </a:solidFill>
                <a:latin typeface="맑은 고딕"/>
                <a:ea typeface="맑은 고딕"/>
                <a:cs typeface="맑은 고딕"/>
              </a:rPr>
              <a:t>로그와 메트릭을 CloudWatch로 보고, 에러율 알람 메일을 받게 만들 수 있다</a:t>
            </a:r>
            <a:endParaRPr sz="14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FA48C8F1-23A4-4D52-A318-003952D63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230368"/>
            <a:ext cx="8412480" cy="18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5A66"/>
          </a:solidFill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8CA4F932-F2AA-45EF-90D3-D1064537A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394960"/>
            <a:ext cx="54864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7FA3AB"/>
                </a:solidFill>
                <a:latin typeface="맑은 고딕"/>
                <a:ea typeface="맑은 고딕"/>
                <a:cs typeface="맑은 고딕"/>
              </a:rPr>
              <a:t>클라우드 MLOps · 연성대학교 · 230분</a:t>
            </a:r>
            <a:endParaRPr sz="11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00F80997-3DE4-4A3F-8614-F8E9AAA52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724144"/>
            <a:ext cx="100584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6E939B"/>
                </a:solidFill>
                <a:latin typeface="Consolas"/>
                <a:ea typeface="Consolas"/>
                <a:cs typeface="Consolas"/>
              </a:rPr>
              <a:t>NCS  2001070404_20v1.1   2001070404_20v1.3   2001070405_20v1.1   2001070308_19v1.3</a:t>
            </a:r>
            <a:endParaRPr sz="950"/>
          </a:p>
        </p:txBody>
      </p:sp>
    </p:spTree>
    <p:extLst>
      <p:ext uri="{BB962C8B-B14F-4D97-AF65-F5344CB8AC3E}">
        <p14:creationId xmlns:p14="http://schemas.microsoft.com/office/powerpoint/2010/main" val="45894376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B330B81E-1420-4696-8421-162E47C9A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47472"/>
            <a:ext cx="1105783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오늘의 흐름</a:t>
            </a:r>
            <a:endParaRPr sz="3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2D853F2B-42D6-4CC2-AC7A-EB16C1B45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987552"/>
            <a:ext cx="11057839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230분 · 10분 조기 종료 · 오늘 M3를 넘습니다</a:t>
            </a:r>
            <a:endParaRPr sz="13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4C0D17C7-E7E3-476A-B2CA-7C12F5E12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481328"/>
            <a:ext cx="11057839" cy="530352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F7FAFB"/>
          </a:solidFill>
          <a:ln xmlns:a="http://schemas.openxmlformats.org/drawingml/2006/main" w="9525">
            <a:solidFill>
              <a:srgbClr val="C9DADE"/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A855AB5B-CC25-484B-8AA8-47B8C41AA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1481328"/>
            <a:ext cx="768096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지난주 복습 + 오늘 만들 결과물 데모</a:t>
            </a:r>
            <a:endParaRPr sz="135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1DA6342E-2AD6-42CE-9C75-3AF90EF4D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7407" y="1481328"/>
            <a:ext cx="150876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350" b="1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10분</a:t>
            </a:r>
            <a:endParaRPr sz="135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A2C26891-EB38-4DD4-927B-61318F888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084832"/>
            <a:ext cx="11057839" cy="530352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F7FAFB"/>
          </a:solidFill>
          <a:ln xmlns:a="http://schemas.openxmlformats.org/drawingml/2006/main" w="9525">
            <a:solidFill>
              <a:srgbClr val="C9DADE"/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4319C774-9BF0-4883-930F-468627D39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2084832"/>
            <a:ext cx="768096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이론 — 서비스가 죽는 이유 / 로그·메트릭·알람 / 드리프트</a:t>
            </a:r>
            <a:endParaRPr sz="135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EF43F49D-B2B6-495C-9BAE-9D9EDE1DB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7407" y="2084832"/>
            <a:ext cx="150876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350" b="1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45분</a:t>
            </a:r>
            <a:endParaRPr sz="135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3B13A576-7D31-413B-A42B-F257B4494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688336"/>
            <a:ext cx="11057839" cy="530352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F7FAFB"/>
          </a:solidFill>
          <a:ln xmlns:a="http://schemas.openxmlformats.org/drawingml/2006/main" w="9525">
            <a:solidFill>
              <a:srgbClr val="C9DADE"/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16BA6D2B-0C66-408F-8B71-255B11D2D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2688336"/>
            <a:ext cx="768096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휴식</a:t>
            </a:r>
            <a:endParaRPr sz="135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F8F960DC-CA43-47AF-8AB0-5BB8FDF83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7407" y="2688336"/>
            <a:ext cx="150876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350" b="1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10분</a:t>
            </a:r>
            <a:endParaRPr sz="1350"/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592FC5F7-3A87-4744-AC46-2F5B2859D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91840"/>
            <a:ext cx="11057839" cy="530352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EDF5F6"/>
          </a:solidFill>
          <a:ln xmlns:a="http://schemas.openxmlformats.org/drawingml/2006/main" w="15875">
            <a:solidFill>
              <a:srgbClr val="028090"/>
            </a:solidFill>
            <a:prstDash val="solid"/>
          </a:ln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C143D0C3-493D-4D1A-974C-9D7DA21AC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3291840"/>
            <a:ext cx="768096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실습 A — CloudWatch 메트릭 · 대시보드 · 알람</a:t>
            </a:r>
            <a:endParaRPr sz="135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28FEF4ED-9DBE-44A7-A8DF-A7B6FA42D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7407" y="3291840"/>
            <a:ext cx="150876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350" b="1">
                <a:solidFill>
                  <a:srgbClr val="028090"/>
                </a:solidFill>
                <a:latin typeface="맑은 고딕"/>
                <a:ea typeface="맑은 고딕"/>
                <a:cs typeface="맑은 고딕"/>
              </a:rPr>
              <a:t>50분</a:t>
            </a:r>
            <a:endParaRPr sz="135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C34B6074-ADF1-49F2-B068-F2A2D13E0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895344"/>
            <a:ext cx="11057839" cy="530352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F7FAFB"/>
          </a:solidFill>
          <a:ln xmlns:a="http://schemas.openxmlformats.org/drawingml/2006/main" w="9525">
            <a:solidFill>
              <a:srgbClr val="C9DADE"/>
            </a:solidFill>
            <a:prstDash val="solid"/>
          </a:ln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E28165A9-A263-45AA-8CCB-73AE49391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3895344"/>
            <a:ext cx="768096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휴식</a:t>
            </a:r>
            <a:endParaRPr sz="135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15761A1C-927F-45F8-BAF6-51ACA640F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7407" y="3895344"/>
            <a:ext cx="150876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350" b="1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10분</a:t>
            </a:r>
            <a:endParaRPr sz="1350"/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5262E1D7-CCAB-40CA-89CD-D2372F3AB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498848"/>
            <a:ext cx="11057839" cy="530352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EDF5F6"/>
          </a:solidFill>
          <a:ln xmlns:a="http://schemas.openxmlformats.org/drawingml/2006/main" w="15875">
            <a:solidFill>
              <a:srgbClr val="028090"/>
            </a:solidFill>
            <a:prstDash val="solid"/>
          </a:ln>
        </p:spPr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442532A7-A5D5-4C29-8DDF-B15951BD9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4498848"/>
            <a:ext cx="768096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실습 B — 드리프트 점검 · 운영 체크리스트 · M3 점검</a:t>
            </a:r>
            <a:endParaRPr sz="135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63507A32-9424-47A5-B216-5160C8CC0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7407" y="4498848"/>
            <a:ext cx="150876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350" b="1">
                <a:solidFill>
                  <a:srgbClr val="028090"/>
                </a:solidFill>
                <a:latin typeface="맑은 고딕"/>
                <a:ea typeface="맑은 고딕"/>
                <a:cs typeface="맑은 고딕"/>
              </a:rPr>
              <a:t>85분</a:t>
            </a:r>
            <a:endParaRPr sz="1350"/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0DB46E22-DA2D-4BA9-82D6-FB6379BF5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102352"/>
            <a:ext cx="11057839" cy="530352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F7FAFB"/>
          </a:solidFill>
          <a:ln xmlns:a="http://schemas.openxmlformats.org/drawingml/2006/main" w="9525">
            <a:solidFill>
              <a:srgbClr val="C9DADE"/>
            </a:solidFill>
            <a:prstDash val="solid"/>
          </a:ln>
        </p:spPr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9828CBFC-A2EC-479D-ABB2-A9C7008A5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5102352"/>
            <a:ext cx="768096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체크포인트 + 다음주 예고</a:t>
            </a:r>
            <a:endParaRPr sz="135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591A6F18-50A0-40AD-BCAD-6B2BD9033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7407" y="5102352"/>
            <a:ext cx="150876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350" b="1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15분</a:t>
            </a:r>
            <a:endParaRPr sz="1350"/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84E49B3C-5AF2-4D3F-BD65-92E09F17C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705856"/>
            <a:ext cx="11057839" cy="530352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F7FAFB"/>
          </a:solidFill>
          <a:ln xmlns:a="http://schemas.openxmlformats.org/drawingml/2006/main" w="9525">
            <a:solidFill>
              <a:srgbClr val="C9DADE"/>
            </a:solidFill>
            <a:prstDash val="solid"/>
          </a:ln>
        </p:spPr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EDC248F8-31D7-47CF-AF34-8FEF5EF22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5705856"/>
            <a:ext cx="768096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리소스 정리 타임</a:t>
            </a:r>
            <a:endParaRPr sz="135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9795B35A-DFFC-467E-890B-49343AFF7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7407" y="5705856"/>
            <a:ext cx="150876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350" b="1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5분</a:t>
            </a:r>
            <a:endParaRPr sz="1350"/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4743E43C-4FB1-43B0-ACB4-1AF01D35D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클라우드 MLOps · 13주차</a:t>
            </a:r>
            <a:endParaRPr sz="900"/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1D74E4ED-01F3-4687-A859-A43B8A660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0367" y="6437376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2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203653086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3323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45A59DD2-7DA0-4B78-99EC-064DED893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487168"/>
            <a:ext cx="1005840" cy="10058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C39A"/>
          </a:solidFill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7AB82C04-2507-4C1B-A8F3-C70F2EB06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487168"/>
            <a:ext cx="100584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1</a:t>
            </a:r>
            <a:endParaRPr sz="16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8D75A7F8-4702-46B9-894C-6F29D8414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2808" y="2432304"/>
            <a:ext cx="8686800" cy="7132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왜 모니터링을 하는가</a:t>
            </a:r>
            <a:endParaRPr sz="34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5EEA8830-7EB5-434D-A3FF-6223D7E5E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2808" y="3163824"/>
            <a:ext cx="868680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9FC2C9"/>
                </a:solidFill>
                <a:latin typeface="맑은 고딕"/>
                <a:ea typeface="맑은 고딕"/>
                <a:cs typeface="맑은 고딕"/>
              </a:rPr>
              <a:t>여러분 API는 이번 주말에 죽습니다</a:t>
            </a:r>
            <a:endParaRPr sz="1400"/>
          </a:p>
        </p:txBody>
      </p:sp>
    </p:spTree>
    <p:extLst>
      <p:ext uri="{BB962C8B-B14F-4D97-AF65-F5344CB8AC3E}">
        <p14:creationId xmlns:p14="http://schemas.microsoft.com/office/powerpoint/2010/main" val="715082640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86684778-89DB-4738-88A9-5DD2CEA8F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47472"/>
            <a:ext cx="1105783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서비스가 죽는 이유 다섯 가지</a:t>
            </a:r>
            <a:endParaRPr sz="3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08B8685D-F408-48E3-98D2-468ACCA95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987552"/>
            <a:ext cx="11057839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학생 프로젝트에서 실제로 본 사망 원인을 빈도순으로</a:t>
            </a:r>
            <a:endParaRPr sz="13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C6240137-ABEE-4B30-A400-457814E02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536192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B3847583-B5B4-4C55-8AF0-E63541B06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536192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  <a:endParaRPr sz="12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F0B3E7C1-6D8B-42BF-ACF6-C6ADF9662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1499616"/>
            <a:ext cx="5956347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1위 디스크가 꽉 찬다</a:t>
            </a:r>
            <a:endParaRPr sz="155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42B0A8F3-F65B-4BF3-ADBF-E5BF718A9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1883664"/>
            <a:ext cx="5956347" cy="48097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로그와 배포 이미지가 쌓인다. 30GB는 생각보다 금방 찬다</a:t>
            </a:r>
            <a:endParaRPr sz="125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808FBA49-43E1-4A01-8F4C-B02D77DCD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474366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B62774D1-B1A6-40A6-8F6E-7AE2DC693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474366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  <a:endParaRPr sz="12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3872C34A-5B42-4340-9F7C-DAD7797FF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2437790"/>
            <a:ext cx="5956347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2위 메모리 부족(OOM)</a:t>
            </a:r>
            <a:endParaRPr sz="155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669C1167-0347-455C-BBF9-1B4783A07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2821838"/>
            <a:ext cx="5956347" cy="48097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커널이 제일 많이 먹는 놈을 죽인다. 이유가 안 남는다</a:t>
            </a:r>
            <a:endParaRPr sz="125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BCC85F09-BA36-41A2-94AA-F12B97E6D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412541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C0246CDE-5A6D-4A8C-9F98-917CE7721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412541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  <a:endParaRPr sz="12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17CFBC5C-164D-45F4-BD82-F025A5D42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3375965"/>
            <a:ext cx="5956347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3위 재부팅 후 안 올라온다</a:t>
            </a:r>
            <a:endParaRPr sz="155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F79CB74E-0F6B-40ED-B438-231D40CA5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3760013"/>
            <a:ext cx="5956347" cy="48097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--restart unless-stopped 가 없으면 안 뜬다</a:t>
            </a:r>
            <a:endParaRPr sz="125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F7E2F44B-74EB-4DA9-858A-A7A1CD14B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350715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3E070549-A363-4D6D-B730-2E4E16FDB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350715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  <a:endParaRPr sz="12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68447642-C560-4B5F-B32A-9EB94C0D3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4314139"/>
            <a:ext cx="5956347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4위 의존성이 조용히 바뀐다</a:t>
            </a:r>
            <a:endParaRPr sz="155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C7E676C5-1B22-4AB0-B812-CAF908CDD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4698187"/>
            <a:ext cx="5956347" cy="48097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버전을 못 박지 않으면 어제 되던 코드가 오늘 안 된다</a:t>
            </a:r>
            <a:endParaRPr sz="1250"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376E5A90-5D8E-4D1C-9D44-7770F2F92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288890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03B59811-9DA5-433B-8E36-46570AB19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288890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5</a:t>
            </a:r>
            <a:endParaRPr sz="12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11D1A378-E169-43D0-B368-43EB773FA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5252314"/>
            <a:ext cx="5956347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5위 외부 서비스 장애</a:t>
            </a:r>
            <a:endParaRPr sz="155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2EACDF53-19FA-4ADA-90EA-7A48EA383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5636362"/>
            <a:ext cx="5956347" cy="48097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S3 권한 만료, Bedrock 쿼터 초과 같은 경우</a:t>
            </a:r>
            <a:endParaRPr sz="1250"/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81F63F1A-BA5B-4337-BCCA-93E08B406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0515" y="2436876"/>
            <a:ext cx="4324252" cy="2734056"/>
          </a:xfrm>
          <a:prstGeom xmlns:a="http://schemas.openxmlformats.org/drawingml/2006/main" prst="roundRect">
            <a:avLst>
              <a:gd name="adj" fmla="val 2676"/>
            </a:avLst>
          </a:prstGeom>
          <a:solidFill xmlns:a="http://schemas.openxmlformats.org/drawingml/2006/main">
            <a:srgbClr val="EDF5F6"/>
          </a:solidFill>
          <a:ln xmlns:a="http://schemas.openxmlformats.org/drawingml/2006/main" w="12700">
            <a:solidFill>
              <a:srgbClr val="C9DADE"/>
            </a:solidFill>
            <a:prstDash val="solid"/>
          </a:ln>
        </p:spPr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2DB459E0-E1CD-453B-AC9E-F79268328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4835" y="2656332"/>
            <a:ext cx="3775612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028090"/>
                </a:solidFill>
                <a:latin typeface="맑은 고딕"/>
                <a:ea typeface="맑은 고딕"/>
                <a:cs typeface="맑은 고딕"/>
              </a:rPr>
              <a:t>지금 알 수 있나요</a:t>
            </a:r>
            <a:endParaRPr sz="1450"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24E4B9D3-55C1-4930-814E-B02305E0C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4835" y="3131820"/>
            <a:ext cx="3775612" cy="18196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2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다섯 중 하나도 모른다</a:t>
            </a:r>
            <a:endParaRPr sz="1250"/>
          </a:p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2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브라우저로 들어가야 안다</a:t>
            </a:r>
            <a:endParaRPr sz="1250"/>
          </a:p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2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죽었는지도 모른다</a:t>
            </a:r>
            <a:endParaRPr sz="1250"/>
          </a:p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2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그래서 오늘 모니터링을</a:t>
            </a:r>
            <a:endParaRPr sz="125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DB160283-7511-4B28-A68A-95AB127F1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클라우드 MLOps · 13주차</a:t>
            </a:r>
            <a:endParaRPr sz="900"/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1F0C885C-BF12-4029-A3FB-896E5210B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0367" y="6437376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4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93691437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3323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EAB03CDC-6217-4F60-A875-3479C4578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1920240"/>
            <a:ext cx="9814255" cy="3017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모니터링은 잘 되는지 확인하는 게 아니라</a:t>
            </a:r>
            <a:endParaRPr sz="3800"/>
          </a:p>
          <a:p xmlns:a="http://schemas.openxmlformats.org/drawingml/2006/main">
            <a:pPr marL="0" indent="0" algn="ctr">
              <a:buNone/>
            </a:pPr>
            <a:r>
              <a:rPr sz="3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죽었을 때 내가 먼저 아는 것입니다</a:t>
            </a:r>
            <a:endParaRPr sz="38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B55B14DA-AC67-40CB-9CF6-91A1E4240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4846320"/>
            <a:ext cx="9814255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>
                <a:solidFill>
                  <a:srgbClr val="02C39A"/>
                </a:solidFill>
                <a:latin typeface="맑은 고딕"/>
                <a:ea typeface="맑은 고딕"/>
                <a:cs typeface="맑은 고딕"/>
              </a:rPr>
              <a:t>사용자보다 먼저 알아야 합니다</a:t>
            </a:r>
            <a:endParaRPr sz="1500"/>
          </a:p>
        </p:txBody>
      </p:sp>
    </p:spTree>
    <p:extLst>
      <p:ext uri="{BB962C8B-B14F-4D97-AF65-F5344CB8AC3E}">
        <p14:creationId xmlns:p14="http://schemas.microsoft.com/office/powerpoint/2010/main" val="1085245627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294FD308-B6E6-4820-B66B-21E754142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47472"/>
            <a:ext cx="1105783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로그 · 메트릭 · 알람은 다른 물건입니다</a:t>
            </a:r>
            <a:endParaRPr sz="3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59E5354A-AED7-4B19-A157-223A3C8E8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987552"/>
            <a:ext cx="11057839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병원으로 비유하면 이렇습니다</a:t>
            </a:r>
            <a:endParaRPr sz="13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B8F5F314-B217-4076-93F4-AAD0AD56B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869948"/>
            <a:ext cx="5382616" cy="1810512"/>
          </a:xfrm>
          <a:prstGeom xmlns:a="http://schemas.openxmlformats.org/drawingml/2006/main" prst="roundRect">
            <a:avLst>
              <a:gd name="adj" fmla="val 4040"/>
            </a:avLst>
          </a:prstGeom>
          <a:solidFill xmlns:a="http://schemas.openxmlformats.org/drawingml/2006/main">
            <a:srgbClr val="EDF5F6"/>
          </a:solidFill>
          <a:ln xmlns:a="http://schemas.openxmlformats.org/drawingml/2006/main" w="12700">
            <a:solidFill>
              <a:srgbClr val="C9DADE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FCC00780-68B3-401E-9515-990C9235C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107692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5455C3EC-8624-4F2D-9F2D-C986506D6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107692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  <a:endParaRPr sz="12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D54A73F7-2F18-4693-9B2E-67AA75419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5024" y="2089404"/>
            <a:ext cx="4376776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로그 = 진료기록부</a:t>
            </a:r>
            <a:endParaRPr sz="15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3A37F2F5-EBD0-4193-9DE4-BFBDB4A81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5024" y="2601468"/>
            <a:ext cx="4331056" cy="8778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사건 하나에 줄 하나. 상세하고 양이 많습니다. 평소에 읽는 게 아니라 사후에 원인을 캘 때 봅니다.</a:t>
            </a:r>
            <a:endParaRPr sz="125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E6C05EBD-15A5-4FC5-B1AE-EBCB619EB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2152" y="1869948"/>
            <a:ext cx="5382616" cy="1810512"/>
          </a:xfrm>
          <a:prstGeom xmlns:a="http://schemas.openxmlformats.org/drawingml/2006/main" prst="roundRect">
            <a:avLst>
              <a:gd name="adj" fmla="val 4040"/>
            </a:avLst>
          </a:prstGeom>
          <a:solidFill xmlns:a="http://schemas.openxmlformats.org/drawingml/2006/main">
            <a:srgbClr val="EDF5F6"/>
          </a:solidFill>
          <a:ln xmlns:a="http://schemas.openxmlformats.org/drawingml/2006/main" w="12700">
            <a:solidFill>
              <a:srgbClr val="C9DADE"/>
            </a:solidFill>
            <a:prstDash val="solid"/>
          </a:ln>
        </p:spPr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727E7720-9439-406B-B269-A511440AA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8184" y="2107692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E4C20BB1-0F91-4FAD-926E-EE4ACF27C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8184" y="2107692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  <a:endParaRPr sz="12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A0980740-ED2D-42AF-8A62-ADB725330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248" y="2089404"/>
            <a:ext cx="4376776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메트릭 = 체온·혈압</a:t>
            </a:r>
            <a:endParaRPr sz="15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97216270-D422-425E-8E28-8405E1709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248" y="2601468"/>
            <a:ext cx="4331056" cy="8778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시간에 따라 찍히는 숫자 하나. 로그를 요약한 것이라 가볍고 그래프로 추세가 한눈에 보입니다.</a:t>
            </a:r>
            <a:endParaRPr sz="125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4DD64F03-A554-4BB0-A711-2CE684E5A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973068"/>
            <a:ext cx="5382616" cy="1810512"/>
          </a:xfrm>
          <a:prstGeom xmlns:a="http://schemas.openxmlformats.org/drawingml/2006/main" prst="roundRect">
            <a:avLst>
              <a:gd name="adj" fmla="val 4040"/>
            </a:avLst>
          </a:prstGeom>
          <a:solidFill xmlns:a="http://schemas.openxmlformats.org/drawingml/2006/main">
            <a:srgbClr val="EDF5F6"/>
          </a:solidFill>
          <a:ln xmlns:a="http://schemas.openxmlformats.org/drawingml/2006/main" w="12700">
            <a:solidFill>
              <a:srgbClr val="C9DADE"/>
            </a:solidFill>
            <a:prstDash val="solid"/>
          </a:ln>
        </p:spPr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342CA85C-FA7F-4E70-A903-15111E510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210812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B2822594-C76A-419D-841B-2DA0CBDD2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210812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  <a:endParaRPr sz="12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BD98C4F0-33F8-4E7F-903D-C035C09D0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5024" y="4192524"/>
            <a:ext cx="4376776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알람 = 호출벨</a:t>
            </a:r>
            <a:endParaRPr sz="15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E7DB805E-BA91-46D4-8206-487B55DE6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5024" y="4704588"/>
            <a:ext cx="4331056" cy="8778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메트릭에 조건을 걸어둡니다. 대시보드는 봐야 의미가 있지만 알람은 자고 있어도 옵니다.</a:t>
            </a:r>
            <a:endParaRPr sz="125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A15D78BC-1AD2-4622-AE95-C237B277F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클라우드 MLOps · 13주차</a:t>
            </a:r>
            <a:endParaRPr sz="90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FF9EF42F-3E1A-4484-81E7-A458DBB89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0367" y="6437376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6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906586242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A4EDA139-F33D-4F70-8983-64375EE90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47472"/>
            <a:ext cx="1105783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무슨 숫자를 봐야 하나</a:t>
            </a:r>
            <a:endParaRPr sz="3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D324F9CA-F29E-4FAB-BC11-FBDDB42B5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987552"/>
            <a:ext cx="11057839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지표를 100개 만들면 아무도 안 봅니다</a:t>
            </a:r>
            <a:endParaRPr sz="13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A510B0B9-C2D3-483A-A5EB-C0818AA63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536192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0624B6AD-28ED-4D8E-8D9E-429F68CF1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536192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  <a:endParaRPr sz="12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94EA4CFB-B1B6-4D0D-ABF2-AC3E425F2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1499616"/>
            <a:ext cx="5956347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인터페이스가 살아 있는가</a:t>
            </a:r>
            <a:endParaRPr sz="155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57A1EFCB-EB4E-437D-BD96-0C4BCEF05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1883664"/>
            <a:ext cx="5956347" cy="71551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요청이 들어오고 응답이 나가는가. /health와 요청 수</a:t>
            </a:r>
            <a:endParaRPr sz="125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CDC10D10-4188-4210-A2CE-3E016614F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708910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7028F093-68A6-44EA-983C-0E62E72CC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708910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  <a:endParaRPr sz="12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76240B74-C195-4BCD-BB37-5FEC3A2FB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2672334"/>
            <a:ext cx="5956347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성능이 유지되는가</a:t>
            </a:r>
            <a:endParaRPr sz="155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AA704C38-48B8-415F-A23A-AEDB7ECCB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3056382"/>
            <a:ext cx="5956347" cy="71551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응답시간과 에러율</a:t>
            </a:r>
            <a:endParaRPr sz="125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EA253ED2-4B2F-41D1-98FE-E7EBE54FF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881628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82EB481C-050B-4B1A-975F-4076B72B7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881628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  <a:endParaRPr sz="12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DCA54743-6EBE-4126-B221-0978D624D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3845052"/>
            <a:ext cx="5956347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자원이 남아 있는가</a:t>
            </a:r>
            <a:endParaRPr sz="155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5916C6BF-0A2A-42E2-97F1-D13AC8ED9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4229100"/>
            <a:ext cx="5956347" cy="71551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CPU · 메모리 · 디스크. 사망 원인 1·2위</a:t>
            </a:r>
            <a:endParaRPr sz="125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F9C2D43A-F9E5-4117-803D-382731568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054346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B3E142E8-4825-4C38-8A56-3D6683D20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054346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  <a:endParaRPr sz="12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7BCE75F5-BA1B-4459-A43E-978C4D8EF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5017770"/>
            <a:ext cx="5956347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좋은 지표의 조건 셋</a:t>
            </a:r>
            <a:endParaRPr sz="155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1720C9A4-1343-4EDC-B189-56D6E671C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5401818"/>
            <a:ext cx="5956347" cy="71551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측정 가능 · 나빠지면 사용자가 불편 · 우리가 할 조치가 있음</a:t>
            </a:r>
            <a:endParaRPr sz="1250"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0EEB09A0-B992-46EB-8C83-54D7B6560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0515" y="2436876"/>
            <a:ext cx="4324252" cy="2734056"/>
          </a:xfrm>
          <a:prstGeom xmlns:a="http://schemas.openxmlformats.org/drawingml/2006/main" prst="roundRect">
            <a:avLst>
              <a:gd name="adj" fmla="val 2676"/>
            </a:avLst>
          </a:prstGeom>
          <a:solidFill xmlns:a="http://schemas.openxmlformats.org/drawingml/2006/main">
            <a:srgbClr val="EDF5F6"/>
          </a:solidFill>
          <a:ln xmlns:a="http://schemas.openxmlformats.org/drawingml/2006/main" w="12700">
            <a:solidFill>
              <a:srgbClr val="C9DADE"/>
            </a:solidFill>
            <a:prstDash val="solid"/>
          </a:ln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4981549D-83B6-4B2B-86AC-F2729ACFB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4835" y="2656332"/>
            <a:ext cx="3775612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028090"/>
                </a:solidFill>
                <a:latin typeface="맑은 고딕"/>
                <a:ea typeface="맑은 고딕"/>
                <a:cs typeface="맑은 고딕"/>
              </a:rPr>
              <a:t>우리 수업 핵심 지표</a:t>
            </a:r>
            <a:endParaRPr sz="145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67D43EA5-4936-4C87-B69E-8FE582741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4835" y="3131820"/>
            <a:ext cx="3775612" cy="18196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2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추론 횟수</a:t>
            </a:r>
            <a:endParaRPr sz="1250"/>
          </a:p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2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평균 응답시간</a:t>
            </a:r>
            <a:endParaRPr sz="1250"/>
          </a:p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2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에러율</a:t>
            </a:r>
            <a:endParaRPr sz="1250"/>
          </a:p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2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서버 메모리·디스크</a:t>
            </a:r>
            <a:endParaRPr sz="125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DB4D2CBE-B660-4710-8F9A-30D228FE1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클라우드 MLOps · 13주차</a:t>
            </a:r>
            <a:endParaRPr sz="90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D33A4E51-DEA2-4F85-9A71-549061D1C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0367" y="6437376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7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104193883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3323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6B6E4858-A424-43DB-BA10-CC37CD784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58368"/>
            <a:ext cx="11057839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모델은 배포한 날부터 나빠집니다</a:t>
            </a:r>
            <a:endParaRPr sz="24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D8004AE3-C0E1-4109-8CC1-E3C6A3777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417320"/>
            <a:ext cx="4644292" cy="1737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600" b="1">
                <a:solidFill>
                  <a:srgbClr val="02C39A"/>
                </a:solidFill>
                <a:latin typeface="맑은 고딕"/>
                <a:ea typeface="맑은 고딕"/>
                <a:cs typeface="맑은 고딕"/>
              </a:rPr>
              <a:t>조용히</a:t>
            </a:r>
            <a:endParaRPr sz="96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A3453E53-CCD5-44DD-ADD0-B1BA44070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2377" y="1417320"/>
            <a:ext cx="6192390" cy="1737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>
                <a:solidFill>
                  <a:srgbClr val="A8C6CC"/>
                </a:solidFill>
                <a:latin typeface="맑은 고딕"/>
                <a:ea typeface="맑은 고딕"/>
                <a:cs typeface="맑은 고딕"/>
              </a:rPr>
              <a:t>에러가 안 납니다. 200 OK로 틀린 답을 줍니다</a:t>
            </a:r>
            <a:endParaRPr sz="20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60F7AC4F-4830-435E-B351-681E30C36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429000"/>
            <a:ext cx="11057839" cy="2743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sz="1500">
                <a:solidFill>
                  <a:srgbClr val="C9DDE1"/>
                </a:solidFill>
                <a:latin typeface="맑은 고딕"/>
                <a:ea typeface="맑은 고딕"/>
                <a:cs typeface="맑은 고딕"/>
              </a:rPr>
              <a:t>2019년 데이터로 학습한 모델이 2020년 코로나를 만나면 예측이 다 틀립니다</a:t>
            </a:r>
            <a:endParaRPr sz="1500"/>
          </a:p>
          <a:p xmlns:a="http://schemas.openxmlformats.org/drawingml/2006/main"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sz="1500">
                <a:solidFill>
                  <a:srgbClr val="C9DDE1"/>
                </a:solidFill>
                <a:latin typeface="맑은 고딕"/>
                <a:ea typeface="맑은 고딕"/>
                <a:cs typeface="맑은 고딕"/>
              </a:rPr>
              <a:t>코드는 한 줄도 안 바뀌었습니다. 세상이 바뀐 것입니다</a:t>
            </a:r>
            <a:endParaRPr sz="1500"/>
          </a:p>
          <a:p xmlns:a="http://schemas.openxmlformats.org/drawingml/2006/main"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sz="1500">
                <a:solidFill>
                  <a:srgbClr val="C9DDE1"/>
                </a:solidFill>
                <a:latin typeface="맑은 고딕"/>
                <a:ea typeface="맑은 고딕"/>
                <a:cs typeface="맑은 고딕"/>
              </a:rPr>
              <a:t>서버는 멀쩡히 200을 돌려주고 로그에도 문제가 없습니다</a:t>
            </a:r>
            <a:endParaRPr sz="1500"/>
          </a:p>
          <a:p xmlns:a="http://schemas.openxmlformats.org/drawingml/2006/main">
            <a:pPr marL="342900" indent="-342900">
              <a:spcAft>
                <a:spcPts val="1300"/>
              </a:spcAft>
              <a:buSzPct val="100000"/>
              <a:buChar char="•"/>
            </a:pPr>
            <a:r>
              <a:rPr sz="1500">
                <a:solidFill>
                  <a:srgbClr val="C9DDE1"/>
                </a:solidFill>
                <a:latin typeface="맑은 고딕"/>
                <a:ea typeface="맑은 고딕"/>
                <a:cs typeface="맑은 고딕"/>
              </a:rPr>
              <a:t>그래서 성능이 아니라 입력 데이터를 따로 감시합니다</a:t>
            </a:r>
            <a:endParaRPr sz="1500"/>
          </a:p>
        </p:txBody>
      </p:sp>
    </p:spTree>
    <p:extLst>
      <p:ext uri="{BB962C8B-B14F-4D97-AF65-F5344CB8AC3E}">
        <p14:creationId xmlns:p14="http://schemas.microsoft.com/office/powerpoint/2010/main" val="1892488176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86CE5D34-317C-4D80-AFC5-FF64EFD23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47472"/>
            <a:ext cx="1105783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드리프트는 두 종류입니다</a:t>
            </a:r>
            <a:endParaRPr sz="3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C7092321-3179-4AA0-9D64-5A8A0443E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987552"/>
            <a:ext cx="11057839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우리말로 하면 표류</a:t>
            </a:r>
            <a:endParaRPr sz="13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09E8FFAD-F86B-473A-A98E-FFA40BCA3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409444"/>
            <a:ext cx="5364328" cy="283464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EDF5F6"/>
          </a:solidFill>
          <a:ln xmlns:a="http://schemas.openxmlformats.org/drawingml/2006/main" w="12700">
            <a:solidFill>
              <a:srgbClr val="C9DADE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C05D3F20-9848-43AA-AB90-BC899067B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409444"/>
            <a:ext cx="5364328" cy="566928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028090"/>
          </a:solidFill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A025CD45-157B-488A-91AF-C69A2A936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2409444"/>
            <a:ext cx="4925416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데이터 드리프트</a:t>
            </a:r>
            <a:endParaRPr sz="15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F74E580D-A138-4EE4-8A10-E39D6991E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140964"/>
            <a:ext cx="4852264" cy="1920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342900" indent="-342900">
              <a:spcAft>
                <a:spcPts val="900"/>
              </a:spcAft>
              <a:buSzPct val="100000"/>
              <a:buChar char="•"/>
            </a:pPr>
            <a:r>
              <a:rPr sz="130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들어오는 입력의 분포가 바뀐다</a:t>
            </a:r>
            <a:endParaRPr sz="1300"/>
          </a:p>
          <a:p xmlns:a="http://schemas.openxmlformats.org/drawingml/2006/main">
            <a:pPr marL="342900" indent="-342900">
              <a:spcAft>
                <a:spcPts val="900"/>
              </a:spcAft>
              <a:buSzPct val="100000"/>
              <a:buChar char="•"/>
            </a:pPr>
            <a:r>
              <a:rPr sz="130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학습 때 평균 34세, 지금 51세</a:t>
            </a:r>
            <a:endParaRPr sz="1300"/>
          </a:p>
          <a:p xmlns:a="http://schemas.openxmlformats.org/drawingml/2006/main">
            <a:pPr marL="342900" indent="-342900">
              <a:spcAft>
                <a:spcPts val="900"/>
              </a:spcAft>
              <a:buSzPct val="100000"/>
              <a:buChar char="•"/>
            </a:pPr>
            <a:r>
              <a:rPr sz="130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모델이 본 적 없는 영역을 추측</a:t>
            </a:r>
            <a:endParaRPr sz="1300"/>
          </a:p>
          <a:p xmlns:a="http://schemas.openxmlformats.org/drawingml/2006/main">
            <a:pPr marL="342900" indent="-342900">
              <a:spcAft>
                <a:spcPts val="900"/>
              </a:spcAft>
              <a:buSzPct val="100000"/>
              <a:buChar char="•"/>
            </a:pPr>
            <a:r>
              <a:rPr sz="130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정답 없이 입력만 봐도 감지 가능</a:t>
            </a:r>
            <a:endParaRPr sz="1300"/>
          </a:p>
          <a:p xmlns:a="http://schemas.openxmlformats.org/drawingml/2006/main">
            <a:pPr marL="342900" indent="-342900">
              <a:spcAft>
                <a:spcPts val="900"/>
              </a:spcAft>
              <a:buSzPct val="100000"/>
              <a:buChar char="•"/>
            </a:pPr>
            <a:r>
              <a:rPr sz="130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오늘 실습 B에서 이걸 만든다</a:t>
            </a:r>
            <a:endParaRPr sz="130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957CD789-323F-447B-AB45-7C1C1F186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0440" y="2409444"/>
            <a:ext cx="5364328" cy="283464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EDF5F6"/>
          </a:solidFill>
          <a:ln xmlns:a="http://schemas.openxmlformats.org/drawingml/2006/main" w="12700">
            <a:solidFill>
              <a:srgbClr val="C9DADE"/>
            </a:solidFill>
            <a:prstDash val="solid"/>
          </a:ln>
        </p:spPr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0BC82D52-11C7-44BB-A056-FD9BB1F38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0440" y="2409444"/>
            <a:ext cx="5364328" cy="566928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1D4E5B"/>
          </a:solidFill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E13F52DC-ADE8-402A-AB4B-C25EFA60A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9896" y="2409444"/>
            <a:ext cx="4925416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컨셉 드리프트</a:t>
            </a:r>
            <a:endParaRPr sz="15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43966C39-CFE1-481E-8743-BF83E09F5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6472" y="3140964"/>
            <a:ext cx="4852264" cy="1920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342900" indent="-342900">
              <a:spcAft>
                <a:spcPts val="900"/>
              </a:spcAft>
              <a:buSzPct val="100000"/>
              <a:buChar char="•"/>
            </a:pPr>
            <a:r>
              <a:rPr sz="130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입력과 정답의 관계가 바뀐다</a:t>
            </a:r>
            <a:endParaRPr sz="1300"/>
          </a:p>
          <a:p xmlns:a="http://schemas.openxmlformats.org/drawingml/2006/main">
            <a:pPr marL="342900" indent="-342900">
              <a:spcAft>
                <a:spcPts val="900"/>
              </a:spcAft>
              <a:buSzPct val="100000"/>
              <a:buChar char="•"/>
            </a:pPr>
            <a:r>
              <a:rPr sz="130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금리와 연체의 관계가 뒤집힌다</a:t>
            </a:r>
            <a:endParaRPr sz="1300"/>
          </a:p>
          <a:p xmlns:a="http://schemas.openxmlformats.org/drawingml/2006/main">
            <a:pPr marL="342900" indent="-342900">
              <a:spcAft>
                <a:spcPts val="900"/>
              </a:spcAft>
              <a:buSzPct val="100000"/>
              <a:buChar char="•"/>
            </a:pPr>
            <a:r>
              <a:rPr sz="130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정답을 받아야 알 수 있다</a:t>
            </a:r>
            <a:endParaRPr sz="1300"/>
          </a:p>
          <a:p xmlns:a="http://schemas.openxmlformats.org/drawingml/2006/main">
            <a:pPr marL="342900" indent="-342900">
              <a:spcAft>
                <a:spcPts val="900"/>
              </a:spcAft>
              <a:buSzPct val="100000"/>
              <a:buChar char="•"/>
            </a:pPr>
            <a:r>
              <a:rPr sz="130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정답은 3개월 뒤에 온다</a:t>
            </a:r>
            <a:endParaRPr sz="1300"/>
          </a:p>
          <a:p xmlns:a="http://schemas.openxmlformats.org/drawingml/2006/main">
            <a:pPr marL="342900" indent="-342900">
              <a:spcAft>
                <a:spcPts val="900"/>
              </a:spcAft>
              <a:buSzPct val="100000"/>
              <a:buChar char="•"/>
            </a:pPr>
            <a:r>
              <a:rPr sz="130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더 무섭고 더 잡기 어렵다</a:t>
            </a:r>
            <a:endParaRPr sz="13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30F53952-C691-415F-B8D3-B2F7C0E34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클라우드 MLOps · 13주차</a:t>
            </a:r>
            <a:endParaRPr sz="9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49888A6D-0D17-45E7-B2C3-EC6651B00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0367" y="6437376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9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355675831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A13C4735-C769-4B24-946B-BE288019E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47472"/>
            <a:ext cx="1105783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언제 다시 학습할 것인가</a:t>
            </a:r>
            <a:endParaRPr sz="3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92DAA1E6-4A97-47BC-AECB-96CFA8905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987552"/>
            <a:ext cx="11057839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프로젝트 문서에 한 줄이라도 적으세요</a:t>
            </a:r>
            <a:endParaRPr sz="13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79AA7125-574D-472A-A1E4-C3EFAA695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536192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07415D08-0D6F-4D88-ABC8-C970042D9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536192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  <a:endParaRPr sz="12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76DBFA4A-376A-45E9-A4D8-8A2D2BF95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1499616"/>
            <a:ext cx="5956347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정기형</a:t>
            </a:r>
            <a:endParaRPr sz="155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B8965132-4BBE-4843-A62F-D1D969453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1883664"/>
            <a:ext cx="5956347" cy="71551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매주 월요일 새벽처럼 시간표대로. 단순하고 관리가 쉽다</a:t>
            </a:r>
            <a:endParaRPr sz="125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2144FB05-2B81-4A21-8B18-A2FFA2CD3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708910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D3DBF33D-F096-46F4-AEF4-9DB595018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708910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  <a:endParaRPr sz="12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1921CAD3-1088-4726-9B41-833BEC06B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2672334"/>
            <a:ext cx="5956347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감시형</a:t>
            </a:r>
            <a:endParaRPr sz="155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1E3FF615-7E11-41CD-8B6B-FEE0B8424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3056382"/>
            <a:ext cx="5956347" cy="71551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드리프트 지표가 임계값을 넘으면. 효율적이지만 설계가 필요</a:t>
            </a:r>
            <a:endParaRPr sz="125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FD1F3F36-5890-40AB-BAD2-ECD8AFE21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881628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BDECD670-6EB0-4F9F-BC35-FA05A7C75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881628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  <a:endParaRPr sz="12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C23ADF5E-724B-42CB-9DE5-DF0202E89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3845052"/>
            <a:ext cx="5956347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사건형</a:t>
            </a:r>
            <a:endParaRPr sz="155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AA8DC3BE-7097-44FC-8E3E-8BAEAC09A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4229100"/>
            <a:ext cx="5956347" cy="71551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정책이 바뀌었다, 신제품이 나왔다 같은 사건이 생기면</a:t>
            </a:r>
            <a:endParaRPr sz="125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570B7F09-C907-40ED-92DD-DF07BF21C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054346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DC7FA8CC-61D3-4211-8655-04A0282CE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054346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  <a:endParaRPr sz="12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59F20CC8-C6B4-44FD-921F-C03C7C568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5017770"/>
            <a:ext cx="5956347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3주짜리 프로젝트는</a:t>
            </a:r>
            <a:endParaRPr sz="155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87E61965-4732-45B9-8530-BDA7DA5A7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5401818"/>
            <a:ext cx="5956347" cy="71551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실제로 못 돌립니다. 대신 어떤 주기로 할지 한 줄 적습니다</a:t>
            </a:r>
            <a:endParaRPr sz="1250"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F98D463D-1196-4FA3-8BCA-86C7F0EF5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0515" y="2436876"/>
            <a:ext cx="4324252" cy="2734056"/>
          </a:xfrm>
          <a:prstGeom xmlns:a="http://schemas.openxmlformats.org/drawingml/2006/main" prst="roundRect">
            <a:avLst>
              <a:gd name="adj" fmla="val 2676"/>
            </a:avLst>
          </a:prstGeom>
          <a:solidFill xmlns:a="http://schemas.openxmlformats.org/drawingml/2006/main">
            <a:srgbClr val="EDF5F6"/>
          </a:solidFill>
          <a:ln xmlns:a="http://schemas.openxmlformats.org/drawingml/2006/main" w="12700">
            <a:solidFill>
              <a:srgbClr val="C9DADE"/>
            </a:solidFill>
            <a:prstDash val="solid"/>
          </a:ln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E36AC59B-4B49-459A-8F71-3B61DBE72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4835" y="2656332"/>
            <a:ext cx="3775612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028090"/>
                </a:solidFill>
                <a:latin typeface="맑은 고딕"/>
                <a:ea typeface="맑은 고딕"/>
                <a:cs typeface="맑은 고딕"/>
              </a:rPr>
              <a:t>경고가 뜨면 먼저</a:t>
            </a:r>
            <a:endParaRPr sz="145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30987EDC-8EBF-4071-A3B9-058ED7F42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4835" y="3131820"/>
            <a:ext cx="3775612" cy="18196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2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전처리 코드부터 의심</a:t>
            </a:r>
            <a:endParaRPr sz="1250"/>
          </a:p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2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절반 이상은 파이프라인 버그</a:t>
            </a:r>
            <a:endParaRPr sz="1250"/>
          </a:p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2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컬럼 순서 바뀜 확인</a:t>
            </a:r>
            <a:endParaRPr sz="1250"/>
          </a:p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2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단위 바뀜 확인</a:t>
            </a:r>
            <a:endParaRPr sz="125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05A13D39-16A2-47DA-ADA9-E4AADB837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클라우드 MLOps · 13주차</a:t>
            </a:r>
            <a:endParaRPr sz="90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42E6CA7C-677C-4F29-9CDC-3E5BB50BA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0367" y="6437376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10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1966088224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A56B2695-FE44-4EF9-BD43-D0EC9ACEC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47472"/>
            <a:ext cx="1105783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오늘 개념만 소개하고 실습하지 않는 것</a:t>
            </a:r>
            <a:endParaRPr sz="3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784677F4-0DAD-4841-BD6D-33C9F4D63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987552"/>
            <a:ext cx="11057839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교육계획서에 의도적 미채택 영역으로 명시되어 있습니다</a:t>
            </a:r>
            <a:endParaRPr sz="13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932D434E-0B37-4D26-8E2A-ABF9FCAF3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481328"/>
            <a:ext cx="11057839" cy="3931920"/>
          </a:xfrm>
          <a:prstGeom xmlns:a="http://schemas.openxmlformats.org/drawingml/2006/main" prst="roundRect">
            <a:avLst>
              <a:gd name="adj" fmla="val 1860"/>
            </a:avLst>
          </a:prstGeom>
          <a:solidFill xmlns:a="http://schemas.openxmlformats.org/drawingml/2006/main">
            <a:srgbClr val="FCF1E6"/>
          </a:solidFill>
          <a:ln xmlns:a="http://schemas.openxmlformats.org/drawingml/2006/main" w="19050">
            <a:solidFill>
              <a:srgbClr val="D97A2B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931E0D13-85D9-45FB-86A0-B2CB2D7CD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1773936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A2B"/>
          </a:solidFill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E424B696-B211-4E06-8CA3-F17F9B333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1773936"/>
            <a:ext cx="566928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6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!</a:t>
            </a:r>
            <a:endParaRPr sz="26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7EBAD088-6104-4EDE-8FC8-D8F792B70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1056" y="1755648"/>
            <a:ext cx="9686239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8A4A12"/>
                </a:solidFill>
                <a:latin typeface="맑은 고딕"/>
                <a:ea typeface="맑은 고딕"/>
                <a:cs typeface="맑은 고딕"/>
              </a:rPr>
              <a:t>SLA · SLO · SLI 와 과금 · VOC 는 실습에서 제외합니다</a:t>
            </a:r>
            <a:endParaRPr sz="18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72D4E911-5A04-470B-90C8-5410DD06C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2505456"/>
            <a:ext cx="10143439" cy="2651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sz="1400">
                <a:solidFill>
                  <a:srgbClr val="5C3A18"/>
                </a:solidFill>
                <a:latin typeface="맑은 고딕"/>
                <a:ea typeface="맑은 고딕"/>
                <a:cs typeface="맑은 고딕"/>
              </a:rPr>
              <a:t>SLA는 계약, SLO는 우리가 잡은 목표치, SLI는 실제로 재는 숫자입니다</a:t>
            </a:r>
            <a:endParaRPr sz="1400"/>
          </a:p>
          <a:p xmlns:a="http://schemas.openxmlformats.org/drawingml/2006/main"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sz="1400">
                <a:solidFill>
                  <a:srgbClr val="5C3A18"/>
                </a:solidFill>
                <a:latin typeface="맑은 고딕"/>
                <a:ea typeface="맑은 고딕"/>
                <a:cs typeface="맑은 고딕"/>
              </a:rPr>
              <a:t>SLA는 협의할 상대인 고객이 있어야 성립합니다. 우리 이용자는 우리 자신입니다</a:t>
            </a:r>
            <a:endParaRPr sz="1400"/>
          </a:p>
          <a:p xmlns:a="http://schemas.openxmlformats.org/drawingml/2006/main"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sz="1400">
                <a:solidFill>
                  <a:srgbClr val="5C3A18"/>
                </a:solidFill>
                <a:latin typeface="맑은 고딕"/>
                <a:ea typeface="맑은 고딕"/>
                <a:cs typeface="맑은 고딕"/>
              </a:rPr>
              <a:t>과금 정책과 VOC 대응은 실제 이용자와 조직 프로세스가 있어야 합니다</a:t>
            </a:r>
            <a:endParaRPr sz="1400"/>
          </a:p>
          <a:p xmlns:a="http://schemas.openxmlformats.org/drawingml/2006/main"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sz="1400">
                <a:solidFill>
                  <a:srgbClr val="5C3A18"/>
                </a:solidFill>
                <a:latin typeface="맑은 고딕"/>
                <a:ea typeface="맑은 고딕"/>
                <a:cs typeface="맑은 고딕"/>
              </a:rPr>
              <a:t>시험에는 개념 문항으로 나옵니다. 셋의 차이는 답할 수 있어야 합니다</a:t>
            </a:r>
            <a:endParaRPr sz="1400"/>
          </a:p>
          <a:p xmlns:a="http://schemas.openxmlformats.org/drawingml/2006/main"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sz="1400">
                <a:solidFill>
                  <a:srgbClr val="5C3A18"/>
                </a:solidFill>
                <a:latin typeface="맑은 고딕"/>
                <a:ea typeface="맑은 고딕"/>
                <a:cs typeface="맑은 고딕"/>
              </a:rPr>
              <a:t>오늘 만드는 에러율은 SLI의 가장 기초 형태라는 것만 연결해서 기억하세요</a:t>
            </a:r>
            <a:endParaRPr sz="14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9ED1B211-3ECD-4EDD-84BF-4749255A8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클라우드 MLOps · 13주차</a:t>
            </a:r>
            <a:endParaRPr sz="9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583E443D-F053-48CB-BE40-B70CCFFBA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0367" y="6437376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11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176569243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3323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D312FE8B-B759-48A2-B673-3692435AF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487168"/>
            <a:ext cx="1005840" cy="10058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C39A"/>
          </a:solidFill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7EA97B50-2E54-4431-9D40-F1BD53E47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487168"/>
            <a:ext cx="100584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2</a:t>
            </a:r>
            <a:endParaRPr sz="16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099716D2-6482-499E-BF32-EF0BCC5D2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2808" y="2432304"/>
            <a:ext cx="8686800" cy="7132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실습 A — 메트릭 · 대시보드 · 알람</a:t>
            </a:r>
            <a:endParaRPr sz="34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A252A216-7335-4EB9-A788-7754E5F79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2808" y="3163824"/>
            <a:ext cx="868680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9FC2C9"/>
                </a:solidFill>
                <a:latin typeface="맑은 고딕"/>
                <a:ea typeface="맑은 고딕"/>
                <a:cs typeface="맑은 고딕"/>
              </a:rPr>
              <a:t>50분 · 다 함께 따라합니다</a:t>
            </a:r>
            <a:endParaRPr sz="1400"/>
          </a:p>
        </p:txBody>
      </p:sp>
    </p:spTree>
    <p:extLst>
      <p:ext uri="{BB962C8B-B14F-4D97-AF65-F5344CB8AC3E}">
        <p14:creationId xmlns:p14="http://schemas.microsoft.com/office/powerpoint/2010/main" val="441277964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EEF1C141-A5E0-4FBA-882C-41C492F3E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47472"/>
            <a:ext cx="1105783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실습 A 수행 순서</a:t>
            </a:r>
            <a:endParaRPr sz="3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20AD30C7-1D14-4026-BDF8-A96F49345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987552"/>
            <a:ext cx="11057839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막히면 순서를 건너뛰지 말고 손을 드세요</a:t>
            </a:r>
            <a:endParaRPr sz="13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6251CBAC-9574-4787-A1E2-5D1BA2A57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481328"/>
            <a:ext cx="11057839" cy="810158"/>
          </a:xfrm>
          <a:prstGeom xmlns:a="http://schemas.openxmlformats.org/drawingml/2006/main" prst="roundRect">
            <a:avLst>
              <a:gd name="adj" fmla="val 6772"/>
            </a:avLst>
          </a:prstGeom>
          <a:solidFill xmlns:a="http://schemas.openxmlformats.org/drawingml/2006/main">
            <a:srgbClr val="EDF5F6"/>
          </a:solidFill>
          <a:ln xmlns:a="http://schemas.openxmlformats.org/drawingml/2006/main" w="9525">
            <a:solidFill>
              <a:srgbClr val="C9DADE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84A8DA7A-EBD7-4C42-AEB2-21B076542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1694383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8159EEB7-D459-460D-85DB-DF9F13928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1694383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  <a:endParaRPr sz="12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2B1C6BD4-0114-4AEA-812A-F20F4DCDB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609344"/>
            <a:ext cx="9960559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CloudWatch 권한 확인</a:t>
            </a:r>
            <a:endParaRPr sz="145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39786DB1-F076-4050-B3EA-781E0D8F2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975104"/>
            <a:ext cx="9960559" cy="27980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put-metric-data 가 오류 없이 끝나는지 먼저 테스트</a:t>
            </a:r>
            <a:endParaRPr sz="125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98DF13C0-7657-48C6-9C62-2D2C1DD27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419502"/>
            <a:ext cx="11057839" cy="810158"/>
          </a:xfrm>
          <a:prstGeom xmlns:a="http://schemas.openxmlformats.org/drawingml/2006/main" prst="roundRect">
            <a:avLst>
              <a:gd name="adj" fmla="val 6772"/>
            </a:avLst>
          </a:prstGeom>
          <a:solidFill xmlns:a="http://schemas.openxmlformats.org/drawingml/2006/main">
            <a:srgbClr val="F7FAFB"/>
          </a:solidFill>
          <a:ln xmlns:a="http://schemas.openxmlformats.org/drawingml/2006/main" w="9525">
            <a:solidFill>
              <a:srgbClr val="C9DADE"/>
            </a:solidFill>
            <a:prstDash val="solid"/>
          </a:ln>
        </p:spPr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5D452C5E-E6B4-4DD8-BC6B-1CA580341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2632558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73D7F83F-9645-4692-B002-BC98934F9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2632558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  <a:endParaRPr sz="12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852B5A4C-B945-4605-B2D7-482F0015C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547518"/>
            <a:ext cx="9960559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메트릭 미들웨어 붙이기</a:t>
            </a:r>
            <a:endParaRPr sz="145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21DD149D-1728-4884-BE8C-F2CECC6C7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913278"/>
            <a:ext cx="9960559" cy="27980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observability.py 추가 + main.py 두 줄. 커밋하면 자동 배포</a:t>
            </a:r>
            <a:endParaRPr sz="125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22004F53-EC87-47F8-80FA-ABEF5A10E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357677"/>
            <a:ext cx="11057839" cy="810158"/>
          </a:xfrm>
          <a:prstGeom xmlns:a="http://schemas.openxmlformats.org/drawingml/2006/main" prst="roundRect">
            <a:avLst>
              <a:gd name="adj" fmla="val 6772"/>
            </a:avLst>
          </a:prstGeom>
          <a:solidFill xmlns:a="http://schemas.openxmlformats.org/drawingml/2006/main">
            <a:srgbClr val="EDF5F6"/>
          </a:solidFill>
          <a:ln xmlns:a="http://schemas.openxmlformats.org/drawingml/2006/main" w="9525">
            <a:solidFill>
              <a:srgbClr val="C9DADE"/>
            </a:solidFill>
            <a:prstDash val="solid"/>
          </a:ln>
        </p:spPr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1C9CB688-8472-4D75-B3F5-EEC5DD78D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3570732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D39A3E54-CDF8-4741-9CB0-B51AC9C97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3570732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  <a:endParaRPr sz="12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DD21308E-F308-4B99-826B-7ACB9DE7C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485693"/>
            <a:ext cx="9960559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CloudWatch Agent 설치</a:t>
            </a:r>
            <a:endParaRPr sz="145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FB5ED80C-BF8F-4CEB-BCA9-B486107DE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851453"/>
            <a:ext cx="9960559" cy="27980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메모리·디스크 사용률과 app.log 를 수집합니다</a:t>
            </a:r>
            <a:endParaRPr sz="1250"/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476DEDD4-F8B3-42BC-8FD1-F5476B505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295851"/>
            <a:ext cx="11057839" cy="810158"/>
          </a:xfrm>
          <a:prstGeom xmlns:a="http://schemas.openxmlformats.org/drawingml/2006/main" prst="roundRect">
            <a:avLst>
              <a:gd name="adj" fmla="val 6772"/>
            </a:avLst>
          </a:prstGeom>
          <a:solidFill xmlns:a="http://schemas.openxmlformats.org/drawingml/2006/main">
            <a:srgbClr val="F7FAFB"/>
          </a:solidFill>
          <a:ln xmlns:a="http://schemas.openxmlformats.org/drawingml/2006/main" w="9525">
            <a:solidFill>
              <a:srgbClr val="C9DADE"/>
            </a:solidFill>
            <a:prstDash val="solid"/>
          </a:ln>
        </p:spPr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00AC5519-FF88-47B6-B19B-D93641F2C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4508906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322B2E2A-DD51-47FE-BAB7-7EF5E72D9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4508906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  <a:endParaRPr sz="12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F9729DBD-4C9C-418D-A5BD-1A3251E69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423867"/>
            <a:ext cx="9960559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대시보드 위젯 만들기</a:t>
            </a:r>
            <a:endParaRPr sz="145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7BC86B2A-DC58-43D4-B9D2-DB53A1A6F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789627"/>
            <a:ext cx="9960559" cy="27980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추론 횟수 · 응답시간 · 에러율 · 서버 자원</a:t>
            </a:r>
            <a:endParaRPr sz="1250"/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6D92213E-899C-4ED3-8668-FC6AAEEAB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234026"/>
            <a:ext cx="11057839" cy="810158"/>
          </a:xfrm>
          <a:prstGeom xmlns:a="http://schemas.openxmlformats.org/drawingml/2006/main" prst="roundRect">
            <a:avLst>
              <a:gd name="adj" fmla="val 6772"/>
            </a:avLst>
          </a:prstGeom>
          <a:solidFill xmlns:a="http://schemas.openxmlformats.org/drawingml/2006/main">
            <a:srgbClr val="EDF5F6"/>
          </a:solidFill>
          <a:ln xmlns:a="http://schemas.openxmlformats.org/drawingml/2006/main" w="9525">
            <a:solidFill>
              <a:srgbClr val="C9DADE"/>
            </a:solidFill>
            <a:prstDash val="solid"/>
          </a:ln>
        </p:spPr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F4BAE6AC-8760-4D0C-8426-C81C7BE34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5447081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B0094E0B-48ED-49C3-9FA4-8C2BE20DF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5447081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5</a:t>
            </a:r>
            <a:endParaRPr sz="120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31D030C4-DE10-4D70-AA86-1527E4617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362042"/>
            <a:ext cx="9960559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SNS 구독 후 에러율 알람</a:t>
            </a:r>
            <a:endParaRPr sz="1450"/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35976B2D-1C5C-4E07-81AC-78455FA5C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727802"/>
            <a:ext cx="9960559" cy="27980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확인 메일 링크를 눌러야 알람이 옵니다</a:t>
            </a:r>
            <a:endParaRPr sz="1250"/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DE2732DF-6FAD-4F39-AA32-437A1CA17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클라우드 MLOps · 13주차</a:t>
            </a:r>
            <a:endParaRPr sz="900"/>
          </a:p>
        </p:txBody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9AF1C373-1D76-42F2-8158-2ED3A4032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0367" y="6437376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13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552894118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83EDC4AC-4690-48D4-9491-5ECC96FBF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47472"/>
            <a:ext cx="1105783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대시보드 위젯 구성</a:t>
            </a:r>
            <a:endParaRPr sz="3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FEB8C03B-74EA-47A4-A76C-6FD17DAF1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987552"/>
            <a:ext cx="11057839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이름 mlops-&lt;팀번호&gt; 로 만듭니다</a:t>
            </a:r>
            <a:endParaRPr sz="1300"/>
          </a:p>
        </p:txBody>
      </p:sp>
      <p:graphicFrame>
        <p:nvGraphicFramePr>
          <p:cNvPr id="10" name="Table 0"/>
          <p:cNvGraphicFramePr/>
          <p:nvPr/>
        </p:nvGraphicFramePr>
        <p:xfrm>
          <a:off xmlns:a="http://schemas.openxmlformats.org/drawingml/2006/main" x="566928" y="1481328"/>
          <a:ext xmlns:a="http://schemas.openxmlformats.org/drawingml/2006/main" cx="11057839" cy="9144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  <a:gridCol w="2825496"/>
              </a:tblGrid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위젯</a:t>
                      </a:r>
                      <a:endParaRPr sz="125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지표</a:t>
                      </a:r>
                      <a:endParaRPr sz="125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통계</a:t>
                      </a:r>
                      <a:endParaRPr sz="125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기간</a:t>
                      </a:r>
                      <a:endParaRPr sz="125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028090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추론 횟수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InferenceCount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합계(Sum)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5분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EDF5F6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평균 응답시간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LatencyMs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평균(Average)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5분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에러율(%)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수식 (m1/m2)*100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—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5분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EDF5F6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서버 메모리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mem_used_percent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평균(Average)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5분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서버 디스크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disk_used_percent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평균(Average)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5분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EDF5F6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드리프트 점수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DriftScore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최대(Maximum)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1일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D8EC6996-6B5A-4B27-BB8C-87584707F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클라우드 MLOps · 13주차</a:t>
            </a:r>
            <a:endParaRPr sz="900"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33DCA043-7D01-4451-8774-D945D0B2B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0367" y="6437376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14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1481598149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6423B1F0-2BD7-4A99-BBCB-7489B3EB8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47472"/>
            <a:ext cx="1105783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메트릭이 올라오는지 확인</a:t>
            </a:r>
            <a:endParaRPr sz="3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FBF56F55-9468-4BF1-88AE-57CE39E29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987552"/>
            <a:ext cx="11057839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EC2 안에서 실행합니다</a:t>
            </a:r>
            <a:endParaRPr sz="13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F37EDC4A-EB6E-4179-9E4E-8608AE7CD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481328"/>
            <a:ext cx="11057839" cy="4325112"/>
          </a:xfrm>
          <a:prstGeom xmlns:a="http://schemas.openxmlformats.org/drawingml/2006/main" prst="roundRect">
            <a:avLst>
              <a:gd name="adj" fmla="val 1480"/>
            </a:avLst>
          </a:prstGeom>
          <a:solidFill xmlns:a="http://schemas.openxmlformats.org/drawingml/2006/main">
            <a:srgbClr val="0F262C"/>
          </a:solidFill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52F76E3B-E078-44A0-82FF-10C7766B7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3167" y="1591056"/>
            <a:ext cx="1188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50">
                <a:solidFill>
                  <a:srgbClr val="6E939B"/>
                </a:solidFill>
                <a:latin typeface="Consolas"/>
                <a:ea typeface="Consolas"/>
                <a:cs typeface="Consolas"/>
              </a:rPr>
              <a:t>bash</a:t>
            </a:r>
            <a:endParaRPr sz="95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E397BE1C-5B71-4C60-8AC0-D50D15E03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1719072"/>
            <a:ext cx="10436047" cy="3867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# 1. 권한이 되는지 먼저 확인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aws cloudwatch put-metric-data --region ap-northeast-2 \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  --namespace "MLOps/&lt;팀번호&gt;" --metric-name PermissionTest --value 1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echo "종료코드: $?"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# 2. 정상 요청을 20건 쏜다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for i in $(seq 1 20); do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  curl -s -o /dev/null -w "%{http_code} " \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    -X POST http://localhost:8000/predict \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    -H "Content-Type: application/json" \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    -d '&lt;7주차에 성공했던 요청 JSON&gt;'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done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# 3. 메트릭이 올라왔는지 확인 (반영까지 2~3분)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aws cloudwatch list-metrics --region ap-northeast-2 \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  --namespace "MLOps/&lt;팀번호&gt;" --output table</a:t>
            </a:r>
            <a:endParaRPr sz="11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DEC0AD59-27F9-489B-85A0-1F66A8E1A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916168"/>
            <a:ext cx="11057839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InferenceCount · LatencyMs · ErrorCount 세 개가 보이면 성공입니다.</a:t>
            </a:r>
            <a:endParaRPr sz="12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BD1A0FAA-7B3C-4DAA-8248-8D1E70DC1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클라우드 MLOps · 13주차</a:t>
            </a:r>
            <a:endParaRPr sz="9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BE53488F-8C42-4FC0-9D36-886E7DC93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0367" y="6437376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15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303543509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A098564C-33AD-4937-A6AA-AA1F9A704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47472"/>
            <a:ext cx="1105783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알람 메일 받기</a:t>
            </a:r>
            <a:endParaRPr sz="3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08984DC9-36AC-4486-A786-20D8BCD56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987552"/>
            <a:ext cx="11057839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오늘 최다 사고 지점입니다</a:t>
            </a:r>
            <a:endParaRPr sz="13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C80CE517-F15B-49F4-B82F-B3F4BBF88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481328"/>
            <a:ext cx="11057839" cy="4325112"/>
          </a:xfrm>
          <a:prstGeom xmlns:a="http://schemas.openxmlformats.org/drawingml/2006/main" prst="roundRect">
            <a:avLst>
              <a:gd name="adj" fmla="val 1480"/>
            </a:avLst>
          </a:prstGeom>
          <a:solidFill xmlns:a="http://schemas.openxmlformats.org/drawingml/2006/main">
            <a:srgbClr val="0F262C"/>
          </a:solidFill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2C1597F9-D004-426A-87D2-441CEA445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3167" y="1591056"/>
            <a:ext cx="1188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50">
                <a:solidFill>
                  <a:srgbClr val="6E939B"/>
                </a:solidFill>
                <a:latin typeface="Consolas"/>
                <a:ea typeface="Consolas"/>
                <a:cs typeface="Consolas"/>
              </a:rPr>
              <a:t>bash</a:t>
            </a:r>
            <a:endParaRPr sz="95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3B0E9763-05DC-41FE-9027-46F274BBC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1719072"/>
            <a:ext cx="10436047" cy="3867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# 1. 알림 주제 만들기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TOPIC_ARN=$(aws sns create-topic --region ap-northeast-2 \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  --name mlops-alert-&lt;팀번호&gt; --query TopicArn --output text)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# 2. 팀원 이메일 구독 (한 명씩 반복, 최소 2명)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aws sns subscribe --region ap-northeast-2 --topic-arn "$TOPIC_ARN" \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  --protocol email --notification-endpoint "&lt;본인 이메일 주소&gt;"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# 3. 확인 메일의 Confirm subscription 링크를 누른 뒤 상태 확인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aws sns list-subscriptions-by-topic --region ap-northeast-2 \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  --topic-arn "$TOPIC_ARN" --query "Subscriptions[].[Endpoint]" --output table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# 4. 에러율 10% 초과 알람 (수식은 alarm-error-rate.json 에)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aws cloudwatch put-metric-alarm --region ap-northeast-2 \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  --alarm-name "mlops-&lt;팀번호&gt;-error-rate" --threshold 10 \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  --metrics file://alarm-error-rate.json \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  --comparison-operator GreaterThanThreshold --evaluation-periods 1 \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  --treat-missing-data notBreaching --alarm-actions "$TOPIC_ARN"</a:t>
            </a:r>
            <a:endParaRPr sz="11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17CE7600-E9F4-4B18-99E4-1E1C63E03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916168"/>
            <a:ext cx="11057839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확인 메일 링크를 안 누르면 PendingConfirmation 상태로 남아 알람이 영원히 안 옵니다.</a:t>
            </a:r>
            <a:endParaRPr sz="12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D3E9CD48-026C-4A5F-AF77-7E1573B8F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클라우드 MLOps · 13주차</a:t>
            </a:r>
            <a:endParaRPr sz="9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AF52FBAD-A0ED-4F2F-A8E1-14A8DC895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0367" y="6437376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16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1896539765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62CE739B-81EB-4CEE-85F5-5306F09B3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47472"/>
            <a:ext cx="1105783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여기서 막히면</a:t>
            </a:r>
            <a:endParaRPr sz="3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DD1EC807-8CBD-48E1-8BA2-1FF15BABE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987552"/>
            <a:ext cx="11057839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실습 A에서 실제로 터지는 문제</a:t>
            </a:r>
            <a:endParaRPr sz="1300"/>
          </a:p>
        </p:txBody>
      </p:sp>
      <p:graphicFrame>
        <p:nvGraphicFramePr>
          <p:cNvPr id="10" name="Table 0"/>
          <p:cNvGraphicFramePr/>
          <p:nvPr/>
        </p:nvGraphicFramePr>
        <p:xfrm>
          <a:off xmlns:a="http://schemas.openxmlformats.org/drawingml/2006/main" x="566928" y="1481328"/>
          <a:ext xmlns:a="http://schemas.openxmlformats.org/drawingml/2006/main" cx="11057839" cy="9144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74720"/>
                <a:gridCol w="3291840"/>
                <a:gridCol w="4288536"/>
              </a:tblGrid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증상</a:t>
                      </a:r>
                      <a:endParaRPr sz="125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원인</a:t>
                      </a:r>
                      <a:endParaRPr sz="125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조치</a:t>
                      </a:r>
                      <a:endParaRPr sz="125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028090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put-metric-data 가 AccessDenied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인스턴스 역할에 권한 없음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강사 호출. 학생 권한으로는 역할 수정 불가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EDF5F6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에이전트가 status: stopped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config.json 문법 오류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python3 -m json.tool 로 검사 후 fetch-config 재실행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로그 그룹이 안 생김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app.log 파일이 없음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컨테이너의 -v /var/log/mlops 마운트 확인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EDF5F6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메트릭이 콘솔에 안 보임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반영 전이거나 네임스페이스 오타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3분 대기 후 list-metrics 로 실제 이름 확인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알람은 ALARM인데 메일이 안 옴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구독 확인 메일 미클릭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PendingConfirmation 확인 후 메일함·스팸함 링크 클릭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EDF5F6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알람이 5xx에 반응 안 함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422는 ErrorCount에 안 잡힘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/predict/_boom 으로 5xx를 만들어 확인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BC10214D-4480-4779-A44C-4C3B6D1D1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클라우드 MLOps · 13주차</a:t>
            </a:r>
            <a:endParaRPr sz="900"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D98EC6CE-642B-4951-ACD2-715675384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0367" y="6437376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17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168394394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13323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E548E674-4843-4CFF-A1EA-C23E469C1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487168"/>
            <a:ext cx="1005840" cy="10058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C39A"/>
          </a:solidFill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7D4DD370-D3E0-408B-9D41-6077CD1F2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487168"/>
            <a:ext cx="100584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3</a:t>
            </a:r>
            <a:endParaRPr sz="16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CF92E193-BDDD-499B-A5F8-9D7A62C91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2808" y="2432304"/>
            <a:ext cx="8686800" cy="7132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실습 B — 드리프트 점검과 M3</a:t>
            </a:r>
            <a:endParaRPr sz="34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45867A51-DE5E-4E5D-9A73-15CB13E0C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2808" y="3163824"/>
            <a:ext cx="868680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9FC2C9"/>
                </a:solidFill>
                <a:latin typeface="맑은 고딕"/>
                <a:ea typeface="맑은 고딕"/>
                <a:cs typeface="맑은 고딕"/>
              </a:rPr>
              <a:t>85분 · 팀이 직접 · 마지막 25분은 M3 점검</a:t>
            </a:r>
            <a:endParaRPr sz="1400"/>
          </a:p>
        </p:txBody>
      </p:sp>
    </p:spTree>
    <p:extLst>
      <p:ext uri="{BB962C8B-B14F-4D97-AF65-F5344CB8AC3E}">
        <p14:creationId xmlns:p14="http://schemas.microsoft.com/office/powerpoint/2010/main" val="266981429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8A9D7558-7DD6-4296-9F53-9C529B552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47472"/>
            <a:ext cx="1105783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실습 B 수행 순서</a:t>
            </a:r>
            <a:endParaRPr sz="3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760700DB-FDA4-408A-B61A-AE46A3FF2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987552"/>
            <a:ext cx="11057839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정상이란 이런 모습이다 라는 기준선을 먼저 만듭니다</a:t>
            </a:r>
            <a:endParaRPr sz="13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491FE03A-57B6-4810-B5A4-B9CDB6064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481328"/>
            <a:ext cx="11057839" cy="810158"/>
          </a:xfrm>
          <a:prstGeom xmlns:a="http://schemas.openxmlformats.org/drawingml/2006/main" prst="roundRect">
            <a:avLst>
              <a:gd name="adj" fmla="val 6772"/>
            </a:avLst>
          </a:prstGeom>
          <a:solidFill xmlns:a="http://schemas.openxmlformats.org/drawingml/2006/main">
            <a:srgbClr val="EDF5F6"/>
          </a:solidFill>
          <a:ln xmlns:a="http://schemas.openxmlformats.org/drawingml/2006/main" w="9525">
            <a:solidFill>
              <a:srgbClr val="C9DADE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4B478257-F70E-4573-95E4-C8E964C3E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1694383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87EF88D6-B409-4FB9-96BF-4D0DF07AB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1694383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  <a:endParaRPr sz="12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B803F154-088E-4323-97A1-4DE20DC2E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609344"/>
            <a:ext cx="9960559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기준선 만들기</a:t>
            </a:r>
            <a:endParaRPr sz="145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C711006E-EAD9-499B-8F96-CD1F23929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975104"/>
            <a:ext cx="9960559" cy="27980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학습에 쓴 데이터의 평균·표준편차를 S3에 저장</a:t>
            </a:r>
            <a:endParaRPr sz="125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0DBE7A35-D602-4F74-A6E1-AA161FFDA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419502"/>
            <a:ext cx="11057839" cy="810158"/>
          </a:xfrm>
          <a:prstGeom xmlns:a="http://schemas.openxmlformats.org/drawingml/2006/main" prst="roundRect">
            <a:avLst>
              <a:gd name="adj" fmla="val 6772"/>
            </a:avLst>
          </a:prstGeom>
          <a:solidFill xmlns:a="http://schemas.openxmlformats.org/drawingml/2006/main">
            <a:srgbClr val="F7FAFB"/>
          </a:solidFill>
          <a:ln xmlns:a="http://schemas.openxmlformats.org/drawingml/2006/main" w="9525">
            <a:solidFill>
              <a:srgbClr val="C9DADE"/>
            </a:solidFill>
            <a:prstDash val="solid"/>
          </a:ln>
        </p:spPr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7C659A80-97A4-45ED-90F0-202B93F3B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2632558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3855E48B-88E6-4586-B23B-B52A111C4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2632558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  <a:endParaRPr sz="12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EA85BF38-3DC0-4496-B031-462CB6BFB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547518"/>
            <a:ext cx="9960559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입력을 로그에 남기기</a:t>
            </a:r>
            <a:endParaRPr sz="145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CB89242F-3DE6-4E0A-B4AD-B405D78B4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913278"/>
            <a:ext cx="9960559" cy="27980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/predict 안에 한 줄 추가. 개인정보 컬럼은 빼고 남긴다</a:t>
            </a:r>
            <a:endParaRPr sz="125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4288B86E-265B-4E78-854A-8A7B05601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357677"/>
            <a:ext cx="11057839" cy="810158"/>
          </a:xfrm>
          <a:prstGeom xmlns:a="http://schemas.openxmlformats.org/drawingml/2006/main" prst="roundRect">
            <a:avLst>
              <a:gd name="adj" fmla="val 6772"/>
            </a:avLst>
          </a:prstGeom>
          <a:solidFill xmlns:a="http://schemas.openxmlformats.org/drawingml/2006/main">
            <a:srgbClr val="EDF5F6"/>
          </a:solidFill>
          <a:ln xmlns:a="http://schemas.openxmlformats.org/drawingml/2006/main" w="9525">
            <a:solidFill>
              <a:srgbClr val="C9DADE"/>
            </a:solidFill>
            <a:prstDash val="solid"/>
          </a:ln>
        </p:spPr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89B9F3DD-0543-4A10-8E37-A41463587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3570732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F9851B1E-872E-4161-B634-B3ACA1304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3570732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  <a:endParaRPr sz="12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ACB361D1-2F74-4D99-90AF-41A0FE22A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485693"/>
            <a:ext cx="9960559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드리프트 점검 실행</a:t>
            </a:r>
            <a:endParaRPr sz="145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7E112705-7C06-4054-8166-F8B8C93DF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851453"/>
            <a:ext cx="9960559" cy="27980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최근 입력을 기준선과 비교해 점수를 낸다</a:t>
            </a:r>
            <a:endParaRPr sz="1250"/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420C9DC8-BAFE-407B-88CE-888B44517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295851"/>
            <a:ext cx="11057839" cy="810158"/>
          </a:xfrm>
          <a:prstGeom xmlns:a="http://schemas.openxmlformats.org/drawingml/2006/main" prst="roundRect">
            <a:avLst>
              <a:gd name="adj" fmla="val 6772"/>
            </a:avLst>
          </a:prstGeom>
          <a:solidFill xmlns:a="http://schemas.openxmlformats.org/drawingml/2006/main">
            <a:srgbClr val="F7FAFB"/>
          </a:solidFill>
          <a:ln xmlns:a="http://schemas.openxmlformats.org/drawingml/2006/main" w="9525">
            <a:solidFill>
              <a:srgbClr val="C9DADE"/>
            </a:solidFill>
            <a:prstDash val="solid"/>
          </a:ln>
        </p:spPr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7A3657F5-16A2-415F-BE9C-53590FAC4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4508906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34D92F0A-C76A-4358-B6DD-65912D137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4508906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  <a:endParaRPr sz="12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3016804D-562C-4D61-930B-B9D00D0D4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423867"/>
            <a:ext cx="9960559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일부러 드리프트 만들기</a:t>
            </a:r>
            <a:endParaRPr sz="145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8ED377AA-E4E0-49D1-B1BB-94E6B478D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789627"/>
            <a:ext cx="9960559" cy="27980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수치 컬럼 하나를 10배로 키워 10건 호출 후 재실행</a:t>
            </a:r>
            <a:endParaRPr sz="1250"/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CEBC1F45-D285-49C3-8BD4-0FAB93A04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234026"/>
            <a:ext cx="11057839" cy="810158"/>
          </a:xfrm>
          <a:prstGeom xmlns:a="http://schemas.openxmlformats.org/drawingml/2006/main" prst="roundRect">
            <a:avLst>
              <a:gd name="adj" fmla="val 6772"/>
            </a:avLst>
          </a:prstGeom>
          <a:solidFill xmlns:a="http://schemas.openxmlformats.org/drawingml/2006/main">
            <a:srgbClr val="EDF5F6"/>
          </a:solidFill>
          <a:ln xmlns:a="http://schemas.openxmlformats.org/drawingml/2006/main" w="9525">
            <a:solidFill>
              <a:srgbClr val="C9DADE"/>
            </a:solidFill>
            <a:prstDash val="solid"/>
          </a:ln>
        </p:spPr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643359DF-690D-4957-89F4-315EBB39B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5447081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2A062B32-F308-45A0-ADB7-2DC6F4C1F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5447081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5</a:t>
            </a:r>
            <a:endParaRPr sz="120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D314A237-0D86-4A17-B57E-B0FB361B4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362042"/>
            <a:ext cx="9960559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운영 체크리스트 작성</a:t>
            </a:r>
            <a:endParaRPr sz="1450"/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2E473F57-F826-4023-A682-2BBBE6FE7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727802"/>
            <a:ext cx="9960559" cy="27980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일일 점검 5줄과 장애 접수 절차를 팀 문서에</a:t>
            </a:r>
            <a:endParaRPr sz="1250"/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56E3C2D6-BC56-4F6A-925D-08BD49FF6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클라우드 MLOps · 13주차</a:t>
            </a:r>
            <a:endParaRPr sz="900"/>
          </a:p>
        </p:txBody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3DE66602-806C-4ADF-B7C9-22C029D03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0367" y="6437376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19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140888775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16D013B7-C366-4B3F-BB19-E82476AE6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47472"/>
            <a:ext cx="1105783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드리프트 점검 실행</a:t>
            </a:r>
            <a:endParaRPr sz="3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CC5B60DC-34E0-4A98-8CB7-3479E56BE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987552"/>
            <a:ext cx="11057839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정상 상태와 유발 후, 두 화면이 오늘 제출물입니다</a:t>
            </a:r>
            <a:endParaRPr sz="13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2203C215-CF48-4FB5-9A57-D785B562F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481328"/>
            <a:ext cx="11057839" cy="4325112"/>
          </a:xfrm>
          <a:prstGeom xmlns:a="http://schemas.openxmlformats.org/drawingml/2006/main" prst="roundRect">
            <a:avLst>
              <a:gd name="adj" fmla="val 1480"/>
            </a:avLst>
          </a:prstGeom>
          <a:solidFill xmlns:a="http://schemas.openxmlformats.org/drawingml/2006/main">
            <a:srgbClr val="0F262C"/>
          </a:solidFill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5A972375-5A0D-405E-AC5F-1280773C3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3167" y="1591056"/>
            <a:ext cx="1188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50">
                <a:solidFill>
                  <a:srgbClr val="6E939B"/>
                </a:solidFill>
                <a:latin typeface="Consolas"/>
                <a:ea typeface="Consolas"/>
                <a:cs typeface="Consolas"/>
              </a:rPr>
              <a:t>bash</a:t>
            </a:r>
            <a:endParaRPr sz="95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0BE36673-8A94-4FE8-88DA-AA8C51C22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1719072"/>
            <a:ext cx="10436047" cy="3867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# 1. 기준선 만들기 (학습에 쓴 데이터로. 테스트 데이터가 아니다)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python scripts/make_baseline.py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aws s3 ls s3://&lt;팀 S3 버킷 이름&gt;/models/ --region ap-northeast-2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# 2. 정상 입력을 20건쯤 쏜 뒤 점검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python scripts/drift_check.py --last 200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# 3. 일부러 드리프트 만들기 (수치 컬럼 하나만 10배로)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for i in $(seq 1 10); do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  curl -s -o /dev/null -X POST http://localhost:8000/predict \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    -H "Content-Type: application/json" \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    -d '&lt;정상 요청 JSON에서 수치 컬럼 하나만 10배로 키운 것&gt;'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done</a:t>
            </a:r>
            <a:endParaRPr sz="1100"/>
          </a:p>
          <a:p xmlns:a="http://schemas.openxmlformats.org/drawingml/2006/main">
            <a:pPr marL="0" indent="0">
              <a:lnSpc>
                <a:spcPct val="122000"/>
              </a:lnSpc>
              <a:buNone/>
            </a:pPr>
            <a:r>
              <a:rPr sz="1100">
                <a:solidFill>
                  <a:srgbClr val="D7E7EA"/>
                </a:solidFill>
                <a:latin typeface="Consolas"/>
                <a:ea typeface="Consolas"/>
                <a:cs typeface="Consolas"/>
              </a:rPr>
              <a:t>python scripts/drift_check.py --last 30</a:t>
            </a:r>
            <a:endParaRPr sz="11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601A28F4-A24B-42A2-8FD6-0018B025A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916168"/>
            <a:ext cx="11057839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표준화거리 = 최근평균과 학습평균의 차이를 학습표준편차로 나눈 값. 0.5 미만 정상 / 1.0 이상 경고</a:t>
            </a:r>
            <a:endParaRPr sz="12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508D357F-2E76-459A-AA52-FD01EE804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클라우드 MLOps · 13주차</a:t>
            </a:r>
            <a:endParaRPr sz="9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2AFA7824-D126-44DA-981F-796A38625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0367" y="6437376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20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81665542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7946B75B-8A14-4EB6-BFF0-4EC45FDDC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47472"/>
            <a:ext cx="1105783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팀 운영 체크리스트에 들어갈 것</a:t>
            </a:r>
            <a:endParaRPr sz="3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611D17B4-E6C6-47C3-9D14-E6B1FFCBF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987552"/>
            <a:ext cx="11057839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체크리스트는 실력 없는 사람용이 아니라 피곤한 사람용입니다</a:t>
            </a:r>
            <a:endParaRPr sz="13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1789B2A2-9A8C-4D6A-9D05-5F9999585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536192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15961648-05E8-430D-B65C-7E944C509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536192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  <a:endParaRPr sz="12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BDF2CAE0-E212-4A7B-ACD9-DDA7F1639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1499616"/>
            <a:ext cx="5956347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서비스 정보</a:t>
            </a:r>
            <a:endParaRPr sz="155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DDCD0157-3B49-44D3-8790-9F7A728A0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1883664"/>
            <a:ext cx="5956347" cy="48097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주소 · 인스턴스 ID · 대시보드 이름 · 알람 수신자</a:t>
            </a:r>
            <a:endParaRPr sz="125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F8DAC432-2004-456B-9942-5362655E2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474366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21185611-AAB8-4BDD-9809-579158AD5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474366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  <a:endParaRPr sz="12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8EF90C3D-AABE-490D-BE4C-381C1C09B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2437790"/>
            <a:ext cx="5956347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일일 점검 다섯 줄</a:t>
            </a:r>
            <a:endParaRPr sz="155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4501C007-515D-40C8-817D-A2CAF0BBC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2821838"/>
            <a:ext cx="5956347" cy="48097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헬스체크 · 에러율 · 응답시간 · 디스크 · 드리프트 점수</a:t>
            </a:r>
            <a:endParaRPr sz="125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43B569BC-9360-43AD-AF2F-1141D9535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412541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A8B54FA7-F550-4DE0-9F0E-FF2F61A47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412541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  <a:endParaRPr sz="12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C89A1CF8-3B2E-40E9-8A0C-F1C81FBB6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3375965"/>
            <a:ext cx="5956347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점검 기록표</a:t>
            </a:r>
            <a:endParaRPr sz="155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D5C974A6-2423-4C30-BE42-327687D7A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3760013"/>
            <a:ext cx="5956347" cy="48097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본 것을 남깁니다. 남기지 않은 점검은 안 한 것과 같습니다</a:t>
            </a:r>
            <a:endParaRPr sz="125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4B6B38AD-C95D-437B-A4CA-3726DD47B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350715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730E96D7-0287-44F1-976D-E98F3C702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350715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  <a:endParaRPr sz="12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EC68208E-A413-464F-A050-44A6C20BF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4314139"/>
            <a:ext cx="5956347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장애 접수 절차</a:t>
            </a:r>
            <a:endParaRPr sz="155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5B040033-AE63-45B3-8691-352107BFC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4698187"/>
            <a:ext cx="5956347" cy="48097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누가 어디에 올리고 몇 분 안에 회신하는지 미리 정합니다</a:t>
            </a:r>
            <a:endParaRPr sz="1250"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7DDFD5D6-536C-474F-AE19-665AFCFEF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288890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D81BF34C-780A-44F2-BB6C-564DFE808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288890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5</a:t>
            </a:r>
            <a:endParaRPr sz="12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374FFFB9-9949-4F7D-85BB-BB3D83220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5252314"/>
            <a:ext cx="5956347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재학습 정책 한 줄</a:t>
            </a:r>
            <a:endParaRPr sz="155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CCFC2D5F-9991-450D-993B-96876BB96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5636362"/>
            <a:ext cx="5956347" cy="48097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정기형 · 감시형 · 사건형 중 하나와 그 이유</a:t>
            </a:r>
            <a:endParaRPr sz="1250"/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53C8E4B4-06EA-40D9-A540-86A11236F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0515" y="2436876"/>
            <a:ext cx="4324252" cy="2734056"/>
          </a:xfrm>
          <a:prstGeom xmlns:a="http://schemas.openxmlformats.org/drawingml/2006/main" prst="roundRect">
            <a:avLst>
              <a:gd name="adj" fmla="val 2676"/>
            </a:avLst>
          </a:prstGeom>
          <a:solidFill xmlns:a="http://schemas.openxmlformats.org/drawingml/2006/main">
            <a:srgbClr val="EDF5F6"/>
          </a:solidFill>
          <a:ln xmlns:a="http://schemas.openxmlformats.org/drawingml/2006/main" w="12700">
            <a:solidFill>
              <a:srgbClr val="C9DADE"/>
            </a:solidFill>
            <a:prstDash val="solid"/>
          </a:ln>
        </p:spPr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CAA9FCDE-D86E-4F29-8EFC-61CCF0E9C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4835" y="2656332"/>
            <a:ext cx="3775612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028090"/>
                </a:solidFill>
                <a:latin typeface="맑은 고딕"/>
                <a:ea typeface="맑은 고딕"/>
                <a:cs typeface="맑은 고딕"/>
              </a:rPr>
              <a:t>1차 조치 매뉴얼</a:t>
            </a:r>
            <a:endParaRPr sz="1450"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3BD3EB62-F550-4063-90BD-4E2FB4126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4835" y="3131820"/>
            <a:ext cx="3775612" cy="18196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2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무응답이면 docker ps</a:t>
            </a:r>
            <a:endParaRPr sz="1250"/>
          </a:p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2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에러율 급증이면 revert</a:t>
            </a:r>
            <a:endParaRPr sz="1250"/>
          </a:p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2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디스크 80%면 prune -af</a:t>
            </a:r>
            <a:endParaRPr sz="1250"/>
          </a:p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2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드리프트면 전처리 확인</a:t>
            </a:r>
            <a:endParaRPr sz="125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4081505C-FA32-4C05-84A2-6F68B4ACA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클라우드 MLOps · 13주차</a:t>
            </a:r>
            <a:endParaRPr sz="900"/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1C2EFAEB-3BFB-424A-A5EB-42DC0BF48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0367" y="6437376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21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334638142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BCCA224A-BC14-496B-A32B-5CCD56B83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47472"/>
            <a:ext cx="1105783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M3 — 전 구간 연결 체크리스트</a:t>
            </a:r>
            <a:endParaRPr sz="3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4BD25E2B-3B15-426F-8EE9-CC12129FC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987552"/>
            <a:ext cx="11057839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팀별로 강사 앞에서 통과합니다. 오늘 반드시 넘어갑니다</a:t>
            </a:r>
            <a:endParaRPr sz="1300"/>
          </a:p>
        </p:txBody>
      </p:sp>
      <p:graphicFrame>
        <p:nvGraphicFramePr>
          <p:cNvPr id="10" name="Table 0"/>
          <p:cNvGraphicFramePr/>
          <p:nvPr/>
        </p:nvGraphicFramePr>
        <p:xfrm>
          <a:off xmlns:a="http://schemas.openxmlformats.org/drawingml/2006/main" x="566928" y="1481328"/>
          <a:ext xmlns:a="http://schemas.openxmlformats.org/drawingml/2006/main" cx="11057839" cy="9144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11680"/>
                <a:gridCol w="5120640"/>
                <a:gridCol w="3922776"/>
              </a:tblGrid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구간</a:t>
                      </a:r>
                      <a:endParaRPr sz="125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확인 항목</a:t>
                      </a:r>
                      <a:endParaRPr sz="125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확인 방법</a:t>
                      </a:r>
                      <a:endParaRPr sz="125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028090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데이터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원본이 raw/ 에 있고 전처리를 다시 돌리면 processed/ 가 재생성된다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S3 목록의 타임스탬프 갱신 확인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EDF5F6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학습·실험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MLflow에 비교 가능한 실험 5건 이상, 채택 모델이 어느 실행인지 추적된다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MLflow 실험 목록과 Models 화면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서빙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모델과 API가 한 이미지로 빌드되어 ECR에 있고 /health 가 200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describe-images + curl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EDF5F6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서빙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다른 팀원의 노트북에서 /predict 가 정상 응답한다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다른 사람 노트북에서 직접 호출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배포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커밋 1회로 자동 배포가 끝까지 성공하고 롤백 방법이 README에 있다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ED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Actions 초록 체크 + README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EDF5F6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모니터링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대시보드에 지표 3종 이상이 실제 데이터로 그려지고 알람 발송 이력이 있다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200">
                          <a:solidFill>
                            <a:srgbClr val="1C2B3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대시보드 + 알람 History</a:t>
                      </a:r>
                      <a:endParaRPr sz="12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82296" marR="82296" marT="82296" marB="82296" anchor="ctr">
                    <a:lnL w="9525" cmpd="sng">
                      <a:solidFill>
                        <a:srgbClr val="C9DADE"/>
                      </a:solidFill>
                      <a:prstDash val="solid"/>
                    </a:lnL>
                    <a:lnR w="9525" cmpd="sng">
                      <a:solidFill>
                        <a:srgbClr val="C9DADE"/>
                      </a:solidFill>
                      <a:prstDash val="solid"/>
                    </a:lnR>
                    <a:lnT w="9525" cmpd="sng">
                      <a:solidFill>
                        <a:srgbClr val="C9DADE"/>
                      </a:solidFill>
                      <a:prstDash val="solid"/>
                    </a:lnT>
                    <a:lnB w="9525" cmpd="sng">
                      <a:solidFill>
                        <a:srgbClr val="C9DAD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9D43CF10-9460-4374-B73E-E32F0AEDB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클라우드 MLOps · 13주차</a:t>
            </a:r>
            <a:endParaRPr sz="900"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0ABAFCB9-C129-47B2-B560-02FD8B54B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0367" y="6437376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22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315281163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47034193-B269-458A-8A65-21F96509C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47472"/>
            <a:ext cx="1105783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오늘의 체크포인트</a:t>
            </a:r>
            <a:endParaRPr sz="3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6A8E97D1-B4D6-4B9F-9272-D2B2B35B6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987552"/>
            <a:ext cx="11057839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제출하면 오늘 수업 완료 · 2점</a:t>
            </a:r>
            <a:endParaRPr sz="13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6B24505F-F563-42F3-8465-566AC0C78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144268"/>
            <a:ext cx="11057839" cy="722376"/>
          </a:xfrm>
          <a:prstGeom xmlns:a="http://schemas.openxmlformats.org/drawingml/2006/main" prst="roundRect">
            <a:avLst>
              <a:gd name="adj" fmla="val 7595"/>
            </a:avLst>
          </a:prstGeom>
          <a:solidFill xmlns:a="http://schemas.openxmlformats.org/drawingml/2006/main">
            <a:srgbClr val="EDF5F6"/>
          </a:solidFill>
          <a:ln xmlns:a="http://schemas.openxmlformats.org/drawingml/2006/main" w="9525">
            <a:solidFill>
              <a:srgbClr val="C9DADE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3E88F758-9E04-46B1-9BC2-B4BBBFD72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2350008"/>
            <a:ext cx="310896" cy="310896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28090"/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75A8CF5C-FDCC-4436-8F32-CB6D0E35C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2244852"/>
            <a:ext cx="10051999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CloudWatch 대시보드 전체 화면</a:t>
            </a:r>
            <a:endParaRPr sz="145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78D30648-B31A-4EE0-931B-48C686154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2601468"/>
            <a:ext cx="10051999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스크린샷 · 위젯이 실제 데이터로 그려진 상태</a:t>
            </a:r>
            <a:endParaRPr sz="125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B5AD6F74-82E2-4DC6-911D-A7F1E91B8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985516"/>
            <a:ext cx="11057839" cy="722376"/>
          </a:xfrm>
          <a:prstGeom xmlns:a="http://schemas.openxmlformats.org/drawingml/2006/main" prst="roundRect">
            <a:avLst>
              <a:gd name="adj" fmla="val 7595"/>
            </a:avLst>
          </a:prstGeom>
          <a:solidFill xmlns:a="http://schemas.openxmlformats.org/drawingml/2006/main">
            <a:srgbClr val="F7FAFB"/>
          </a:solidFill>
          <a:ln xmlns:a="http://schemas.openxmlformats.org/drawingml/2006/main" w="9525">
            <a:solidFill>
              <a:srgbClr val="C9DADE"/>
            </a:solidFill>
            <a:prstDash val="solid"/>
          </a:ln>
        </p:spPr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3426B6BF-DE71-4012-8EAF-A5E9A6D51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3191256"/>
            <a:ext cx="310896" cy="310896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28090"/>
            </a:solidFill>
            <a:prstDash val="solid"/>
          </a:ln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0B45AA03-D7A4-4889-9FD3-6CCC83BD1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3086100"/>
            <a:ext cx="10051999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수신된 알람 메일</a:t>
            </a:r>
            <a:endParaRPr sz="145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6A68A190-E46E-4B7C-AEFF-1BDB76020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3442716"/>
            <a:ext cx="10051999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스크린샷 · 제목과 본문이 보이게</a:t>
            </a:r>
            <a:endParaRPr sz="125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121CC3C3-9369-43DF-A2E4-C510A1D91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826764"/>
            <a:ext cx="11057839" cy="722376"/>
          </a:xfrm>
          <a:prstGeom xmlns:a="http://schemas.openxmlformats.org/drawingml/2006/main" prst="roundRect">
            <a:avLst>
              <a:gd name="adj" fmla="val 7595"/>
            </a:avLst>
          </a:prstGeom>
          <a:solidFill xmlns:a="http://schemas.openxmlformats.org/drawingml/2006/main">
            <a:srgbClr val="EDF5F6"/>
          </a:solidFill>
          <a:ln xmlns:a="http://schemas.openxmlformats.org/drawingml/2006/main" w="9525">
            <a:solidFill>
              <a:srgbClr val="C9DADE"/>
            </a:solidFill>
            <a:prstDash val="solid"/>
          </a:ln>
        </p:spPr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EBED26D2-0A0F-4E5B-BC90-E5821660F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4032504"/>
            <a:ext cx="310896" cy="310896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28090"/>
            </a:solidFill>
            <a:prstDash val="solid"/>
          </a:ln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0D2FB8D3-2219-4082-991D-5C4C9BE22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3927348"/>
            <a:ext cx="10051999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드리프트 점검 결과 두 장</a:t>
            </a:r>
            <a:endParaRPr sz="145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8222D3EE-A482-470A-B159-7A519E9D2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4283964"/>
            <a:ext cx="10051999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스크린샷 · 정상 상태와 드리프트 유발 후</a:t>
            </a:r>
            <a:endParaRPr sz="125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52DC4342-D80F-4BE0-8576-4F5442FB1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668012"/>
            <a:ext cx="11057839" cy="722376"/>
          </a:xfrm>
          <a:prstGeom xmlns:a="http://schemas.openxmlformats.org/drawingml/2006/main" prst="roundRect">
            <a:avLst>
              <a:gd name="adj" fmla="val 7595"/>
            </a:avLst>
          </a:prstGeom>
          <a:solidFill xmlns:a="http://schemas.openxmlformats.org/drawingml/2006/main">
            <a:srgbClr val="F7FAFB"/>
          </a:solidFill>
          <a:ln xmlns:a="http://schemas.openxmlformats.org/drawingml/2006/main" w="9525">
            <a:solidFill>
              <a:srgbClr val="C9DADE"/>
            </a:solidFill>
            <a:prstDash val="solid"/>
          </a:ln>
        </p:spPr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4A2261BF-F32C-40F0-B283-03C53B012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4873752"/>
            <a:ext cx="310896" cy="310896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28090"/>
            </a:solidFill>
            <a:prstDash val="solid"/>
          </a:ln>
        </p:spPr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F36DFC7C-611D-4EA3-9051-C24A8CDB5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4768596"/>
            <a:ext cx="10051999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docs/운영체크리스트.md</a:t>
            </a:r>
            <a:endParaRPr sz="145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1DFCE13A-2199-4425-AD01-495290460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5125212"/>
            <a:ext cx="10051999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저장소 URL · 일일 점검, 장애 접수, 재학습 정책까지</a:t>
            </a:r>
            <a:endParaRPr sz="125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9BC3FFAE-1C56-4E84-B895-70726991C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클라우드 MLOps · 13주차</a:t>
            </a:r>
            <a:endParaRPr sz="90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0B831518-F9C4-42A3-8A4C-E8E43DCCC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0367" y="6437376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23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365910313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F7F4E809-079B-4B62-A833-8E553EED5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47472"/>
            <a:ext cx="1105783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리소스 정리 타임</a:t>
            </a:r>
            <a:endParaRPr sz="3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F3D70BDE-26BC-4523-85FA-347A6966E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987552"/>
            <a:ext cx="11057839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수업 종료 5분 전</a:t>
            </a:r>
            <a:endParaRPr sz="13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0F24BC12-898C-4EA2-935C-2D0C31E37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481328"/>
            <a:ext cx="11057839" cy="3931920"/>
          </a:xfrm>
          <a:prstGeom xmlns:a="http://schemas.openxmlformats.org/drawingml/2006/main" prst="roundRect">
            <a:avLst>
              <a:gd name="adj" fmla="val 1860"/>
            </a:avLst>
          </a:prstGeom>
          <a:solidFill xmlns:a="http://schemas.openxmlformats.org/drawingml/2006/main">
            <a:srgbClr val="FCF1E6"/>
          </a:solidFill>
          <a:ln xmlns:a="http://schemas.openxmlformats.org/drawingml/2006/main" w="19050">
            <a:solidFill>
              <a:srgbClr val="D97A2B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B62235FF-5145-4464-8258-E53B853C5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1773936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A2B"/>
          </a:solidFill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BDC12E7B-7920-4D7C-B6CB-EEE53FCE9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1773936"/>
            <a:ext cx="566928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6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!</a:t>
            </a:r>
            <a:endParaRPr sz="26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4EB17952-AFCE-4CA5-B550-2B0AEF3F3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1056" y="1755648"/>
            <a:ext cx="9686239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8A4A12"/>
                </a:solidFill>
                <a:latin typeface="맑은 고딕"/>
                <a:ea typeface="맑은 고딕"/>
                <a:cs typeface="맑은 고딕"/>
              </a:rPr>
              <a:t>EC2는 중지(Stop)만 합니다. 종료하지 마세요</a:t>
            </a:r>
            <a:endParaRPr sz="18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F60D0941-D209-43B4-80F9-0AAD47EF1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2505456"/>
            <a:ext cx="10143439" cy="2651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sz="1400">
                <a:solidFill>
                  <a:srgbClr val="5C3A18"/>
                </a:solidFill>
                <a:latin typeface="맑은 고딕"/>
                <a:ea typeface="맑은 고딕"/>
                <a:cs typeface="맑은 고딕"/>
              </a:rPr>
              <a:t>다음 주에도 씁니다. 중지하면 알람이 INSUFFICIENT_DATA가 되는데 정상입니다</a:t>
            </a:r>
            <a:endParaRPr sz="1400"/>
          </a:p>
          <a:p xmlns:a="http://schemas.openxmlformats.org/drawingml/2006/main"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sz="1400">
                <a:solidFill>
                  <a:srgbClr val="5C3A18"/>
                </a:solidFill>
                <a:latin typeface="맑은 고딕"/>
                <a:ea typeface="맑은 고딕"/>
                <a:cs typeface="맑은 고딕"/>
              </a:rPr>
              <a:t>잘못 만든 SNS 주제 중복분은 삭제합니다</a:t>
            </a:r>
            <a:endParaRPr sz="1400"/>
          </a:p>
          <a:p xmlns:a="http://schemas.openxmlformats.org/drawingml/2006/main"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sz="1400">
                <a:solidFill>
                  <a:srgbClr val="5C3A18"/>
                </a:solidFill>
                <a:latin typeface="맑은 고딕"/>
                <a:ea typeface="맑은 고딕"/>
                <a:cs typeface="맑은 고딕"/>
              </a:rPr>
              <a:t>쓰지 않는 CloudWatch 알람 삭제. 알람 10개 초과분은 과금 대상입니다</a:t>
            </a:r>
            <a:endParaRPr sz="1400"/>
          </a:p>
          <a:p xmlns:a="http://schemas.openxmlformats.org/drawingml/2006/main"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sz="1400">
                <a:solidFill>
                  <a:srgbClr val="5C3A18"/>
                </a:solidFill>
                <a:latin typeface="맑은 고딕"/>
                <a:ea typeface="맑은 고딕"/>
                <a:cs typeface="맑은 고딕"/>
              </a:rPr>
              <a:t>로그 그룹 보존기간이 7일인지 확인합니다. 무기한 보존은 비용이 쌓입니다</a:t>
            </a:r>
            <a:endParaRPr sz="1400"/>
          </a:p>
          <a:p xmlns:a="http://schemas.openxmlformats.org/drawingml/2006/main"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sz="1400">
                <a:solidFill>
                  <a:srgbClr val="5C3A18"/>
                </a:solidFill>
                <a:latin typeface="맑은 고딕"/>
                <a:ea typeface="맑은 고딕"/>
                <a:cs typeface="맑은 고딕"/>
              </a:rPr>
              <a:t>docker system prune -af 로 이미지를 정리하고 df -h 로 확인합니다</a:t>
            </a:r>
            <a:endParaRPr sz="14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0E9B2D65-7C01-40FE-90D6-11277B3EC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클라우드 MLOps · 13주차</a:t>
            </a:r>
            <a:endParaRPr sz="9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1679B2D3-3263-41BB-8E8E-BB29DEF85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0367" y="6437376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24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1720785858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FA9F4CE1-1510-4AC8-838B-83A73EEA7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47472"/>
            <a:ext cx="11057839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정리 · 다음 주 예고</a:t>
            </a:r>
            <a:endParaRPr sz="3000"/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672A4B44-F000-4C46-9ACB-19E11E3A3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280160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651727E3-B990-4FCF-8BAC-CEF4129E9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280160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  <a:endParaRPr sz="12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058B8027-162E-4E24-9C0F-9A4F1DBAB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1243584"/>
            <a:ext cx="5956347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오늘 배운 것</a:t>
            </a:r>
            <a:endParaRPr sz="155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1E835834-93D2-4634-B872-82FE18D2B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1627632"/>
            <a:ext cx="5956347" cy="77952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로그는 사후 기록, 메트릭은 추세, 알람은 안 보고 있어도 부르는 장치</a:t>
            </a:r>
            <a:endParaRPr sz="125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CC5DC37B-1617-4ECA-898C-51AB413C7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516886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E1495EB0-6298-4072-A26E-CCC6EFA39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516886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  <a:endParaRPr sz="12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D458ABC7-C1C7-4D87-97F2-6DF4072E7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2480310"/>
            <a:ext cx="5956347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오늘의 핵심</a:t>
            </a:r>
            <a:endParaRPr sz="155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52AD0D52-C07E-4A21-A035-D4716138A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2864358"/>
            <a:ext cx="5956347" cy="77952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모델은 조용히 틀린다. 그래서 입력 분포를 따로 감시한다</a:t>
            </a:r>
            <a:endParaRPr sz="1250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8B50CAB8-792C-4D0F-83AD-07DC9161A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753612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B4513E78-0FC6-4699-8D89-1FC1C331A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753612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  <a:endParaRPr sz="12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B81D38B4-1EA3-4FFA-A05F-AB13B3B96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3717036"/>
            <a:ext cx="5956347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다음 주</a:t>
            </a:r>
            <a:endParaRPr sz="155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AB7F137F-F5B3-4CA7-964B-55DB8AA57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4101084"/>
            <a:ext cx="5956347" cy="77952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강의는 20분뿐입니다. 175분이 전부 팀 작업이고 강사가 순회합니다</a:t>
            </a:r>
            <a:endParaRPr sz="1250"/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87886B95-AA82-4C23-8828-232BF9F98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990338"/>
            <a:ext cx="310896" cy="31089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090"/>
          </a:solidFill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9E58F4A1-E032-468F-A0E0-70F225E34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990338"/>
            <a:ext cx="310896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  <a:endParaRPr sz="12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96546A13-8E45-4CB3-89D6-4CE258F7C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4953762"/>
            <a:ext cx="5956347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 b="1">
                <a:solidFill>
                  <a:srgbClr val="13323B"/>
                </a:solidFill>
                <a:latin typeface="맑은 고딕"/>
                <a:ea typeface="맑은 고딕"/>
                <a:cs typeface="맑은 고딕"/>
              </a:rPr>
              <a:t>미리 말해둡니다</a:t>
            </a:r>
            <a:endParaRPr sz="155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2558D3D3-FF70-46A7-A022-2AD0F82CF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5337810"/>
            <a:ext cx="5956347" cy="77952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발표날 데모는 반드시 실패합니다. 그래서 다음 주에 시연 영상을 찍습니다</a:t>
            </a:r>
            <a:endParaRPr sz="1250"/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90501ED2-51A5-4412-A75F-6835CAA98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0515" y="2308860"/>
            <a:ext cx="4324252" cy="2734056"/>
          </a:xfrm>
          <a:prstGeom xmlns:a="http://schemas.openxmlformats.org/drawingml/2006/main" prst="roundRect">
            <a:avLst>
              <a:gd name="adj" fmla="val 2676"/>
            </a:avLst>
          </a:prstGeom>
          <a:solidFill xmlns:a="http://schemas.openxmlformats.org/drawingml/2006/main">
            <a:srgbClr val="EDF5F6"/>
          </a:solidFill>
          <a:ln xmlns:a="http://schemas.openxmlformats.org/drawingml/2006/main" w="12700">
            <a:solidFill>
              <a:srgbClr val="C9DADE"/>
            </a:solidFill>
            <a:prstDash val="solid"/>
          </a:ln>
        </p:spPr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5F5B69EC-319E-45FB-B968-F54C262FE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4835" y="2528316"/>
            <a:ext cx="3775612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028090"/>
                </a:solidFill>
                <a:latin typeface="맑은 고딕"/>
                <a:ea typeface="맑은 고딕"/>
                <a:cs typeface="맑은 고딕"/>
              </a:rPr>
              <a:t>이번 주 과제</a:t>
            </a:r>
            <a:endParaRPr sz="145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1934D880-04B6-427B-800F-51EE9688C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4835" y="3003804"/>
            <a:ext cx="3775612" cy="18196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2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일일 점검 5회분 기록</a:t>
            </a:r>
            <a:endParaRPr sz="1250"/>
          </a:p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2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M3 미통과 항목 해결</a:t>
            </a:r>
            <a:endParaRPr sz="1250"/>
          </a:p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2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6개월 뒤에도 맞을까 3문장</a:t>
            </a:r>
            <a:endParaRPr sz="1250"/>
          </a:p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250">
                <a:solidFill>
                  <a:srgbClr val="1C2B31"/>
                </a:solidFill>
                <a:latin typeface="맑은 고딕"/>
                <a:ea typeface="맑은 고딕"/>
                <a:cs typeface="맑은 고딕"/>
              </a:rPr>
              <a:t>발표용 입력 데이터 3건</a:t>
            </a:r>
            <a:endParaRPr sz="125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448C8B88-3892-4740-9B58-0BF6472FC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437376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클라우드 MLOps · 13주차</a:t>
            </a:r>
            <a:endParaRPr sz="90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68C87E91-338D-4DE4-9926-D6D406472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0367" y="6437376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5F757D"/>
                </a:solidFill>
                <a:latin typeface="맑은 고딕"/>
                <a:ea typeface="맑은 고딕"/>
                <a:cs typeface="맑은 고딕"/>
              </a:rPr>
              <a:t>25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466836432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eyebrow">
            <a:extLst xmlns:a="http://schemas.openxmlformats.org/drawingml/2006/main">
              <a:ext uri="{FF2B5EF4-FFF2-40B4-BE49-F238E27FC236}">
                <a16:creationId xmlns:a16="http://schemas.microsoft.com/office/drawing/2014/main" id="{6E3A9844-171B-40AE-B390-7F470E389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77722"/>
                </a:solidFill>
              </a:defRPr>
            </a:pPr>
            <a:r>
              <a:rPr sz="1350" b="1">
                <a:solidFill>
                  <a:srgbClr val="E77722"/>
                </a:solidFill>
              </a:rPr>
              <a:t>클라우드 MLOps · 13주차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65074D2-2601-43B1-AEAC-DBC87D080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048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5263C"/>
                </a:solidFill>
              </a:defRPr>
            </a:pPr>
            <a:r>
              <a:rPr sz="2850" b="1">
                <a:solidFill>
                  <a:srgbClr val="15263C"/>
                </a:solidFill>
              </a:rPr>
              <a:t>오늘 시스템에서 데이터가 흐르는 길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8C4DF09D-BB5C-4326-9287-B873E60AC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722"/>
          </a:solidFill>
          <a:ln xmlns:a="http://schemas.openxmlformats.org/drawingml/2006/main" w="0">
            <a:solidFill>
              <a:srgbClr val="E77722"/>
            </a:solidFill>
            <a:prstDash val="solid"/>
          </a:ln>
        </p:spPr>
      </p:sp>
      <p:sp>
        <p:nvSpPr>
          <p:cNvPr id="4" name="takeaway">
            <a:extLst xmlns:a="http://schemas.openxmlformats.org/drawingml/2006/main">
              <a:ext uri="{FF2B5EF4-FFF2-40B4-BE49-F238E27FC236}">
                <a16:creationId xmlns:a16="http://schemas.microsoft.com/office/drawing/2014/main" id="{C4B9BC75-B9DC-4590-8605-69CD9BD15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24000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42566F"/>
                </a:solidFill>
              </a:defRPr>
            </a:pPr>
            <a:r>
              <a:rPr sz="1650" b="0">
                <a:solidFill>
                  <a:srgbClr val="42566F"/>
                </a:solidFill>
              </a:rPr>
              <a:t>로그·메트릭·알람을 연결해 사용자보다 먼저 이상을 발견한다.</a:t>
            </a:r>
          </a:p>
        </p:txBody>
      </p:sp>
      <p:sp>
        <p:nvSpPr>
          <p:cNvPr id="5" name="node-1">
            <a:extLst xmlns:a="http://schemas.openxmlformats.org/drawingml/2006/main">
              <a:ext uri="{FF2B5EF4-FFF2-40B4-BE49-F238E27FC236}">
                <a16:creationId xmlns:a16="http://schemas.microsoft.com/office/drawing/2014/main" id="{B05CF21F-860C-456F-96B7-62D64278D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14625"/>
            <a:ext cx="16510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4288">
            <a:solidFill>
              <a:srgbClr val="8EA6C0"/>
            </a:solidFill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5263C"/>
                </a:solidFill>
              </a:defRPr>
            </a:pPr>
            <a:r>
              <a:rPr sz="1425" b="1">
                <a:solidFill>
                  <a:srgbClr val="15263C"/>
                </a:solidFill>
              </a:rPr>
              <a:t>FastAPI logs</a:t>
            </a:r>
          </a:p>
        </p:txBody>
      </p:sp>
      <p:sp>
        <p:nvSpPr>
          <p:cNvPr id="6" name="node-2">
            <a:extLst xmlns:a="http://schemas.openxmlformats.org/drawingml/2006/main">
              <a:ext uri="{FF2B5EF4-FFF2-40B4-BE49-F238E27FC236}">
                <a16:creationId xmlns:a16="http://schemas.microsoft.com/office/drawing/2014/main" id="{39913666-D86D-4030-8C20-9E9E698D0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1100" y="2714625"/>
            <a:ext cx="16510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8EA6C0"/>
            </a:solidFill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5263C"/>
                </a:solidFill>
              </a:defRPr>
            </a:pPr>
            <a:r>
              <a:rPr sz="1425" b="1">
                <a:solidFill>
                  <a:srgbClr val="15263C"/>
                </a:solidFill>
              </a:rPr>
              <a:t>CloudWatch Logs</a:t>
            </a:r>
          </a:p>
        </p:txBody>
      </p:sp>
      <p:sp>
        <p:nvSpPr>
          <p:cNvPr id="7" name="node-3">
            <a:extLst xmlns:a="http://schemas.openxmlformats.org/drawingml/2006/main">
              <a:ext uri="{FF2B5EF4-FFF2-40B4-BE49-F238E27FC236}">
                <a16:creationId xmlns:a16="http://schemas.microsoft.com/office/drawing/2014/main" id="{EE6BDE3E-BC24-48BE-945F-88FECC5BC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0700" y="2714625"/>
            <a:ext cx="16510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8EA6C0"/>
            </a:solidFill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5263C"/>
                </a:solidFill>
              </a:defRPr>
            </a:pPr>
            <a:r>
              <a:rPr sz="1425" b="1">
                <a:solidFill>
                  <a:srgbClr val="15263C"/>
                </a:solidFill>
              </a:rPr>
              <a:t>Metric filter</a:t>
            </a:r>
          </a:p>
        </p:txBody>
      </p:sp>
      <p:sp>
        <p:nvSpPr>
          <p:cNvPr id="8" name="node-4">
            <a:extLst xmlns:a="http://schemas.openxmlformats.org/drawingml/2006/main">
              <a:ext uri="{FF2B5EF4-FFF2-40B4-BE49-F238E27FC236}">
                <a16:creationId xmlns:a16="http://schemas.microsoft.com/office/drawing/2014/main" id="{178015B3-39B2-48A0-B878-FC01FE1F0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714625"/>
            <a:ext cx="16510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8EA6C0"/>
            </a:solidFill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5263C"/>
                </a:solidFill>
              </a:defRPr>
            </a:pPr>
            <a:r>
              <a:rPr sz="1425" b="1">
                <a:solidFill>
                  <a:srgbClr val="15263C"/>
                </a:solidFill>
              </a:rPr>
              <a:t>Dashboard</a:t>
            </a:r>
          </a:p>
        </p:txBody>
      </p:sp>
      <p:sp>
        <p:nvSpPr>
          <p:cNvPr id="9" name="node-5">
            <a:extLst xmlns:a="http://schemas.openxmlformats.org/drawingml/2006/main">
              <a:ext uri="{FF2B5EF4-FFF2-40B4-BE49-F238E27FC236}">
                <a16:creationId xmlns:a16="http://schemas.microsoft.com/office/drawing/2014/main" id="{AFC87D01-627D-4021-B97B-F52840EAA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9900" y="2714625"/>
            <a:ext cx="16510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8EA6C0"/>
            </a:solidFill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5263C"/>
                </a:solidFill>
              </a:defRPr>
            </a:pPr>
            <a:r>
              <a:rPr sz="1425" b="1">
                <a:solidFill>
                  <a:srgbClr val="15263C"/>
                </a:solidFill>
              </a:rPr>
              <a:t>Alarm</a:t>
            </a:r>
          </a:p>
        </p:txBody>
      </p:sp>
      <p:sp>
        <p:nvSpPr>
          <p:cNvPr id="10" name="node-6">
            <a:extLst xmlns:a="http://schemas.openxmlformats.org/drawingml/2006/main">
              <a:ext uri="{FF2B5EF4-FFF2-40B4-BE49-F238E27FC236}">
                <a16:creationId xmlns:a16="http://schemas.microsoft.com/office/drawing/2014/main" id="{9CEA30CE-DF60-4969-8460-3EC0C6BAE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9500" y="2714625"/>
            <a:ext cx="16510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0E5"/>
          </a:solidFill>
          <a:ln xmlns:a="http://schemas.openxmlformats.org/drawingml/2006/main" w="14288">
            <a:solidFill>
              <a:srgbClr val="E77722"/>
            </a:solidFill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5263C"/>
                </a:solidFill>
              </a:defRPr>
            </a:pPr>
            <a:r>
              <a:rPr sz="1425" b="1">
                <a:solidFill>
                  <a:srgbClr val="15263C"/>
                </a:solidFill>
              </a:rPr>
              <a:t>SNS</a:t>
            </a:r>
          </a:p>
        </p:txBody>
      </p:sp>
      <p:cxnSp>
        <p:nvCxnSpPr>
          <p:cNvPr id="43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2222500" y="3286125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F7895"/>
            </a:solidFill>
            <a:prstDash val="solid"/>
            <a:headEnd type="arrow" w="med" len="med"/>
          </a:ln>
        </p:spPr>
      </p:cxnSp>
      <p:cxnSp>
        <p:nvCxnSpPr>
          <p:cNvPr id="44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4102100" y="3286125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F7895"/>
            </a:solidFill>
            <a:prstDash val="solid"/>
            <a:headEnd type="arrow" w="med" len="med"/>
          </a:ln>
        </p:spPr>
      </p:cxnSp>
      <p:cxnSp>
        <p:nvCxnSpPr>
          <p:cNvPr id="45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5981700" y="3286125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F7895"/>
            </a:solidFill>
            <a:prstDash val="solid"/>
            <a:headEnd type="arrow" w="med" len="med"/>
          </a:ln>
        </p:spPr>
      </p:cxnSp>
      <p:cxnSp>
        <p:nvCxnSpPr>
          <p:cNvPr id="46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7861300" y="3286125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F7895"/>
            </a:solidFill>
            <a:prstDash val="solid"/>
            <a:headEnd type="arrow" w="med" len="med"/>
          </a:ln>
        </p:spPr>
      </p:cxnSp>
      <p:cxnSp>
        <p:nvCxnSpPr>
          <p:cNvPr id="47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9740900" y="3286125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F7895"/>
            </a:solidFill>
            <a:prstDash val="solid"/>
            <a:headEnd type="arrow" w="med" len="med"/>
          </a:ln>
        </p:spPr>
      </p:cxnSp>
      <p:sp>
        <p:nvSpPr>
          <p:cNvPr id="16" name="read-order">
            <a:extLst xmlns:a="http://schemas.openxmlformats.org/drawingml/2006/main">
              <a:ext uri="{FF2B5EF4-FFF2-40B4-BE49-F238E27FC236}">
                <a16:creationId xmlns:a16="http://schemas.microsoft.com/office/drawing/2014/main" id="{B6147362-C310-4001-9DC4-04C762DF2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76750"/>
            <a:ext cx="1009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왼쪽에서 오른쪽으로 읽습니다. 각 화살표는 다음 단계가 바로 앞 단계의 결과를 입력으로 사용한다는 뜻입니다.</a:t>
            </a:r>
          </a:p>
        </p:txBody>
      </p:sp>
      <p:sp>
        <p:nvSpPr>
          <p:cNvPr id="17" name="footer">
            <a:extLst xmlns:a="http://schemas.openxmlformats.org/drawingml/2006/main">
              <a:ext uri="{FF2B5EF4-FFF2-40B4-BE49-F238E27FC236}">
                <a16:creationId xmlns:a16="http://schemas.microsoft.com/office/drawing/2014/main" id="{F5C7DEED-4686-4BE1-B043-F37D18F6D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E77722"/>
                </a:solidFill>
              </a:defRPr>
            </a:pPr>
            <a:r>
              <a:rPr sz="1350" b="1">
                <a:solidFill>
                  <a:srgbClr val="E77722"/>
                </a:solidFill>
              </a:rPr>
              <a:t>확인 질문: 어느 단계가 실패했는지 파일·로그·URL로 증명할 수 있는가?</a:t>
            </a:r>
          </a:p>
        </p:txBody>
      </p:sp>
    </p:spTree>
    <p:extLst>
      <p:ext uri="{BB962C8B-B14F-4D97-AF65-F5344CB8AC3E}">
        <p14:creationId xmlns:p14="http://schemas.microsoft.com/office/powerpoint/2010/main" val="1347303001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BF41DF86-0B7B-4757-895A-B3F831764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77722"/>
                </a:solidFill>
              </a:defRPr>
            </a:pPr>
            <a:r>
              <a:rPr sz="1350" b="1">
                <a:solidFill>
                  <a:srgbClr val="E77722"/>
                </a:solidFill>
              </a:rPr>
              <a:t>클라우드 MLOps · 13주차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0BD18A4-3090-4758-90A1-B183EAB83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048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5263C"/>
                </a:solidFill>
              </a:defRPr>
            </a:pPr>
            <a:r>
              <a:rPr sz="2850" b="1">
                <a:solidFill>
                  <a:srgbClr val="15263C"/>
                </a:solidFill>
              </a:rPr>
              <a:t>AWS 화면으로 가는 길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6DF18DC4-4AAD-4567-A43F-5D05146B3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722"/>
          </a:solidFill>
          <a:ln xmlns:a="http://schemas.openxmlformats.org/drawingml/2006/main" w="0">
            <a:solidFill>
              <a:srgbClr val="E77722"/>
            </a:solidFill>
            <a:prstDash val="solid"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aa9afc345b464c"/>
          <a:stretch xmlns:a="http://schemas.openxmlformats.org/drawingml/2006/main"/>
        </p:blipFill>
        <p:spPr>
          <a:xfrm xmlns:a="http://schemas.openxmlformats.org/drawingml/2006/main">
            <a:off x="2070299" y="1666875"/>
            <a:ext cx="2812653" cy="4000500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  <p:sp>
        <p:nvSpPr>
          <p:cNvPr id="5" name="path-label">
            <a:extLst xmlns:a="http://schemas.openxmlformats.org/drawingml/2006/main">
              <a:ext uri="{FF2B5EF4-FFF2-40B4-BE49-F238E27FC236}">
                <a16:creationId xmlns:a16="http://schemas.microsoft.com/office/drawing/2014/main" id="{3C647319-E5B8-444A-AF0A-AEF91284E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097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77722"/>
                </a:solidFill>
              </a:defRPr>
            </a:pPr>
            <a:r>
              <a:rPr sz="1650" b="1">
                <a:solidFill>
                  <a:srgbClr val="E77722"/>
                </a:solidFill>
              </a:rPr>
              <a:t>콘솔 이동 경로</a:t>
            </a:r>
          </a:p>
        </p:txBody>
      </p:sp>
      <p:sp>
        <p:nvSpPr>
          <p:cNvPr id="6" name="console-path">
            <a:extLst xmlns:a="http://schemas.openxmlformats.org/drawingml/2006/main">
              <a:ext uri="{FF2B5EF4-FFF2-40B4-BE49-F238E27FC236}">
                <a16:creationId xmlns:a16="http://schemas.microsoft.com/office/drawing/2014/main" id="{754544F9-3751-4F27-A582-FD868D1B8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90750"/>
            <a:ext cx="447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5263C"/>
                </a:solidFill>
              </a:defRPr>
            </a:pPr>
            <a:r>
              <a:rPr sz="1950" b="1">
                <a:solidFill>
                  <a:srgbClr val="15263C"/>
                </a:solidFill>
              </a:rPr>
              <a:t>CloudWatch → Dashboards / Alarms</a:t>
            </a:r>
          </a:p>
        </p:txBody>
      </p:sp>
      <p:sp>
        <p:nvSpPr>
          <p:cNvPr id="7" name="screen-check">
            <a:extLst xmlns:a="http://schemas.openxmlformats.org/drawingml/2006/main">
              <a:ext uri="{FF2B5EF4-FFF2-40B4-BE49-F238E27FC236}">
                <a16:creationId xmlns:a16="http://schemas.microsoft.com/office/drawing/2014/main" id="{D16299EC-7C24-4374-B1BC-3C8022939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24200"/>
            <a:ext cx="4476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화면에서 확인할 것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리전과 계정/역할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리소스 이름과 상태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비용이 발생하는 실행 자원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작업 뒤 중지·삭제 여부</a:t>
            </a:r>
          </a:p>
        </p:txBody>
      </p:sp>
      <p:sp>
        <p:nvSpPr>
          <p:cNvPr id="8" name="official-links">
            <a:extLst xmlns:a="http://schemas.openxmlformats.org/drawingml/2006/main">
              <a:ext uri="{FF2B5EF4-FFF2-40B4-BE49-F238E27FC236}">
                <a16:creationId xmlns:a16="http://schemas.microsoft.com/office/drawing/2014/main" id="{D5FAF1F0-E4B3-4C51-8CD4-C68101D3D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05375"/>
            <a:ext cx="4476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EA6C0"/>
            </a:solidFill>
            <a:prstDash val="solid"/>
          </a:ln>
        </p:spPr>
        <p:txBody>
          <a:bodyPr xmlns:a="http://schemas.openxmlformats.org/drawingml/2006/main" lIns="171450" tIns="95250" rIns="171450" bIns="95250" anchor="ctr"/>
          <a:lstStyle xmlns:a="http://schemas.openxmlformats.org/drawingml/2006/main"/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510343ddae6d4daf"/>
              </a:rPr>
              <a:t>콘솔 열기</a:t>
            </a:r>
          </a:p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b2663fbc338743a4"/>
              </a:rPr>
              <a:t>AWS 공식 문서</a:t>
            </a:r>
          </a:p>
        </p:txBody>
      </p:sp>
      <p:sp>
        <p:nvSpPr>
          <p:cNvPr id="9" name="capture-note">
            <a:extLst xmlns:a="http://schemas.openxmlformats.org/drawingml/2006/main">
              <a:ext uri="{FF2B5EF4-FFF2-40B4-BE49-F238E27FC236}">
                <a16:creationId xmlns:a16="http://schemas.microsoft.com/office/drawing/2014/main" id="{C7F78140-714D-45DD-876C-A09C35FBB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88C"/>
                </a:solidFill>
              </a:defRPr>
            </a:pPr>
            <a:r>
              <a:rPr sz="1275" b="0">
                <a:solidFill>
                  <a:srgbClr val="66788C"/>
                </a:solidFill>
              </a:rPr>
              <a:t>화면 모양은 바뀔 수 있습니다. 버튼 위치보다 메뉴 이름과 리소스 상태를 기준으로 찾습니다.</a:t>
            </a:r>
          </a:p>
        </p:txBody>
      </p:sp>
    </p:spTree>
    <p:extLst>
      <p:ext uri="{BB962C8B-B14F-4D97-AF65-F5344CB8AC3E}">
        <p14:creationId xmlns:p14="http://schemas.microsoft.com/office/powerpoint/2010/main" val="18485909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BF41DF86-0B7B-4757-895A-B3F831764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77722"/>
                </a:solidFill>
              </a:defRPr>
            </a:pPr>
            <a:r>
              <a:rPr sz="1350" b="1">
                <a:solidFill>
                  <a:srgbClr val="E77722"/>
                </a:solidFill>
              </a:rPr>
              <a:t>클라우드 MLOps · 13주차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0BD18A4-3090-4758-90A1-B183EAB83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048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5263C"/>
                </a:solidFill>
              </a:defRPr>
            </a:pPr>
            <a:r>
              <a:rPr sz="2850" b="1">
                <a:solidFill>
                  <a:srgbClr val="15263C"/>
                </a:solidFill>
              </a:rPr>
              <a:t>실습 화면 01: CloudWatch 대시보드 목록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6DF18DC4-4AAD-4567-A43F-5D05146B3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722"/>
          </a:solidFill>
          <a:ln xmlns:a="http://schemas.openxmlformats.org/drawingml/2006/main" w="0">
            <a:solidFill>
              <a:srgbClr val="E77722"/>
            </a:solidFill>
            <a:prstDash val="solid"/>
          </a:ln>
        </p:spPr>
      </p:sp>
      <p:sp>
        <p:nvSpPr>
          <p:cNvPr id="5" name="path-label">
            <a:extLst xmlns:a="http://schemas.openxmlformats.org/drawingml/2006/main">
              <a:ext uri="{FF2B5EF4-FFF2-40B4-BE49-F238E27FC236}">
                <a16:creationId xmlns:a16="http://schemas.microsoft.com/office/drawing/2014/main" id="{3C647319-E5B8-444A-AF0A-AEF91284E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097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77722"/>
                </a:solidFill>
              </a:defRPr>
            </a:pPr>
            <a:r>
              <a:rPr sz="1650" b="1">
                <a:solidFill>
                  <a:srgbClr val="E77722"/>
                </a:solidFill>
              </a:rPr>
              <a:t>콘솔 이동 경로</a:t>
            </a:r>
          </a:p>
        </p:txBody>
      </p:sp>
      <p:sp>
        <p:nvSpPr>
          <p:cNvPr id="6" name="console-path">
            <a:extLst xmlns:a="http://schemas.openxmlformats.org/drawingml/2006/main">
              <a:ext uri="{FF2B5EF4-FFF2-40B4-BE49-F238E27FC236}">
                <a16:creationId xmlns:a16="http://schemas.microsoft.com/office/drawing/2014/main" id="{754544F9-3751-4F27-A582-FD868D1B8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90750"/>
            <a:ext cx="447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5263C"/>
                </a:solidFill>
              </a:defRPr>
            </a:pPr>
            <a:r>
              <a:rPr sz="1950" b="1">
                <a:solidFill>
                  <a:srgbClr val="15263C"/>
                </a:solidFill>
              </a:rPr>
              <a:t>CloudWatch → Dashboards → Custom dashboards</a:t>
            </a:r>
          </a:p>
        </p:txBody>
      </p:sp>
      <p:sp>
        <p:nvSpPr>
          <p:cNvPr id="7" name="screen-check">
            <a:extLst xmlns:a="http://schemas.openxmlformats.org/drawingml/2006/main">
              <a:ext uri="{FF2B5EF4-FFF2-40B4-BE49-F238E27FC236}">
                <a16:creationId xmlns:a16="http://schemas.microsoft.com/office/drawing/2014/main" id="{D16299EC-7C24-4374-B1BC-3C8022939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24200"/>
            <a:ext cx="4476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화면에서 확인할 것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대시보드가 늦게 로드될 수 있으므로 목록 개수와 로딩 상태를 구분한다.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실습 원칙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메뉴 이름과 리소스 상태를 기준으로 찾습니다.</a:t>
            </a:r>
          </a:p>
        </p:txBody>
      </p:sp>
      <p:sp>
        <p:nvSpPr>
          <p:cNvPr id="8" name="official-links">
            <a:extLst xmlns:a="http://schemas.openxmlformats.org/drawingml/2006/main">
              <a:ext uri="{FF2B5EF4-FFF2-40B4-BE49-F238E27FC236}">
                <a16:creationId xmlns:a16="http://schemas.microsoft.com/office/drawing/2014/main" id="{D5FAF1F0-E4B3-4C51-8CD4-C68101D3D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05375"/>
            <a:ext cx="4476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EA6C0"/>
            </a:solidFill>
            <a:prstDash val="solid"/>
          </a:ln>
        </p:spPr>
        <p:txBody>
          <a:bodyPr xmlns:a="http://schemas.openxmlformats.org/drawingml/2006/main" lIns="171450" tIns="95250" rIns="171450" bIns="95250" anchor="ctr"/>
          <a:lstStyle xmlns:a="http://schemas.openxmlformats.org/drawingml/2006/main"/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67f971d08a80426a"/>
              </a:rPr>
              <a:t>AWS 콘솔 열기</a:t>
            </a:r>
          </a:p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7a6d9470c158448a"/>
              </a:rPr>
              <a:t>AWS 공식 문서</a:t>
            </a:r>
          </a:p>
        </p:txBody>
      </p:sp>
      <p:sp>
        <p:nvSpPr>
          <p:cNvPr id="9" name="capture-note">
            <a:extLst xmlns:a="http://schemas.openxmlformats.org/drawingml/2006/main">
              <a:ext uri="{FF2B5EF4-FFF2-40B4-BE49-F238E27FC236}">
                <a16:creationId xmlns:a16="http://schemas.microsoft.com/office/drawing/2014/main" id="{C7F78140-714D-45DD-876C-A09C35FBB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88C"/>
                </a:solidFill>
              </a:defRPr>
            </a:pPr>
            <a:r>
              <a:rPr sz="1275" b="0">
                <a:solidFill>
                  <a:srgbClr val="66788C"/>
                </a:solidFill>
              </a:rPr>
              <a:t>실제 AWS 콘솔 화면 · 서울 리전 · 2026-08-24 · 계정 번호 영역 제외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fe86d09cc7499a"/>
          <a:stretch xmlns:a="http://schemas.openxmlformats.org/drawingml/2006/main"/>
        </p:blipFill>
        <p:spPr>
          <a:xfrm xmlns:a="http://schemas.openxmlformats.org/drawingml/2006/main">
            <a:off x="571500" y="2032992"/>
            <a:ext cx="5810250" cy="3268266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</p:spTree>
    <p:extLst>
      <p:ext uri="{BB962C8B-B14F-4D97-AF65-F5344CB8AC3E}">
        <p14:creationId xmlns:p14="http://schemas.microsoft.com/office/powerpoint/2010/main" val="18485909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BF41DF86-0B7B-4757-895A-B3F831764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77722"/>
                </a:solidFill>
              </a:defRPr>
            </a:pPr>
            <a:r>
              <a:rPr sz="1350" b="1">
                <a:solidFill>
                  <a:srgbClr val="E77722"/>
                </a:solidFill>
              </a:rPr>
              <a:t>클라우드 MLOps · 13주차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0BD18A4-3090-4758-90A1-B183EAB83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048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5263C"/>
                </a:solidFill>
              </a:defRPr>
            </a:pPr>
            <a:r>
              <a:rPr sz="2850" b="1">
                <a:solidFill>
                  <a:srgbClr val="15263C"/>
                </a:solidFill>
              </a:rPr>
              <a:t>실습 화면 02: 로그·지표·대시보드·경보 생성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6DF18DC4-4AAD-4567-A43F-5D05146B3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722"/>
          </a:solidFill>
          <a:ln xmlns:a="http://schemas.openxmlformats.org/drawingml/2006/main" w="0">
            <a:solidFill>
              <a:srgbClr val="E77722"/>
            </a:solidFill>
            <a:prstDash val="solid"/>
          </a:ln>
        </p:spPr>
      </p:sp>
      <p:sp>
        <p:nvSpPr>
          <p:cNvPr id="5" name="path-label">
            <a:extLst xmlns:a="http://schemas.openxmlformats.org/drawingml/2006/main">
              <a:ext uri="{FF2B5EF4-FFF2-40B4-BE49-F238E27FC236}">
                <a16:creationId xmlns:a16="http://schemas.microsoft.com/office/drawing/2014/main" id="{3C647319-E5B8-444A-AF0A-AEF91284E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097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77722"/>
                </a:solidFill>
              </a:defRPr>
            </a:pPr>
            <a:r>
              <a:rPr sz="1650" b="1">
                <a:solidFill>
                  <a:srgbClr val="E77722"/>
                </a:solidFill>
              </a:rPr>
              <a:t>콘솔 이동 경로</a:t>
            </a:r>
          </a:p>
        </p:txBody>
      </p:sp>
      <p:sp>
        <p:nvSpPr>
          <p:cNvPr id="6" name="console-path">
            <a:extLst xmlns:a="http://schemas.openxmlformats.org/drawingml/2006/main">
              <a:ext uri="{FF2B5EF4-FFF2-40B4-BE49-F238E27FC236}">
                <a16:creationId xmlns:a16="http://schemas.microsoft.com/office/drawing/2014/main" id="{754544F9-3751-4F27-A582-FD868D1B8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90750"/>
            <a:ext cx="447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5263C"/>
                </a:solidFill>
              </a:defRPr>
            </a:pPr>
            <a:r>
              <a:rPr sz="1950" b="1">
                <a:solidFill>
                  <a:srgbClr val="15263C"/>
                </a:solidFill>
              </a:rPr>
              <a:t>CloudShell → logs·cloudwatch 명령 실행</a:t>
            </a:r>
          </a:p>
        </p:txBody>
      </p:sp>
      <p:sp>
        <p:nvSpPr>
          <p:cNvPr id="7" name="screen-check">
            <a:extLst xmlns:a="http://schemas.openxmlformats.org/drawingml/2006/main">
              <a:ext uri="{FF2B5EF4-FFF2-40B4-BE49-F238E27FC236}">
                <a16:creationId xmlns:a16="http://schemas.microsoft.com/office/drawing/2014/main" id="{D16299EC-7C24-4374-B1BC-3C8022939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24200"/>
            <a:ext cx="4476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화면에서 확인할 것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대시보드 검증 오류가 없고 새 경보가 데이터 부족으로 시작하는지 확인한다.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실습 원칙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메뉴 이름과 리소스 상태를 기준으로 찾습니다.</a:t>
            </a:r>
          </a:p>
        </p:txBody>
      </p:sp>
      <p:sp>
        <p:nvSpPr>
          <p:cNvPr id="8" name="official-links">
            <a:extLst xmlns:a="http://schemas.openxmlformats.org/drawingml/2006/main">
              <a:ext uri="{FF2B5EF4-FFF2-40B4-BE49-F238E27FC236}">
                <a16:creationId xmlns:a16="http://schemas.microsoft.com/office/drawing/2014/main" id="{D5FAF1F0-E4B3-4C51-8CD4-C68101D3D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05375"/>
            <a:ext cx="4476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EA6C0"/>
            </a:solidFill>
            <a:prstDash val="solid"/>
          </a:ln>
        </p:spPr>
        <p:txBody>
          <a:bodyPr xmlns:a="http://schemas.openxmlformats.org/drawingml/2006/main" lIns="171450" tIns="95250" rIns="171450" bIns="95250" anchor="ctr"/>
          <a:lstStyle xmlns:a="http://schemas.openxmlformats.org/drawingml/2006/main"/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b5445e3cd34d4596"/>
              </a:rPr>
              <a:t>AWS 콘솔 열기</a:t>
            </a:r>
          </a:p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5574556181e74f5a"/>
              </a:rPr>
              <a:t>AWS 공식 문서</a:t>
            </a:r>
          </a:p>
        </p:txBody>
      </p:sp>
      <p:sp>
        <p:nvSpPr>
          <p:cNvPr id="9" name="capture-note">
            <a:extLst xmlns:a="http://schemas.openxmlformats.org/drawingml/2006/main">
              <a:ext uri="{FF2B5EF4-FFF2-40B4-BE49-F238E27FC236}">
                <a16:creationId xmlns:a16="http://schemas.microsoft.com/office/drawing/2014/main" id="{C7F78140-714D-45DD-876C-A09C35FBB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88C"/>
                </a:solidFill>
              </a:defRPr>
            </a:pPr>
            <a:r>
              <a:rPr sz="1275" b="0">
                <a:solidFill>
                  <a:srgbClr val="66788C"/>
                </a:solidFill>
              </a:rPr>
              <a:t>실제 AWS 콘솔 화면 · 서울 리전 · 2026-08-24 · 계정 번호 영역 제외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6db7adb3ab47ac"/>
          <a:stretch xmlns:a="http://schemas.openxmlformats.org/drawingml/2006/main"/>
        </p:blipFill>
        <p:spPr>
          <a:xfrm xmlns:a="http://schemas.openxmlformats.org/drawingml/2006/main">
            <a:off x="571500" y="2032992"/>
            <a:ext cx="5810250" cy="3268266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</p:spTree>
    <p:extLst>
      <p:ext uri="{BB962C8B-B14F-4D97-AF65-F5344CB8AC3E}">
        <p14:creationId xmlns:p14="http://schemas.microsoft.com/office/powerpoint/2010/main" val="18485909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BF41DF86-0B7B-4757-895A-B3F831764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77722"/>
                </a:solidFill>
              </a:defRPr>
            </a:pPr>
            <a:r>
              <a:rPr sz="1350" b="1">
                <a:solidFill>
                  <a:srgbClr val="E77722"/>
                </a:solidFill>
              </a:rPr>
              <a:t>클라우드 MLOps · 13주차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0BD18A4-3090-4758-90A1-B183EAB83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048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5263C"/>
                </a:solidFill>
              </a:defRPr>
            </a:pPr>
            <a:r>
              <a:rPr sz="2850" b="1">
                <a:solidFill>
                  <a:srgbClr val="15263C"/>
                </a:solidFill>
              </a:rPr>
              <a:t>실습 화면 03: 13주차 대시보드 생성 확인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6DF18DC4-4AAD-4567-A43F-5D05146B3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722"/>
          </a:solidFill>
          <a:ln xmlns:a="http://schemas.openxmlformats.org/drawingml/2006/main" w="0">
            <a:solidFill>
              <a:srgbClr val="E77722"/>
            </a:solidFill>
            <a:prstDash val="solid"/>
          </a:ln>
        </p:spPr>
      </p:sp>
      <p:sp>
        <p:nvSpPr>
          <p:cNvPr id="5" name="path-label">
            <a:extLst xmlns:a="http://schemas.openxmlformats.org/drawingml/2006/main">
              <a:ext uri="{FF2B5EF4-FFF2-40B4-BE49-F238E27FC236}">
                <a16:creationId xmlns:a16="http://schemas.microsoft.com/office/drawing/2014/main" id="{3C647319-E5B8-444A-AF0A-AEF91284E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097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77722"/>
                </a:solidFill>
              </a:defRPr>
            </a:pPr>
            <a:r>
              <a:rPr sz="1650" b="1">
                <a:solidFill>
                  <a:srgbClr val="E77722"/>
                </a:solidFill>
              </a:rPr>
              <a:t>콘솔 이동 경로</a:t>
            </a:r>
          </a:p>
        </p:txBody>
      </p:sp>
      <p:sp>
        <p:nvSpPr>
          <p:cNvPr id="6" name="console-path">
            <a:extLst xmlns:a="http://schemas.openxmlformats.org/drawingml/2006/main">
              <a:ext uri="{FF2B5EF4-FFF2-40B4-BE49-F238E27FC236}">
                <a16:creationId xmlns:a16="http://schemas.microsoft.com/office/drawing/2014/main" id="{754544F9-3751-4F27-A582-FD868D1B8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90750"/>
            <a:ext cx="447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5263C"/>
                </a:solidFill>
              </a:defRPr>
            </a:pPr>
            <a:r>
              <a:rPr sz="1950" b="1">
                <a:solidFill>
                  <a:srgbClr val="15263C"/>
                </a:solidFill>
              </a:rPr>
              <a:t>CloudWatch → Dashboards</a:t>
            </a:r>
          </a:p>
        </p:txBody>
      </p:sp>
      <p:sp>
        <p:nvSpPr>
          <p:cNvPr id="7" name="screen-check">
            <a:extLst xmlns:a="http://schemas.openxmlformats.org/drawingml/2006/main">
              <a:ext uri="{FF2B5EF4-FFF2-40B4-BE49-F238E27FC236}">
                <a16:creationId xmlns:a16="http://schemas.microsoft.com/office/drawing/2014/main" id="{D16299EC-7C24-4374-B1BC-3C8022939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24200"/>
            <a:ext cx="4476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화면에서 확인할 것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기존 대시보드와 ysu-mlops-week13이 함께 표시되는지 확인한다.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실습 원칙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메뉴 이름과 리소스 상태를 기준으로 찾습니다.</a:t>
            </a:r>
          </a:p>
        </p:txBody>
      </p:sp>
      <p:sp>
        <p:nvSpPr>
          <p:cNvPr id="8" name="official-links">
            <a:extLst xmlns:a="http://schemas.openxmlformats.org/drawingml/2006/main">
              <a:ext uri="{FF2B5EF4-FFF2-40B4-BE49-F238E27FC236}">
                <a16:creationId xmlns:a16="http://schemas.microsoft.com/office/drawing/2014/main" id="{D5FAF1F0-E4B3-4C51-8CD4-C68101D3D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05375"/>
            <a:ext cx="4476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EA6C0"/>
            </a:solidFill>
            <a:prstDash val="solid"/>
          </a:ln>
        </p:spPr>
        <p:txBody>
          <a:bodyPr xmlns:a="http://schemas.openxmlformats.org/drawingml/2006/main" lIns="171450" tIns="95250" rIns="171450" bIns="95250" anchor="ctr"/>
          <a:lstStyle xmlns:a="http://schemas.openxmlformats.org/drawingml/2006/main"/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4101730b2d8a4d68"/>
              </a:rPr>
              <a:t>AWS 콘솔 열기</a:t>
            </a:r>
          </a:p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41afa075a13847e0"/>
              </a:rPr>
              <a:t>AWS 공식 문서</a:t>
            </a:r>
          </a:p>
        </p:txBody>
      </p:sp>
      <p:sp>
        <p:nvSpPr>
          <p:cNvPr id="9" name="capture-note">
            <a:extLst xmlns:a="http://schemas.openxmlformats.org/drawingml/2006/main">
              <a:ext uri="{FF2B5EF4-FFF2-40B4-BE49-F238E27FC236}">
                <a16:creationId xmlns:a16="http://schemas.microsoft.com/office/drawing/2014/main" id="{C7F78140-714D-45DD-876C-A09C35FBB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88C"/>
                </a:solidFill>
              </a:defRPr>
            </a:pPr>
            <a:r>
              <a:rPr sz="1275" b="0">
                <a:solidFill>
                  <a:srgbClr val="66788C"/>
                </a:solidFill>
              </a:rPr>
              <a:t>실제 AWS 콘솔 화면 · 서울 리전 · 2026-08-24 · 계정 번호 영역 제외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439da576394778"/>
          <a:stretch xmlns:a="http://schemas.openxmlformats.org/drawingml/2006/main"/>
        </p:blipFill>
        <p:spPr>
          <a:xfrm xmlns:a="http://schemas.openxmlformats.org/drawingml/2006/main">
            <a:off x="571500" y="2032992"/>
            <a:ext cx="5810250" cy="3268266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</p:spTree>
    <p:extLst>
      <p:ext uri="{BB962C8B-B14F-4D97-AF65-F5344CB8AC3E}">
        <p14:creationId xmlns:p14="http://schemas.microsoft.com/office/powerpoint/2010/main" val="18485909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BF41DF86-0B7B-4757-895A-B3F831764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77722"/>
                </a:solidFill>
              </a:defRPr>
            </a:pPr>
            <a:r>
              <a:rPr sz="1350" b="1">
                <a:solidFill>
                  <a:srgbClr val="E77722"/>
                </a:solidFill>
              </a:rPr>
              <a:t>클라우드 MLOps · 13주차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0BD18A4-3090-4758-90A1-B183EAB83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048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5263C"/>
                </a:solidFill>
              </a:defRPr>
            </a:pPr>
            <a:r>
              <a:rPr sz="2850" b="1">
                <a:solidFill>
                  <a:srgbClr val="15263C"/>
                </a:solidFill>
              </a:rPr>
              <a:t>실습 화면 04: 운영 대시보드와 로그 위젯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6DF18DC4-4AAD-4567-A43F-5D05146B3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722"/>
          </a:solidFill>
          <a:ln xmlns:a="http://schemas.openxmlformats.org/drawingml/2006/main" w="0">
            <a:solidFill>
              <a:srgbClr val="E77722"/>
            </a:solidFill>
            <a:prstDash val="solid"/>
          </a:ln>
        </p:spPr>
      </p:sp>
      <p:sp>
        <p:nvSpPr>
          <p:cNvPr id="5" name="path-label">
            <a:extLst xmlns:a="http://schemas.openxmlformats.org/drawingml/2006/main">
              <a:ext uri="{FF2B5EF4-FFF2-40B4-BE49-F238E27FC236}">
                <a16:creationId xmlns:a16="http://schemas.microsoft.com/office/drawing/2014/main" id="{3C647319-E5B8-444A-AF0A-AEF91284E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097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77722"/>
                </a:solidFill>
              </a:defRPr>
            </a:pPr>
            <a:r>
              <a:rPr sz="1650" b="1">
                <a:solidFill>
                  <a:srgbClr val="E77722"/>
                </a:solidFill>
              </a:rPr>
              <a:t>콘솔 이동 경로</a:t>
            </a:r>
          </a:p>
        </p:txBody>
      </p:sp>
      <p:sp>
        <p:nvSpPr>
          <p:cNvPr id="6" name="console-path">
            <a:extLst xmlns:a="http://schemas.openxmlformats.org/drawingml/2006/main">
              <a:ext uri="{FF2B5EF4-FFF2-40B4-BE49-F238E27FC236}">
                <a16:creationId xmlns:a16="http://schemas.microsoft.com/office/drawing/2014/main" id="{754544F9-3751-4F27-A582-FD868D1B8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90750"/>
            <a:ext cx="447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5263C"/>
                </a:solidFill>
              </a:defRPr>
            </a:pPr>
            <a:r>
              <a:rPr sz="1950" b="1">
                <a:solidFill>
                  <a:srgbClr val="15263C"/>
                </a:solidFill>
              </a:rPr>
              <a:t>CloudWatch → Dashboards → ysu-mlops-week13</a:t>
            </a:r>
          </a:p>
        </p:txBody>
      </p:sp>
      <p:sp>
        <p:nvSpPr>
          <p:cNvPr id="7" name="screen-check">
            <a:extLst xmlns:a="http://schemas.openxmlformats.org/drawingml/2006/main">
              <a:ext uri="{FF2B5EF4-FFF2-40B4-BE49-F238E27FC236}">
                <a16:creationId xmlns:a16="http://schemas.microsoft.com/office/drawing/2014/main" id="{D16299EC-7C24-4374-B1BC-3C8022939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24200"/>
            <a:ext cx="4476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화면에서 확인할 것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요청·오류, 지연 시간, 최근 로그 위젯의 목적을 구분한다.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실습 원칙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메뉴 이름과 리소스 상태를 기준으로 찾습니다.</a:t>
            </a:r>
          </a:p>
        </p:txBody>
      </p:sp>
      <p:sp>
        <p:nvSpPr>
          <p:cNvPr id="8" name="official-links">
            <a:extLst xmlns:a="http://schemas.openxmlformats.org/drawingml/2006/main">
              <a:ext uri="{FF2B5EF4-FFF2-40B4-BE49-F238E27FC236}">
                <a16:creationId xmlns:a16="http://schemas.microsoft.com/office/drawing/2014/main" id="{D5FAF1F0-E4B3-4C51-8CD4-C68101D3D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05375"/>
            <a:ext cx="4476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EA6C0"/>
            </a:solidFill>
            <a:prstDash val="solid"/>
          </a:ln>
        </p:spPr>
        <p:txBody>
          <a:bodyPr xmlns:a="http://schemas.openxmlformats.org/drawingml/2006/main" lIns="171450" tIns="95250" rIns="171450" bIns="95250" anchor="ctr"/>
          <a:lstStyle xmlns:a="http://schemas.openxmlformats.org/drawingml/2006/main"/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26380c664994408e"/>
              </a:rPr>
              <a:t>AWS 콘솔 열기</a:t>
            </a:r>
          </a:p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2bca0028af254b88"/>
              </a:rPr>
              <a:t>AWS 공식 문서</a:t>
            </a:r>
          </a:p>
        </p:txBody>
      </p:sp>
      <p:sp>
        <p:nvSpPr>
          <p:cNvPr id="9" name="capture-note">
            <a:extLst xmlns:a="http://schemas.openxmlformats.org/drawingml/2006/main">
              <a:ext uri="{FF2B5EF4-FFF2-40B4-BE49-F238E27FC236}">
                <a16:creationId xmlns:a16="http://schemas.microsoft.com/office/drawing/2014/main" id="{C7F78140-714D-45DD-876C-A09C35FBB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88C"/>
                </a:solidFill>
              </a:defRPr>
            </a:pPr>
            <a:r>
              <a:rPr sz="1275" b="0">
                <a:solidFill>
                  <a:srgbClr val="66788C"/>
                </a:solidFill>
              </a:rPr>
              <a:t>실제 AWS 콘솔 화면 · 서울 리전 · 2026-08-24 · 계정 번호 영역 제외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c30f8e2bcc41f4"/>
          <a:stretch xmlns:a="http://schemas.openxmlformats.org/drawingml/2006/main"/>
        </p:blipFill>
        <p:spPr>
          <a:xfrm xmlns:a="http://schemas.openxmlformats.org/drawingml/2006/main">
            <a:off x="571500" y="2031987"/>
            <a:ext cx="5810250" cy="3270275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</p:spTree>
    <p:extLst>
      <p:ext uri="{BB962C8B-B14F-4D97-AF65-F5344CB8AC3E}">
        <p14:creationId xmlns:p14="http://schemas.microsoft.com/office/powerpoint/2010/main" val="18485909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BF41DF86-0B7B-4757-895A-B3F831764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77722"/>
                </a:solidFill>
              </a:defRPr>
            </a:pPr>
            <a:r>
              <a:rPr sz="1350" b="1">
                <a:solidFill>
                  <a:srgbClr val="E77722"/>
                </a:solidFill>
              </a:rPr>
              <a:t>클라우드 MLOps · 13주차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0BD18A4-3090-4758-90A1-B183EAB83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048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5263C"/>
                </a:solidFill>
              </a:defRPr>
            </a:pPr>
            <a:r>
              <a:rPr sz="2850" b="1">
                <a:solidFill>
                  <a:srgbClr val="15263C"/>
                </a:solidFill>
              </a:rPr>
              <a:t>실습 화면 05: 새 메트릭의 초기 전파 지연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6DF18DC4-4AAD-4567-A43F-5D05146B3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722"/>
          </a:solidFill>
          <a:ln xmlns:a="http://schemas.openxmlformats.org/drawingml/2006/main" w="0">
            <a:solidFill>
              <a:srgbClr val="E77722"/>
            </a:solidFill>
            <a:prstDash val="solid"/>
          </a:ln>
        </p:spPr>
      </p:sp>
      <p:sp>
        <p:nvSpPr>
          <p:cNvPr id="5" name="path-label">
            <a:extLst xmlns:a="http://schemas.openxmlformats.org/drawingml/2006/main">
              <a:ext uri="{FF2B5EF4-FFF2-40B4-BE49-F238E27FC236}">
                <a16:creationId xmlns:a16="http://schemas.microsoft.com/office/drawing/2014/main" id="{3C647319-E5B8-444A-AF0A-AEF91284E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097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77722"/>
                </a:solidFill>
              </a:defRPr>
            </a:pPr>
            <a:r>
              <a:rPr sz="1650" b="1">
                <a:solidFill>
                  <a:srgbClr val="E77722"/>
                </a:solidFill>
              </a:rPr>
              <a:t>콘솔 이동 경로</a:t>
            </a:r>
          </a:p>
        </p:txBody>
      </p:sp>
      <p:sp>
        <p:nvSpPr>
          <p:cNvPr id="6" name="console-path">
            <a:extLst xmlns:a="http://schemas.openxmlformats.org/drawingml/2006/main">
              <a:ext uri="{FF2B5EF4-FFF2-40B4-BE49-F238E27FC236}">
                <a16:creationId xmlns:a16="http://schemas.microsoft.com/office/drawing/2014/main" id="{754544F9-3751-4F27-A582-FD868D1B8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90750"/>
            <a:ext cx="447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5263C"/>
                </a:solidFill>
              </a:defRPr>
            </a:pPr>
            <a:r>
              <a:rPr sz="1950" b="1">
                <a:solidFill>
                  <a:srgbClr val="15263C"/>
                </a:solidFill>
              </a:rPr>
              <a:t>CloudShell → get-metric-statistics</a:t>
            </a:r>
          </a:p>
        </p:txBody>
      </p:sp>
      <p:sp>
        <p:nvSpPr>
          <p:cNvPr id="7" name="screen-check">
            <a:extLst xmlns:a="http://schemas.openxmlformats.org/drawingml/2006/main">
              <a:ext uri="{FF2B5EF4-FFF2-40B4-BE49-F238E27FC236}">
                <a16:creationId xmlns:a16="http://schemas.microsoft.com/office/drawing/2014/main" id="{D16299EC-7C24-4374-B1BC-3C8022939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24200"/>
            <a:ext cx="4476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화면에서 확인할 것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전송 직후에는 데이터 포인트가 비어도 설정 오류라고 단정하지 않는다.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실습 원칙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메뉴 이름과 리소스 상태를 기준으로 찾습니다.</a:t>
            </a:r>
          </a:p>
        </p:txBody>
      </p:sp>
      <p:sp>
        <p:nvSpPr>
          <p:cNvPr id="8" name="official-links">
            <a:extLst xmlns:a="http://schemas.openxmlformats.org/drawingml/2006/main">
              <a:ext uri="{FF2B5EF4-FFF2-40B4-BE49-F238E27FC236}">
                <a16:creationId xmlns:a16="http://schemas.microsoft.com/office/drawing/2014/main" id="{D5FAF1F0-E4B3-4C51-8CD4-C68101D3D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05375"/>
            <a:ext cx="4476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EA6C0"/>
            </a:solidFill>
            <a:prstDash val="solid"/>
          </a:ln>
        </p:spPr>
        <p:txBody>
          <a:bodyPr xmlns:a="http://schemas.openxmlformats.org/drawingml/2006/main" lIns="171450" tIns="95250" rIns="171450" bIns="95250" anchor="ctr"/>
          <a:lstStyle xmlns:a="http://schemas.openxmlformats.org/drawingml/2006/main"/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d293d26620f64826"/>
              </a:rPr>
              <a:t>AWS 콘솔 열기</a:t>
            </a:r>
          </a:p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8a6e4874b2ca4e32"/>
              </a:rPr>
              <a:t>AWS 공식 문서</a:t>
            </a:r>
          </a:p>
        </p:txBody>
      </p:sp>
      <p:sp>
        <p:nvSpPr>
          <p:cNvPr id="9" name="capture-note">
            <a:extLst xmlns:a="http://schemas.openxmlformats.org/drawingml/2006/main">
              <a:ext uri="{FF2B5EF4-FFF2-40B4-BE49-F238E27FC236}">
                <a16:creationId xmlns:a16="http://schemas.microsoft.com/office/drawing/2014/main" id="{C7F78140-714D-45DD-876C-A09C35FBB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88C"/>
                </a:solidFill>
              </a:defRPr>
            </a:pPr>
            <a:r>
              <a:rPr sz="1275" b="0">
                <a:solidFill>
                  <a:srgbClr val="66788C"/>
                </a:solidFill>
              </a:rPr>
              <a:t>실제 AWS 콘솔 화면 · 서울 리전 · 2026-08-24 · 계정 번호 영역 제외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19cf264291452c"/>
          <a:stretch xmlns:a="http://schemas.openxmlformats.org/drawingml/2006/main"/>
        </p:blipFill>
        <p:spPr>
          <a:xfrm xmlns:a="http://schemas.openxmlformats.org/drawingml/2006/main">
            <a:off x="571500" y="2032992"/>
            <a:ext cx="5810250" cy="3268266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</p:spTree>
    <p:extLst>
      <p:ext uri="{BB962C8B-B14F-4D97-AF65-F5344CB8AC3E}">
        <p14:creationId xmlns:p14="http://schemas.microsoft.com/office/powerpoint/2010/main" val="18485909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BF41DF86-0B7B-4757-895A-B3F831764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77722"/>
                </a:solidFill>
              </a:defRPr>
            </a:pPr>
            <a:r>
              <a:rPr sz="1350" b="1">
                <a:solidFill>
                  <a:srgbClr val="E77722"/>
                </a:solidFill>
              </a:rPr>
              <a:t>클라우드 MLOps · 13주차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0BD18A4-3090-4758-90A1-B183EAB83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048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5263C"/>
                </a:solidFill>
              </a:defRPr>
            </a:pPr>
            <a:r>
              <a:rPr sz="2850" b="1">
                <a:solidFill>
                  <a:srgbClr val="15263C"/>
                </a:solidFill>
              </a:rPr>
              <a:t>실습 화면 06: CloudWatch 로그 그룹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6DF18DC4-4AAD-4567-A43F-5D05146B3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722"/>
          </a:solidFill>
          <a:ln xmlns:a="http://schemas.openxmlformats.org/drawingml/2006/main" w="0">
            <a:solidFill>
              <a:srgbClr val="E77722"/>
            </a:solidFill>
            <a:prstDash val="solid"/>
          </a:ln>
        </p:spPr>
      </p:sp>
      <p:sp>
        <p:nvSpPr>
          <p:cNvPr id="5" name="path-label">
            <a:extLst xmlns:a="http://schemas.openxmlformats.org/drawingml/2006/main">
              <a:ext uri="{FF2B5EF4-FFF2-40B4-BE49-F238E27FC236}">
                <a16:creationId xmlns:a16="http://schemas.microsoft.com/office/drawing/2014/main" id="{3C647319-E5B8-444A-AF0A-AEF91284E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097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77722"/>
                </a:solidFill>
              </a:defRPr>
            </a:pPr>
            <a:r>
              <a:rPr sz="1650" b="1">
                <a:solidFill>
                  <a:srgbClr val="E77722"/>
                </a:solidFill>
              </a:rPr>
              <a:t>콘솔 이동 경로</a:t>
            </a:r>
          </a:p>
        </p:txBody>
      </p:sp>
      <p:sp>
        <p:nvSpPr>
          <p:cNvPr id="6" name="console-path">
            <a:extLst xmlns:a="http://schemas.openxmlformats.org/drawingml/2006/main">
              <a:ext uri="{FF2B5EF4-FFF2-40B4-BE49-F238E27FC236}">
                <a16:creationId xmlns:a16="http://schemas.microsoft.com/office/drawing/2014/main" id="{754544F9-3751-4F27-A582-FD868D1B8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90750"/>
            <a:ext cx="447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5263C"/>
                </a:solidFill>
              </a:defRPr>
            </a:pPr>
            <a:r>
              <a:rPr sz="1950" b="1">
                <a:solidFill>
                  <a:srgbClr val="15263C"/>
                </a:solidFill>
              </a:rPr>
              <a:t>CloudWatch → Logs → Log groups</a:t>
            </a:r>
          </a:p>
        </p:txBody>
      </p:sp>
      <p:sp>
        <p:nvSpPr>
          <p:cNvPr id="7" name="screen-check">
            <a:extLst xmlns:a="http://schemas.openxmlformats.org/drawingml/2006/main">
              <a:ext uri="{FF2B5EF4-FFF2-40B4-BE49-F238E27FC236}">
                <a16:creationId xmlns:a16="http://schemas.microsoft.com/office/drawing/2014/main" id="{D16299EC-7C24-4374-B1BC-3C8022939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24200"/>
            <a:ext cx="4476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화면에서 확인할 것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/ysu/mlops/week13 로그 그룹과 보존 기간을 확인한다.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실습 원칙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메뉴 이름과 리소스 상태를 기준으로 찾습니다.</a:t>
            </a:r>
          </a:p>
        </p:txBody>
      </p:sp>
      <p:sp>
        <p:nvSpPr>
          <p:cNvPr id="8" name="official-links">
            <a:extLst xmlns:a="http://schemas.openxmlformats.org/drawingml/2006/main">
              <a:ext uri="{FF2B5EF4-FFF2-40B4-BE49-F238E27FC236}">
                <a16:creationId xmlns:a16="http://schemas.microsoft.com/office/drawing/2014/main" id="{D5FAF1F0-E4B3-4C51-8CD4-C68101D3D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05375"/>
            <a:ext cx="4476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EA6C0"/>
            </a:solidFill>
            <a:prstDash val="solid"/>
          </a:ln>
        </p:spPr>
        <p:txBody>
          <a:bodyPr xmlns:a="http://schemas.openxmlformats.org/drawingml/2006/main" lIns="171450" tIns="95250" rIns="171450" bIns="95250" anchor="ctr"/>
          <a:lstStyle xmlns:a="http://schemas.openxmlformats.org/drawingml/2006/main"/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40988da231174c5a"/>
              </a:rPr>
              <a:t>AWS 콘솔 열기</a:t>
            </a:r>
          </a:p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2104246e90be4338"/>
              </a:rPr>
              <a:t>AWS 공식 문서</a:t>
            </a:r>
          </a:p>
        </p:txBody>
      </p:sp>
      <p:sp>
        <p:nvSpPr>
          <p:cNvPr id="9" name="capture-note">
            <a:extLst xmlns:a="http://schemas.openxmlformats.org/drawingml/2006/main">
              <a:ext uri="{FF2B5EF4-FFF2-40B4-BE49-F238E27FC236}">
                <a16:creationId xmlns:a16="http://schemas.microsoft.com/office/drawing/2014/main" id="{C7F78140-714D-45DD-876C-A09C35FBB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88C"/>
                </a:solidFill>
              </a:defRPr>
            </a:pPr>
            <a:r>
              <a:rPr sz="1275" b="0">
                <a:solidFill>
                  <a:srgbClr val="66788C"/>
                </a:solidFill>
              </a:rPr>
              <a:t>실제 AWS 콘솔 화면 · 서울 리전 · 2026-08-24 · 계정 번호 영역 제외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18a1f813b3438a"/>
          <a:stretch xmlns:a="http://schemas.openxmlformats.org/drawingml/2006/main"/>
        </p:blipFill>
        <p:spPr>
          <a:xfrm xmlns:a="http://schemas.openxmlformats.org/drawingml/2006/main">
            <a:off x="571500" y="2032992"/>
            <a:ext cx="5810250" cy="3268266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</p:spTree>
    <p:extLst>
      <p:ext uri="{BB962C8B-B14F-4D97-AF65-F5344CB8AC3E}">
        <p14:creationId xmlns:p14="http://schemas.microsoft.com/office/powerpoint/2010/main" val="18485909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BF41DF86-0B7B-4757-895A-B3F831764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77722"/>
                </a:solidFill>
              </a:defRPr>
            </a:pPr>
            <a:r>
              <a:rPr sz="1350" b="1">
                <a:solidFill>
                  <a:srgbClr val="E77722"/>
                </a:solidFill>
              </a:rPr>
              <a:t>클라우드 MLOps · 13주차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0BD18A4-3090-4758-90A1-B183EAB83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048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5263C"/>
                </a:solidFill>
              </a:defRPr>
            </a:pPr>
            <a:r>
              <a:rPr sz="2850" b="1">
                <a:solidFill>
                  <a:srgbClr val="15263C"/>
                </a:solidFill>
              </a:rPr>
              <a:t>실습 화면 07: 로그 스트림 목록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6DF18DC4-4AAD-4567-A43F-5D05146B3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722"/>
          </a:solidFill>
          <a:ln xmlns:a="http://schemas.openxmlformats.org/drawingml/2006/main" w="0">
            <a:solidFill>
              <a:srgbClr val="E77722"/>
            </a:solidFill>
            <a:prstDash val="solid"/>
          </a:ln>
        </p:spPr>
      </p:sp>
      <p:sp>
        <p:nvSpPr>
          <p:cNvPr id="5" name="path-label">
            <a:extLst xmlns:a="http://schemas.openxmlformats.org/drawingml/2006/main">
              <a:ext uri="{FF2B5EF4-FFF2-40B4-BE49-F238E27FC236}">
                <a16:creationId xmlns:a16="http://schemas.microsoft.com/office/drawing/2014/main" id="{3C647319-E5B8-444A-AF0A-AEF91284E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097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77722"/>
                </a:solidFill>
              </a:defRPr>
            </a:pPr>
            <a:r>
              <a:rPr sz="1650" b="1">
                <a:solidFill>
                  <a:srgbClr val="E77722"/>
                </a:solidFill>
              </a:rPr>
              <a:t>콘솔 이동 경로</a:t>
            </a:r>
          </a:p>
        </p:txBody>
      </p:sp>
      <p:sp>
        <p:nvSpPr>
          <p:cNvPr id="6" name="console-path">
            <a:extLst xmlns:a="http://schemas.openxmlformats.org/drawingml/2006/main">
              <a:ext uri="{FF2B5EF4-FFF2-40B4-BE49-F238E27FC236}">
                <a16:creationId xmlns:a16="http://schemas.microsoft.com/office/drawing/2014/main" id="{754544F9-3751-4F27-A582-FD868D1B8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90750"/>
            <a:ext cx="447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5263C"/>
                </a:solidFill>
              </a:defRPr>
            </a:pPr>
            <a:r>
              <a:rPr sz="1950" b="1">
                <a:solidFill>
                  <a:srgbClr val="15263C"/>
                </a:solidFill>
              </a:rPr>
              <a:t>CloudWatch → Log groups → /ysu/mlops/week13 → Log streams</a:t>
            </a:r>
          </a:p>
        </p:txBody>
      </p:sp>
      <p:sp>
        <p:nvSpPr>
          <p:cNvPr id="7" name="screen-check">
            <a:extLst xmlns:a="http://schemas.openxmlformats.org/drawingml/2006/main">
              <a:ext uri="{FF2B5EF4-FFF2-40B4-BE49-F238E27FC236}">
                <a16:creationId xmlns:a16="http://schemas.microsoft.com/office/drawing/2014/main" id="{D16299EC-7C24-4374-B1BC-3C8022939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24200"/>
            <a:ext cx="4476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화면에서 확인할 것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lab 스트림의 마지막 이벤트 시간을 확인한다.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실습 원칙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메뉴 이름과 리소스 상태를 기준으로 찾습니다.</a:t>
            </a:r>
          </a:p>
        </p:txBody>
      </p:sp>
      <p:sp>
        <p:nvSpPr>
          <p:cNvPr id="8" name="official-links">
            <a:extLst xmlns:a="http://schemas.openxmlformats.org/drawingml/2006/main">
              <a:ext uri="{FF2B5EF4-FFF2-40B4-BE49-F238E27FC236}">
                <a16:creationId xmlns:a16="http://schemas.microsoft.com/office/drawing/2014/main" id="{D5FAF1F0-E4B3-4C51-8CD4-C68101D3D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05375"/>
            <a:ext cx="4476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EA6C0"/>
            </a:solidFill>
            <a:prstDash val="solid"/>
          </a:ln>
        </p:spPr>
        <p:txBody>
          <a:bodyPr xmlns:a="http://schemas.openxmlformats.org/drawingml/2006/main" lIns="171450" tIns="95250" rIns="171450" bIns="95250" anchor="ctr"/>
          <a:lstStyle xmlns:a="http://schemas.openxmlformats.org/drawingml/2006/main"/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6066e2a050b04f74"/>
              </a:rPr>
              <a:t>AWS 콘솔 열기</a:t>
            </a:r>
          </a:p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c7465e55968f4cae"/>
              </a:rPr>
              <a:t>AWS 공식 문서</a:t>
            </a:r>
          </a:p>
        </p:txBody>
      </p:sp>
      <p:sp>
        <p:nvSpPr>
          <p:cNvPr id="9" name="capture-note">
            <a:extLst xmlns:a="http://schemas.openxmlformats.org/drawingml/2006/main">
              <a:ext uri="{FF2B5EF4-FFF2-40B4-BE49-F238E27FC236}">
                <a16:creationId xmlns:a16="http://schemas.microsoft.com/office/drawing/2014/main" id="{C7F78140-714D-45DD-876C-A09C35FBB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88C"/>
                </a:solidFill>
              </a:defRPr>
            </a:pPr>
            <a:r>
              <a:rPr sz="1275" b="0">
                <a:solidFill>
                  <a:srgbClr val="66788C"/>
                </a:solidFill>
              </a:rPr>
              <a:t>실제 AWS 콘솔 화면 · 서울 리전 · 2026-08-24 · 계정 번호 영역 제외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4e182681bb4297"/>
          <a:stretch xmlns:a="http://schemas.openxmlformats.org/drawingml/2006/main"/>
        </p:blipFill>
        <p:spPr>
          <a:xfrm xmlns:a="http://schemas.openxmlformats.org/drawingml/2006/main">
            <a:off x="571500" y="2032992"/>
            <a:ext cx="5810250" cy="3268266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</p:spTree>
    <p:extLst>
      <p:ext uri="{BB962C8B-B14F-4D97-AF65-F5344CB8AC3E}">
        <p14:creationId xmlns:p14="http://schemas.microsoft.com/office/powerpoint/2010/main" val="18485909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BF41DF86-0B7B-4757-895A-B3F831764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77722"/>
                </a:solidFill>
              </a:defRPr>
            </a:pPr>
            <a:r>
              <a:rPr sz="1350" b="1">
                <a:solidFill>
                  <a:srgbClr val="E77722"/>
                </a:solidFill>
              </a:rPr>
              <a:t>클라우드 MLOps · 13주차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0BD18A4-3090-4758-90A1-B183EAB83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048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5263C"/>
                </a:solidFill>
              </a:defRPr>
            </a:pPr>
            <a:r>
              <a:rPr sz="2850" b="1">
                <a:solidFill>
                  <a:srgbClr val="15263C"/>
                </a:solidFill>
              </a:rPr>
              <a:t>실습 화면 08: 애플리케이션 로그 이벤트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6DF18DC4-4AAD-4567-A43F-5D05146B3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722"/>
          </a:solidFill>
          <a:ln xmlns:a="http://schemas.openxmlformats.org/drawingml/2006/main" w="0">
            <a:solidFill>
              <a:srgbClr val="E77722"/>
            </a:solidFill>
            <a:prstDash val="solid"/>
          </a:ln>
        </p:spPr>
      </p:sp>
      <p:sp>
        <p:nvSpPr>
          <p:cNvPr id="5" name="path-label">
            <a:extLst xmlns:a="http://schemas.openxmlformats.org/drawingml/2006/main">
              <a:ext uri="{FF2B5EF4-FFF2-40B4-BE49-F238E27FC236}">
                <a16:creationId xmlns:a16="http://schemas.microsoft.com/office/drawing/2014/main" id="{3C647319-E5B8-444A-AF0A-AEF91284E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097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77722"/>
                </a:solidFill>
              </a:defRPr>
            </a:pPr>
            <a:r>
              <a:rPr sz="1650" b="1">
                <a:solidFill>
                  <a:srgbClr val="E77722"/>
                </a:solidFill>
              </a:rPr>
              <a:t>콘솔 이동 경로</a:t>
            </a:r>
          </a:p>
        </p:txBody>
      </p:sp>
      <p:sp>
        <p:nvSpPr>
          <p:cNvPr id="6" name="console-path">
            <a:extLst xmlns:a="http://schemas.openxmlformats.org/drawingml/2006/main">
              <a:ext uri="{FF2B5EF4-FFF2-40B4-BE49-F238E27FC236}">
                <a16:creationId xmlns:a16="http://schemas.microsoft.com/office/drawing/2014/main" id="{754544F9-3751-4F27-A582-FD868D1B8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90750"/>
            <a:ext cx="447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5263C"/>
                </a:solidFill>
              </a:defRPr>
            </a:pPr>
            <a:r>
              <a:rPr sz="1950" b="1">
                <a:solidFill>
                  <a:srgbClr val="15263C"/>
                </a:solidFill>
              </a:rPr>
              <a:t>CloudWatch → Log groups → /ysu/mlops/week13 → lab</a:t>
            </a:r>
          </a:p>
        </p:txBody>
      </p:sp>
      <p:sp>
        <p:nvSpPr>
          <p:cNvPr id="7" name="screen-check">
            <a:extLst xmlns:a="http://schemas.openxmlformats.org/drawingml/2006/main">
              <a:ext uri="{FF2B5EF4-FFF2-40B4-BE49-F238E27FC236}">
                <a16:creationId xmlns:a16="http://schemas.microsoft.com/office/drawing/2014/main" id="{D16299EC-7C24-4374-B1BC-3C8022939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24200"/>
            <a:ext cx="4476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화면에서 확인할 것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시작, health, 예측 요청을 시간순으로 연결해 본다.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실습 원칙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메뉴 이름과 리소스 상태를 기준으로 찾습니다.</a:t>
            </a:r>
          </a:p>
        </p:txBody>
      </p:sp>
      <p:sp>
        <p:nvSpPr>
          <p:cNvPr id="8" name="official-links">
            <a:extLst xmlns:a="http://schemas.openxmlformats.org/drawingml/2006/main">
              <a:ext uri="{FF2B5EF4-FFF2-40B4-BE49-F238E27FC236}">
                <a16:creationId xmlns:a16="http://schemas.microsoft.com/office/drawing/2014/main" id="{D5FAF1F0-E4B3-4C51-8CD4-C68101D3D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05375"/>
            <a:ext cx="4476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EA6C0"/>
            </a:solidFill>
            <a:prstDash val="solid"/>
          </a:ln>
        </p:spPr>
        <p:txBody>
          <a:bodyPr xmlns:a="http://schemas.openxmlformats.org/drawingml/2006/main" lIns="171450" tIns="95250" rIns="171450" bIns="95250" anchor="ctr"/>
          <a:lstStyle xmlns:a="http://schemas.openxmlformats.org/drawingml/2006/main"/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57514ed0a5954e94"/>
              </a:rPr>
              <a:t>AWS 콘솔 열기</a:t>
            </a:r>
          </a:p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5e467b185a104879"/>
              </a:rPr>
              <a:t>AWS 공식 문서</a:t>
            </a:r>
          </a:p>
        </p:txBody>
      </p:sp>
      <p:sp>
        <p:nvSpPr>
          <p:cNvPr id="9" name="capture-note">
            <a:extLst xmlns:a="http://schemas.openxmlformats.org/drawingml/2006/main">
              <a:ext uri="{FF2B5EF4-FFF2-40B4-BE49-F238E27FC236}">
                <a16:creationId xmlns:a16="http://schemas.microsoft.com/office/drawing/2014/main" id="{C7F78140-714D-45DD-876C-A09C35FBB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88C"/>
                </a:solidFill>
              </a:defRPr>
            </a:pPr>
            <a:r>
              <a:rPr sz="1275" b="0">
                <a:solidFill>
                  <a:srgbClr val="66788C"/>
                </a:solidFill>
              </a:rPr>
              <a:t>실제 AWS 콘솔 화면 · 서울 리전 · 2026-08-24 · 계정 번호 영역 제외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13bb4ee6ef4981"/>
          <a:stretch xmlns:a="http://schemas.openxmlformats.org/drawingml/2006/main"/>
        </p:blipFill>
        <p:spPr>
          <a:xfrm xmlns:a="http://schemas.openxmlformats.org/drawingml/2006/main">
            <a:off x="571500" y="2032992"/>
            <a:ext cx="5810250" cy="3268266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</p:spTree>
    <p:extLst>
      <p:ext uri="{BB962C8B-B14F-4D97-AF65-F5344CB8AC3E}">
        <p14:creationId xmlns:p14="http://schemas.microsoft.com/office/powerpoint/2010/main" val="18485909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BF41DF86-0B7B-4757-895A-B3F831764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77722"/>
                </a:solidFill>
              </a:defRPr>
            </a:pPr>
            <a:r>
              <a:rPr sz="1350" b="1">
                <a:solidFill>
                  <a:srgbClr val="E77722"/>
                </a:solidFill>
              </a:rPr>
              <a:t>클라우드 MLOps · 13주차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0BD18A4-3090-4758-90A1-B183EAB83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048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5263C"/>
                </a:solidFill>
              </a:defRPr>
            </a:pPr>
            <a:r>
              <a:rPr sz="2850" b="1">
                <a:solidFill>
                  <a:srgbClr val="15263C"/>
                </a:solidFill>
              </a:rPr>
              <a:t>실습 화면 09: 경보 목록의 정상 상태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6DF18DC4-4AAD-4567-A43F-5D05146B3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722"/>
          </a:solidFill>
          <a:ln xmlns:a="http://schemas.openxmlformats.org/drawingml/2006/main" w="0">
            <a:solidFill>
              <a:srgbClr val="E77722"/>
            </a:solidFill>
            <a:prstDash val="solid"/>
          </a:ln>
        </p:spPr>
      </p:sp>
      <p:sp>
        <p:nvSpPr>
          <p:cNvPr id="5" name="path-label">
            <a:extLst xmlns:a="http://schemas.openxmlformats.org/drawingml/2006/main">
              <a:ext uri="{FF2B5EF4-FFF2-40B4-BE49-F238E27FC236}">
                <a16:creationId xmlns:a16="http://schemas.microsoft.com/office/drawing/2014/main" id="{3C647319-E5B8-444A-AF0A-AEF91284E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097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77722"/>
                </a:solidFill>
              </a:defRPr>
            </a:pPr>
            <a:r>
              <a:rPr sz="1650" b="1">
                <a:solidFill>
                  <a:srgbClr val="E77722"/>
                </a:solidFill>
              </a:rPr>
              <a:t>콘솔 이동 경로</a:t>
            </a:r>
          </a:p>
        </p:txBody>
      </p:sp>
      <p:sp>
        <p:nvSpPr>
          <p:cNvPr id="6" name="console-path">
            <a:extLst xmlns:a="http://schemas.openxmlformats.org/drawingml/2006/main">
              <a:ext uri="{FF2B5EF4-FFF2-40B4-BE49-F238E27FC236}">
                <a16:creationId xmlns:a16="http://schemas.microsoft.com/office/drawing/2014/main" id="{754544F9-3751-4F27-A582-FD868D1B8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90750"/>
            <a:ext cx="447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5263C"/>
                </a:solidFill>
              </a:defRPr>
            </a:pPr>
            <a:r>
              <a:rPr sz="1950" b="1">
                <a:solidFill>
                  <a:srgbClr val="15263C"/>
                </a:solidFill>
              </a:rPr>
              <a:t>CloudWatch → Alarms → All alarms</a:t>
            </a:r>
          </a:p>
        </p:txBody>
      </p:sp>
      <p:sp>
        <p:nvSpPr>
          <p:cNvPr id="7" name="screen-check">
            <a:extLst xmlns:a="http://schemas.openxmlformats.org/drawingml/2006/main">
              <a:ext uri="{FF2B5EF4-FFF2-40B4-BE49-F238E27FC236}">
                <a16:creationId xmlns:a16="http://schemas.microsoft.com/office/drawing/2014/main" id="{D16299EC-7C24-4374-B1BC-3C8022939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24200"/>
            <a:ext cx="4476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화면에서 확인할 것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LatencyMs 500ms 초과 조건과 현재 정상 상태를 확인한다.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실습 원칙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메뉴 이름과 리소스 상태를 기준으로 찾습니다.</a:t>
            </a:r>
          </a:p>
        </p:txBody>
      </p:sp>
      <p:sp>
        <p:nvSpPr>
          <p:cNvPr id="8" name="official-links">
            <a:extLst xmlns:a="http://schemas.openxmlformats.org/drawingml/2006/main">
              <a:ext uri="{FF2B5EF4-FFF2-40B4-BE49-F238E27FC236}">
                <a16:creationId xmlns:a16="http://schemas.microsoft.com/office/drawing/2014/main" id="{D5FAF1F0-E4B3-4C51-8CD4-C68101D3D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05375"/>
            <a:ext cx="4476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EA6C0"/>
            </a:solidFill>
            <a:prstDash val="solid"/>
          </a:ln>
        </p:spPr>
        <p:txBody>
          <a:bodyPr xmlns:a="http://schemas.openxmlformats.org/drawingml/2006/main" lIns="171450" tIns="95250" rIns="171450" bIns="95250" anchor="ctr"/>
          <a:lstStyle xmlns:a="http://schemas.openxmlformats.org/drawingml/2006/main"/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ac4d38b5920e4323"/>
              </a:rPr>
              <a:t>AWS 콘솔 열기</a:t>
            </a:r>
          </a:p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df4dc11eeb7d4eed"/>
              </a:rPr>
              <a:t>AWS 공식 문서</a:t>
            </a:r>
          </a:p>
        </p:txBody>
      </p:sp>
      <p:sp>
        <p:nvSpPr>
          <p:cNvPr id="9" name="capture-note">
            <a:extLst xmlns:a="http://schemas.openxmlformats.org/drawingml/2006/main">
              <a:ext uri="{FF2B5EF4-FFF2-40B4-BE49-F238E27FC236}">
                <a16:creationId xmlns:a16="http://schemas.microsoft.com/office/drawing/2014/main" id="{C7F78140-714D-45DD-876C-A09C35FBB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88C"/>
                </a:solidFill>
              </a:defRPr>
            </a:pPr>
            <a:r>
              <a:rPr sz="1275" b="0">
                <a:solidFill>
                  <a:srgbClr val="66788C"/>
                </a:solidFill>
              </a:rPr>
              <a:t>실제 AWS 콘솔 화면 · 서울 리전 · 2026-08-24 · 계정 번호 영역 제외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f644d56b0944c6"/>
          <a:stretch xmlns:a="http://schemas.openxmlformats.org/drawingml/2006/main"/>
        </p:blipFill>
        <p:spPr>
          <a:xfrm xmlns:a="http://schemas.openxmlformats.org/drawingml/2006/main">
            <a:off x="571500" y="2032992"/>
            <a:ext cx="5810250" cy="3268266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</p:spTree>
    <p:extLst>
      <p:ext uri="{BB962C8B-B14F-4D97-AF65-F5344CB8AC3E}">
        <p14:creationId xmlns:p14="http://schemas.microsoft.com/office/powerpoint/2010/main" val="18485909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BF41DF86-0B7B-4757-895A-B3F831764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77722"/>
                </a:solidFill>
              </a:defRPr>
            </a:pPr>
            <a:r>
              <a:rPr sz="1350" b="1">
                <a:solidFill>
                  <a:srgbClr val="E77722"/>
                </a:solidFill>
              </a:rPr>
              <a:t>클라우드 MLOps · 13주차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0BD18A4-3090-4758-90A1-B183EAB83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048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5263C"/>
                </a:solidFill>
              </a:defRPr>
            </a:pPr>
            <a:r>
              <a:rPr sz="2850" b="1">
                <a:solidFill>
                  <a:srgbClr val="15263C"/>
                </a:solidFill>
              </a:rPr>
              <a:t>실습 화면 10: 지연 시간 경보 상세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6DF18DC4-4AAD-4567-A43F-5D05146B3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722"/>
          </a:solidFill>
          <a:ln xmlns:a="http://schemas.openxmlformats.org/drawingml/2006/main" w="0">
            <a:solidFill>
              <a:srgbClr val="E77722"/>
            </a:solidFill>
            <a:prstDash val="solid"/>
          </a:ln>
        </p:spPr>
      </p:sp>
      <p:sp>
        <p:nvSpPr>
          <p:cNvPr id="5" name="path-label">
            <a:extLst xmlns:a="http://schemas.openxmlformats.org/drawingml/2006/main">
              <a:ext uri="{FF2B5EF4-FFF2-40B4-BE49-F238E27FC236}">
                <a16:creationId xmlns:a16="http://schemas.microsoft.com/office/drawing/2014/main" id="{3C647319-E5B8-444A-AF0A-AEF91284E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097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77722"/>
                </a:solidFill>
              </a:defRPr>
            </a:pPr>
            <a:r>
              <a:rPr sz="1650" b="1">
                <a:solidFill>
                  <a:srgbClr val="E77722"/>
                </a:solidFill>
              </a:rPr>
              <a:t>콘솔 이동 경로</a:t>
            </a:r>
          </a:p>
        </p:txBody>
      </p:sp>
      <p:sp>
        <p:nvSpPr>
          <p:cNvPr id="6" name="console-path">
            <a:extLst xmlns:a="http://schemas.openxmlformats.org/drawingml/2006/main">
              <a:ext uri="{FF2B5EF4-FFF2-40B4-BE49-F238E27FC236}">
                <a16:creationId xmlns:a16="http://schemas.microsoft.com/office/drawing/2014/main" id="{754544F9-3751-4F27-A582-FD868D1B8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90750"/>
            <a:ext cx="447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5263C"/>
                </a:solidFill>
              </a:defRPr>
            </a:pPr>
            <a:r>
              <a:rPr sz="1950" b="1">
                <a:solidFill>
                  <a:srgbClr val="15263C"/>
                </a:solidFill>
              </a:rPr>
              <a:t>CloudWatch → Alarms → YSU-Week13-HighLatency</a:t>
            </a:r>
          </a:p>
        </p:txBody>
      </p:sp>
      <p:sp>
        <p:nvSpPr>
          <p:cNvPr id="7" name="screen-check">
            <a:extLst xmlns:a="http://schemas.openxmlformats.org/drawingml/2006/main">
              <a:ext uri="{FF2B5EF4-FFF2-40B4-BE49-F238E27FC236}">
                <a16:creationId xmlns:a16="http://schemas.microsoft.com/office/drawing/2014/main" id="{D16299EC-7C24-4374-B1BC-3C8022939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24200"/>
            <a:ext cx="4476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화면에서 확인할 것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네임스페이스, 디멘션, 평균 통계, 1분 평가, 누락 데이터 처리를 확인한다.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실습 원칙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메뉴 이름과 리소스 상태를 기준으로 찾습니다.</a:t>
            </a:r>
          </a:p>
        </p:txBody>
      </p:sp>
      <p:sp>
        <p:nvSpPr>
          <p:cNvPr id="8" name="official-links">
            <a:extLst xmlns:a="http://schemas.openxmlformats.org/drawingml/2006/main">
              <a:ext uri="{FF2B5EF4-FFF2-40B4-BE49-F238E27FC236}">
                <a16:creationId xmlns:a16="http://schemas.microsoft.com/office/drawing/2014/main" id="{D5FAF1F0-E4B3-4C51-8CD4-C68101D3D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05375"/>
            <a:ext cx="4476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EA6C0"/>
            </a:solidFill>
            <a:prstDash val="solid"/>
          </a:ln>
        </p:spPr>
        <p:txBody>
          <a:bodyPr xmlns:a="http://schemas.openxmlformats.org/drawingml/2006/main" lIns="171450" tIns="95250" rIns="171450" bIns="95250" anchor="ctr"/>
          <a:lstStyle xmlns:a="http://schemas.openxmlformats.org/drawingml/2006/main"/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e08f427a795e47b0"/>
              </a:rPr>
              <a:t>AWS 콘솔 열기</a:t>
            </a:r>
          </a:p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897eebc08e8a4c72"/>
              </a:rPr>
              <a:t>AWS 공식 문서</a:t>
            </a:r>
          </a:p>
        </p:txBody>
      </p:sp>
      <p:sp>
        <p:nvSpPr>
          <p:cNvPr id="9" name="capture-note">
            <a:extLst xmlns:a="http://schemas.openxmlformats.org/drawingml/2006/main">
              <a:ext uri="{FF2B5EF4-FFF2-40B4-BE49-F238E27FC236}">
                <a16:creationId xmlns:a16="http://schemas.microsoft.com/office/drawing/2014/main" id="{C7F78140-714D-45DD-876C-A09C35FBB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88C"/>
                </a:solidFill>
              </a:defRPr>
            </a:pPr>
            <a:r>
              <a:rPr sz="1275" b="0">
                <a:solidFill>
                  <a:srgbClr val="66788C"/>
                </a:solidFill>
              </a:rPr>
              <a:t>실제 AWS 콘솔 화면 · 서울 리전 · 2026-08-24 · 계정 번호 영역 제외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14deb5d9cd4f31"/>
          <a:stretch xmlns:a="http://schemas.openxmlformats.org/drawingml/2006/main"/>
        </p:blipFill>
        <p:spPr>
          <a:xfrm xmlns:a="http://schemas.openxmlformats.org/drawingml/2006/main">
            <a:off x="571500" y="2032992"/>
            <a:ext cx="5810250" cy="3268266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</p:spTree>
    <p:extLst>
      <p:ext uri="{BB962C8B-B14F-4D97-AF65-F5344CB8AC3E}">
        <p14:creationId xmlns:p14="http://schemas.microsoft.com/office/powerpoint/2010/main" val="18485909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BF41DF86-0B7B-4757-895A-B3F831764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77722"/>
                </a:solidFill>
              </a:defRPr>
            </a:pPr>
            <a:r>
              <a:rPr sz="1350" b="1">
                <a:solidFill>
                  <a:srgbClr val="E77722"/>
                </a:solidFill>
              </a:rPr>
              <a:t>클라우드 MLOps · 13주차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0BD18A4-3090-4758-90A1-B183EAB83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048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5263C"/>
                </a:solidFill>
              </a:defRPr>
            </a:pPr>
            <a:r>
              <a:rPr sz="2850" b="1">
                <a:solidFill>
                  <a:srgbClr val="15263C"/>
                </a:solidFill>
              </a:rPr>
              <a:t>실습 화면 11: 920ms 지연 데이터 전송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6DF18DC4-4AAD-4567-A43F-5D05146B3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722"/>
          </a:solidFill>
          <a:ln xmlns:a="http://schemas.openxmlformats.org/drawingml/2006/main" w="0">
            <a:solidFill>
              <a:srgbClr val="E77722"/>
            </a:solidFill>
            <a:prstDash val="solid"/>
          </a:ln>
        </p:spPr>
      </p:sp>
      <p:sp>
        <p:nvSpPr>
          <p:cNvPr id="5" name="path-label">
            <a:extLst xmlns:a="http://schemas.openxmlformats.org/drawingml/2006/main">
              <a:ext uri="{FF2B5EF4-FFF2-40B4-BE49-F238E27FC236}">
                <a16:creationId xmlns:a16="http://schemas.microsoft.com/office/drawing/2014/main" id="{3C647319-E5B8-444A-AF0A-AEF91284E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097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77722"/>
                </a:solidFill>
              </a:defRPr>
            </a:pPr>
            <a:r>
              <a:rPr sz="1650" b="1">
                <a:solidFill>
                  <a:srgbClr val="E77722"/>
                </a:solidFill>
              </a:rPr>
              <a:t>콘솔 이동 경로</a:t>
            </a:r>
          </a:p>
        </p:txBody>
      </p:sp>
      <p:sp>
        <p:nvSpPr>
          <p:cNvPr id="6" name="console-path">
            <a:extLst xmlns:a="http://schemas.openxmlformats.org/drawingml/2006/main">
              <a:ext uri="{FF2B5EF4-FFF2-40B4-BE49-F238E27FC236}">
                <a16:creationId xmlns:a16="http://schemas.microsoft.com/office/drawing/2014/main" id="{754544F9-3751-4F27-A582-FD868D1B8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90750"/>
            <a:ext cx="447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5263C"/>
                </a:solidFill>
              </a:defRPr>
            </a:pPr>
            <a:r>
              <a:rPr sz="1950" b="1">
                <a:solidFill>
                  <a:srgbClr val="15263C"/>
                </a:solidFill>
              </a:rPr>
              <a:t>CloudShell → put-metric-data·put-log-events</a:t>
            </a:r>
          </a:p>
        </p:txBody>
      </p:sp>
      <p:sp>
        <p:nvSpPr>
          <p:cNvPr id="7" name="screen-check">
            <a:extLst xmlns:a="http://schemas.openxmlformats.org/drawingml/2006/main">
              <a:ext uri="{FF2B5EF4-FFF2-40B4-BE49-F238E27FC236}">
                <a16:creationId xmlns:a16="http://schemas.microsoft.com/office/drawing/2014/main" id="{D16299EC-7C24-4374-B1BC-3C8022939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24200"/>
            <a:ext cx="4476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화면에서 확인할 것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500ms 임계값보다 큰 920ms 지표와 WARN 로그를 같은 시점에 남긴다.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실습 원칙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메뉴 이름과 리소스 상태를 기준으로 찾습니다.</a:t>
            </a:r>
          </a:p>
        </p:txBody>
      </p:sp>
      <p:sp>
        <p:nvSpPr>
          <p:cNvPr id="8" name="official-links">
            <a:extLst xmlns:a="http://schemas.openxmlformats.org/drawingml/2006/main">
              <a:ext uri="{FF2B5EF4-FFF2-40B4-BE49-F238E27FC236}">
                <a16:creationId xmlns:a16="http://schemas.microsoft.com/office/drawing/2014/main" id="{D5FAF1F0-E4B3-4C51-8CD4-C68101D3D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05375"/>
            <a:ext cx="4476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EA6C0"/>
            </a:solidFill>
            <a:prstDash val="solid"/>
          </a:ln>
        </p:spPr>
        <p:txBody>
          <a:bodyPr xmlns:a="http://schemas.openxmlformats.org/drawingml/2006/main" lIns="171450" tIns="95250" rIns="171450" bIns="95250" anchor="ctr"/>
          <a:lstStyle xmlns:a="http://schemas.openxmlformats.org/drawingml/2006/main"/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96ce48c97a9b4553"/>
              </a:rPr>
              <a:t>AWS 콘솔 열기</a:t>
            </a:r>
          </a:p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080384bf36d04b72"/>
              </a:rPr>
              <a:t>AWS 공식 문서</a:t>
            </a:r>
          </a:p>
        </p:txBody>
      </p:sp>
      <p:sp>
        <p:nvSpPr>
          <p:cNvPr id="9" name="capture-note">
            <a:extLst xmlns:a="http://schemas.openxmlformats.org/drawingml/2006/main">
              <a:ext uri="{FF2B5EF4-FFF2-40B4-BE49-F238E27FC236}">
                <a16:creationId xmlns:a16="http://schemas.microsoft.com/office/drawing/2014/main" id="{C7F78140-714D-45DD-876C-A09C35FBB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88C"/>
                </a:solidFill>
              </a:defRPr>
            </a:pPr>
            <a:r>
              <a:rPr sz="1275" b="0">
                <a:solidFill>
                  <a:srgbClr val="66788C"/>
                </a:solidFill>
              </a:rPr>
              <a:t>실제 AWS 콘솔 화면 · 서울 리전 · 2026-08-24 · 계정 번호 영역 제외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8fc5b10c774db6"/>
          <a:stretch xmlns:a="http://schemas.openxmlformats.org/drawingml/2006/main"/>
        </p:blipFill>
        <p:spPr>
          <a:xfrm xmlns:a="http://schemas.openxmlformats.org/drawingml/2006/main">
            <a:off x="571500" y="2032992"/>
            <a:ext cx="5810250" cy="3268266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</p:spTree>
    <p:extLst>
      <p:ext uri="{BB962C8B-B14F-4D97-AF65-F5344CB8AC3E}">
        <p14:creationId xmlns:p14="http://schemas.microsoft.com/office/powerpoint/2010/main" val="18485909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BF41DF86-0B7B-4757-895A-B3F831764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77722"/>
                </a:solidFill>
              </a:defRPr>
            </a:pPr>
            <a:r>
              <a:rPr sz="1350" b="1">
                <a:solidFill>
                  <a:srgbClr val="E77722"/>
                </a:solidFill>
              </a:rPr>
              <a:t>클라우드 MLOps · 13주차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0BD18A4-3090-4758-90A1-B183EAB83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048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5263C"/>
                </a:solidFill>
              </a:defRPr>
            </a:pPr>
            <a:r>
              <a:rPr sz="2850" b="1">
                <a:solidFill>
                  <a:srgbClr val="15263C"/>
                </a:solidFill>
              </a:rPr>
              <a:t>실습 화면 12: 대시보드의 이상 징후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6DF18DC4-4AAD-4567-A43F-5D05146B3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722"/>
          </a:solidFill>
          <a:ln xmlns:a="http://schemas.openxmlformats.org/drawingml/2006/main" w="0">
            <a:solidFill>
              <a:srgbClr val="E77722"/>
            </a:solidFill>
            <a:prstDash val="solid"/>
          </a:ln>
        </p:spPr>
      </p:sp>
      <p:sp>
        <p:nvSpPr>
          <p:cNvPr id="5" name="path-label">
            <a:extLst xmlns:a="http://schemas.openxmlformats.org/drawingml/2006/main">
              <a:ext uri="{FF2B5EF4-FFF2-40B4-BE49-F238E27FC236}">
                <a16:creationId xmlns:a16="http://schemas.microsoft.com/office/drawing/2014/main" id="{3C647319-E5B8-444A-AF0A-AEF91284E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097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77722"/>
                </a:solidFill>
              </a:defRPr>
            </a:pPr>
            <a:r>
              <a:rPr sz="1650" b="1">
                <a:solidFill>
                  <a:srgbClr val="E77722"/>
                </a:solidFill>
              </a:rPr>
              <a:t>콘솔 이동 경로</a:t>
            </a:r>
          </a:p>
        </p:txBody>
      </p:sp>
      <p:sp>
        <p:nvSpPr>
          <p:cNvPr id="6" name="console-path">
            <a:extLst xmlns:a="http://schemas.openxmlformats.org/drawingml/2006/main">
              <a:ext uri="{FF2B5EF4-FFF2-40B4-BE49-F238E27FC236}">
                <a16:creationId xmlns:a16="http://schemas.microsoft.com/office/drawing/2014/main" id="{754544F9-3751-4F27-A582-FD868D1B8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90750"/>
            <a:ext cx="447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5263C"/>
                </a:solidFill>
              </a:defRPr>
            </a:pPr>
            <a:r>
              <a:rPr sz="1950" b="1">
                <a:solidFill>
                  <a:srgbClr val="15263C"/>
                </a:solidFill>
              </a:rPr>
              <a:t>CloudWatch → Dashboards → ysu-mlops-week13</a:t>
            </a:r>
          </a:p>
        </p:txBody>
      </p:sp>
      <p:sp>
        <p:nvSpPr>
          <p:cNvPr id="7" name="screen-check">
            <a:extLst xmlns:a="http://schemas.openxmlformats.org/drawingml/2006/main">
              <a:ext uri="{FF2B5EF4-FFF2-40B4-BE49-F238E27FC236}">
                <a16:creationId xmlns:a16="http://schemas.microsoft.com/office/drawing/2014/main" id="{D16299EC-7C24-4374-B1BC-3C8022939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24200"/>
            <a:ext cx="4476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화면에서 확인할 것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그래프 데이터와 latency_ms=920 WARN 로그를 함께 확인한다.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실습 원칙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메뉴 이름과 리소스 상태를 기준으로 찾습니다.</a:t>
            </a:r>
          </a:p>
        </p:txBody>
      </p:sp>
      <p:sp>
        <p:nvSpPr>
          <p:cNvPr id="8" name="official-links">
            <a:extLst xmlns:a="http://schemas.openxmlformats.org/drawingml/2006/main">
              <a:ext uri="{FF2B5EF4-FFF2-40B4-BE49-F238E27FC236}">
                <a16:creationId xmlns:a16="http://schemas.microsoft.com/office/drawing/2014/main" id="{D5FAF1F0-E4B3-4C51-8CD4-C68101D3D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05375"/>
            <a:ext cx="4476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EA6C0"/>
            </a:solidFill>
            <a:prstDash val="solid"/>
          </a:ln>
        </p:spPr>
        <p:txBody>
          <a:bodyPr xmlns:a="http://schemas.openxmlformats.org/drawingml/2006/main" lIns="171450" tIns="95250" rIns="171450" bIns="95250" anchor="ctr"/>
          <a:lstStyle xmlns:a="http://schemas.openxmlformats.org/drawingml/2006/main"/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6a81029031604c64"/>
              </a:rPr>
              <a:t>AWS 콘솔 열기</a:t>
            </a:r>
          </a:p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c7885dc29d2a4d4b"/>
              </a:rPr>
              <a:t>AWS 공식 문서</a:t>
            </a:r>
          </a:p>
        </p:txBody>
      </p:sp>
      <p:sp>
        <p:nvSpPr>
          <p:cNvPr id="9" name="capture-note">
            <a:extLst xmlns:a="http://schemas.openxmlformats.org/drawingml/2006/main">
              <a:ext uri="{FF2B5EF4-FFF2-40B4-BE49-F238E27FC236}">
                <a16:creationId xmlns:a16="http://schemas.microsoft.com/office/drawing/2014/main" id="{C7F78140-714D-45DD-876C-A09C35FBB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88C"/>
                </a:solidFill>
              </a:defRPr>
            </a:pPr>
            <a:r>
              <a:rPr sz="1275" b="0">
                <a:solidFill>
                  <a:srgbClr val="66788C"/>
                </a:solidFill>
              </a:rPr>
              <a:t>실제 AWS 콘솔 화면 · 서울 리전 · 2026-08-24 · 계정 번호 영역 제외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598ac0350c493e"/>
          <a:stretch xmlns:a="http://schemas.openxmlformats.org/drawingml/2006/main"/>
        </p:blipFill>
        <p:spPr>
          <a:xfrm xmlns:a="http://schemas.openxmlformats.org/drawingml/2006/main">
            <a:off x="571500" y="2031987"/>
            <a:ext cx="5810250" cy="3270275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</p:spTree>
    <p:extLst>
      <p:ext uri="{BB962C8B-B14F-4D97-AF65-F5344CB8AC3E}">
        <p14:creationId xmlns:p14="http://schemas.microsoft.com/office/powerpoint/2010/main" val="18485909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BF41DF86-0B7B-4757-895A-B3F831764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77722"/>
                </a:solidFill>
              </a:defRPr>
            </a:pPr>
            <a:r>
              <a:rPr sz="1350" b="1">
                <a:solidFill>
                  <a:srgbClr val="E77722"/>
                </a:solidFill>
              </a:rPr>
              <a:t>클라우드 MLOps · 13주차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0BD18A4-3090-4758-90A1-B183EAB83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048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5263C"/>
                </a:solidFill>
              </a:defRPr>
            </a:pPr>
            <a:r>
              <a:rPr sz="2850" b="1">
                <a:solidFill>
                  <a:srgbClr val="15263C"/>
                </a:solidFill>
              </a:rPr>
              <a:t>실습 화면 13: 경보 상태 전환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6DF18DC4-4AAD-4567-A43F-5D05146B3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722"/>
          </a:solidFill>
          <a:ln xmlns:a="http://schemas.openxmlformats.org/drawingml/2006/main" w="0">
            <a:solidFill>
              <a:srgbClr val="E77722"/>
            </a:solidFill>
            <a:prstDash val="solid"/>
          </a:ln>
        </p:spPr>
      </p:sp>
      <p:sp>
        <p:nvSpPr>
          <p:cNvPr id="5" name="path-label">
            <a:extLst xmlns:a="http://schemas.openxmlformats.org/drawingml/2006/main">
              <a:ext uri="{FF2B5EF4-FFF2-40B4-BE49-F238E27FC236}">
                <a16:creationId xmlns:a16="http://schemas.microsoft.com/office/drawing/2014/main" id="{3C647319-E5B8-444A-AF0A-AEF91284E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097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77722"/>
                </a:solidFill>
              </a:defRPr>
            </a:pPr>
            <a:r>
              <a:rPr sz="1650" b="1">
                <a:solidFill>
                  <a:srgbClr val="E77722"/>
                </a:solidFill>
              </a:rPr>
              <a:t>콘솔 이동 경로</a:t>
            </a:r>
          </a:p>
        </p:txBody>
      </p:sp>
      <p:sp>
        <p:nvSpPr>
          <p:cNvPr id="6" name="console-path">
            <a:extLst xmlns:a="http://schemas.openxmlformats.org/drawingml/2006/main">
              <a:ext uri="{FF2B5EF4-FFF2-40B4-BE49-F238E27FC236}">
                <a16:creationId xmlns:a16="http://schemas.microsoft.com/office/drawing/2014/main" id="{754544F9-3751-4F27-A582-FD868D1B8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90750"/>
            <a:ext cx="447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5263C"/>
                </a:solidFill>
              </a:defRPr>
            </a:pPr>
            <a:r>
              <a:rPr sz="1950" b="1">
                <a:solidFill>
                  <a:srgbClr val="15263C"/>
                </a:solidFill>
              </a:rPr>
              <a:t>CloudWatch → Alarms → YSU-Week13-HighLatency</a:t>
            </a:r>
          </a:p>
        </p:txBody>
      </p:sp>
      <p:sp>
        <p:nvSpPr>
          <p:cNvPr id="7" name="screen-check">
            <a:extLst xmlns:a="http://schemas.openxmlformats.org/drawingml/2006/main">
              <a:ext uri="{FF2B5EF4-FFF2-40B4-BE49-F238E27FC236}">
                <a16:creationId xmlns:a16="http://schemas.microsoft.com/office/drawing/2014/main" id="{D16299EC-7C24-4374-B1BC-3C8022939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24200"/>
            <a:ext cx="4476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화면에서 확인할 것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평가 주기가 지난 뒤 상태가 정상에서 경보 상태로 바뀌는지 확인한다.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실습 원칙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메뉴 이름과 리소스 상태를 기준으로 찾습니다.</a:t>
            </a:r>
          </a:p>
        </p:txBody>
      </p:sp>
      <p:sp>
        <p:nvSpPr>
          <p:cNvPr id="8" name="official-links">
            <a:extLst xmlns:a="http://schemas.openxmlformats.org/drawingml/2006/main">
              <a:ext uri="{FF2B5EF4-FFF2-40B4-BE49-F238E27FC236}">
                <a16:creationId xmlns:a16="http://schemas.microsoft.com/office/drawing/2014/main" id="{D5FAF1F0-E4B3-4C51-8CD4-C68101D3D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05375"/>
            <a:ext cx="4476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EA6C0"/>
            </a:solidFill>
            <a:prstDash val="solid"/>
          </a:ln>
        </p:spPr>
        <p:txBody>
          <a:bodyPr xmlns:a="http://schemas.openxmlformats.org/drawingml/2006/main" lIns="171450" tIns="95250" rIns="171450" bIns="95250" anchor="ctr"/>
          <a:lstStyle xmlns:a="http://schemas.openxmlformats.org/drawingml/2006/main"/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85fbdfa006b94825"/>
              </a:rPr>
              <a:t>AWS 콘솔 열기</a:t>
            </a:r>
          </a:p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1e5fb3c2daae4632"/>
              </a:rPr>
              <a:t>AWS 공식 문서</a:t>
            </a:r>
          </a:p>
        </p:txBody>
      </p:sp>
      <p:sp>
        <p:nvSpPr>
          <p:cNvPr id="9" name="capture-note">
            <a:extLst xmlns:a="http://schemas.openxmlformats.org/drawingml/2006/main">
              <a:ext uri="{FF2B5EF4-FFF2-40B4-BE49-F238E27FC236}">
                <a16:creationId xmlns:a16="http://schemas.microsoft.com/office/drawing/2014/main" id="{C7F78140-714D-45DD-876C-A09C35FBB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88C"/>
                </a:solidFill>
              </a:defRPr>
            </a:pPr>
            <a:r>
              <a:rPr sz="1275" b="0">
                <a:solidFill>
                  <a:srgbClr val="66788C"/>
                </a:solidFill>
              </a:rPr>
              <a:t>실제 AWS 콘솔 화면 · 서울 리전 · 2026-08-24 · 계정 번호 영역 제외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fffed5f0324f35"/>
          <a:stretch xmlns:a="http://schemas.openxmlformats.org/drawingml/2006/main"/>
        </p:blipFill>
        <p:spPr>
          <a:xfrm xmlns:a="http://schemas.openxmlformats.org/drawingml/2006/main">
            <a:off x="571500" y="2032992"/>
            <a:ext cx="5810250" cy="3268266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</p:spTree>
    <p:extLst>
      <p:ext uri="{BB962C8B-B14F-4D97-AF65-F5344CB8AC3E}">
        <p14:creationId xmlns:p14="http://schemas.microsoft.com/office/powerpoint/2010/main" val="18485909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BF41DF86-0B7B-4757-895A-B3F831764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77722"/>
                </a:solidFill>
              </a:defRPr>
            </a:pPr>
            <a:r>
              <a:rPr sz="1350" b="1">
                <a:solidFill>
                  <a:srgbClr val="E77722"/>
                </a:solidFill>
              </a:rPr>
              <a:t>클라우드 MLOps · 13주차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0BD18A4-3090-4758-90A1-B183EAB83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048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5263C"/>
                </a:solidFill>
              </a:defRPr>
            </a:pPr>
            <a:r>
              <a:rPr sz="2850" b="1">
                <a:solidFill>
                  <a:srgbClr val="15263C"/>
                </a:solidFill>
              </a:rPr>
              <a:t>실습 화면 14: 경보 상태 변경 기록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6DF18DC4-4AAD-4567-A43F-5D05146B3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722"/>
          </a:solidFill>
          <a:ln xmlns:a="http://schemas.openxmlformats.org/drawingml/2006/main" w="0">
            <a:solidFill>
              <a:srgbClr val="E77722"/>
            </a:solidFill>
            <a:prstDash val="solid"/>
          </a:ln>
        </p:spPr>
      </p:sp>
      <p:sp>
        <p:nvSpPr>
          <p:cNvPr id="5" name="path-label">
            <a:extLst xmlns:a="http://schemas.openxmlformats.org/drawingml/2006/main">
              <a:ext uri="{FF2B5EF4-FFF2-40B4-BE49-F238E27FC236}">
                <a16:creationId xmlns:a16="http://schemas.microsoft.com/office/drawing/2014/main" id="{3C647319-E5B8-444A-AF0A-AEF91284E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097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77722"/>
                </a:solidFill>
              </a:defRPr>
            </a:pPr>
            <a:r>
              <a:rPr sz="1650" b="1">
                <a:solidFill>
                  <a:srgbClr val="E77722"/>
                </a:solidFill>
              </a:rPr>
              <a:t>콘솔 이동 경로</a:t>
            </a:r>
          </a:p>
        </p:txBody>
      </p:sp>
      <p:sp>
        <p:nvSpPr>
          <p:cNvPr id="6" name="console-path">
            <a:extLst xmlns:a="http://schemas.openxmlformats.org/drawingml/2006/main">
              <a:ext uri="{FF2B5EF4-FFF2-40B4-BE49-F238E27FC236}">
                <a16:creationId xmlns:a16="http://schemas.microsoft.com/office/drawing/2014/main" id="{754544F9-3751-4F27-A582-FD868D1B8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90750"/>
            <a:ext cx="447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5263C"/>
                </a:solidFill>
              </a:defRPr>
            </a:pPr>
            <a:r>
              <a:rPr sz="1950" b="1">
                <a:solidFill>
                  <a:srgbClr val="15263C"/>
                </a:solidFill>
              </a:rPr>
              <a:t>CloudWatch → Alarm detail → History</a:t>
            </a:r>
          </a:p>
        </p:txBody>
      </p:sp>
      <p:sp>
        <p:nvSpPr>
          <p:cNvPr id="7" name="screen-check">
            <a:extLst xmlns:a="http://schemas.openxmlformats.org/drawingml/2006/main">
              <a:ext uri="{FF2B5EF4-FFF2-40B4-BE49-F238E27FC236}">
                <a16:creationId xmlns:a16="http://schemas.microsoft.com/office/drawing/2014/main" id="{D16299EC-7C24-4374-B1BC-3C8022939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24200"/>
            <a:ext cx="4476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화면에서 확인할 것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생성, 데이터 부족→정상, 정상→경보 전환 시간이 기록되는지 확인한다.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실습 원칙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메뉴 이름과 리소스 상태를 기준으로 찾습니다.</a:t>
            </a:r>
          </a:p>
        </p:txBody>
      </p:sp>
      <p:sp>
        <p:nvSpPr>
          <p:cNvPr id="8" name="official-links">
            <a:extLst xmlns:a="http://schemas.openxmlformats.org/drawingml/2006/main">
              <a:ext uri="{FF2B5EF4-FFF2-40B4-BE49-F238E27FC236}">
                <a16:creationId xmlns:a16="http://schemas.microsoft.com/office/drawing/2014/main" id="{D5FAF1F0-E4B3-4C51-8CD4-C68101D3D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05375"/>
            <a:ext cx="4476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EA6C0"/>
            </a:solidFill>
            <a:prstDash val="solid"/>
          </a:ln>
        </p:spPr>
        <p:txBody>
          <a:bodyPr xmlns:a="http://schemas.openxmlformats.org/drawingml/2006/main" lIns="171450" tIns="95250" rIns="171450" bIns="95250" anchor="ctr"/>
          <a:lstStyle xmlns:a="http://schemas.openxmlformats.org/drawingml/2006/main"/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3c539cccac794365"/>
              </a:rPr>
              <a:t>AWS 콘솔 열기</a:t>
            </a:r>
          </a:p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f29e7ce2aae842d1"/>
              </a:rPr>
              <a:t>AWS 공식 문서</a:t>
            </a:r>
          </a:p>
        </p:txBody>
      </p:sp>
      <p:sp>
        <p:nvSpPr>
          <p:cNvPr id="9" name="capture-note">
            <a:extLst xmlns:a="http://schemas.openxmlformats.org/drawingml/2006/main">
              <a:ext uri="{FF2B5EF4-FFF2-40B4-BE49-F238E27FC236}">
                <a16:creationId xmlns:a16="http://schemas.microsoft.com/office/drawing/2014/main" id="{C7F78140-714D-45DD-876C-A09C35FBB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88C"/>
                </a:solidFill>
              </a:defRPr>
            </a:pPr>
            <a:r>
              <a:rPr sz="1275" b="0">
                <a:solidFill>
                  <a:srgbClr val="66788C"/>
                </a:solidFill>
              </a:rPr>
              <a:t>실제 AWS 콘솔 화면 · 서울 리전 · 2026-08-24 · 계정 번호 영역 제외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d7d0a38f084c1f"/>
          <a:stretch xmlns:a="http://schemas.openxmlformats.org/drawingml/2006/main"/>
        </p:blipFill>
        <p:spPr>
          <a:xfrm xmlns:a="http://schemas.openxmlformats.org/drawingml/2006/main">
            <a:off x="571500" y="2032992"/>
            <a:ext cx="5810250" cy="3268266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</p:spTree>
    <p:extLst>
      <p:ext uri="{BB962C8B-B14F-4D97-AF65-F5344CB8AC3E}">
        <p14:creationId xmlns:p14="http://schemas.microsoft.com/office/powerpoint/2010/main" val="18485909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BF41DF86-0B7B-4757-895A-B3F831764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77722"/>
                </a:solidFill>
              </a:defRPr>
            </a:pPr>
            <a:r>
              <a:rPr sz="1350" b="1">
                <a:solidFill>
                  <a:srgbClr val="E77722"/>
                </a:solidFill>
              </a:rPr>
              <a:t>클라우드 MLOps · 13주차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0BD18A4-3090-4758-90A1-B183EAB83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048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5263C"/>
                </a:solidFill>
              </a:defRPr>
            </a:pPr>
            <a:r>
              <a:rPr sz="2850" b="1">
                <a:solidFill>
                  <a:srgbClr val="15263C"/>
                </a:solidFill>
              </a:rPr>
              <a:t>실습 화면 15: 105ms 회복 데이터 전송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6DF18DC4-4AAD-4567-A43F-5D05146B3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722"/>
          </a:solidFill>
          <a:ln xmlns:a="http://schemas.openxmlformats.org/drawingml/2006/main" w="0">
            <a:solidFill>
              <a:srgbClr val="E77722"/>
            </a:solidFill>
            <a:prstDash val="solid"/>
          </a:ln>
        </p:spPr>
      </p:sp>
      <p:sp>
        <p:nvSpPr>
          <p:cNvPr id="5" name="path-label">
            <a:extLst xmlns:a="http://schemas.openxmlformats.org/drawingml/2006/main">
              <a:ext uri="{FF2B5EF4-FFF2-40B4-BE49-F238E27FC236}">
                <a16:creationId xmlns:a16="http://schemas.microsoft.com/office/drawing/2014/main" id="{3C647319-E5B8-444A-AF0A-AEF91284E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097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77722"/>
                </a:solidFill>
              </a:defRPr>
            </a:pPr>
            <a:r>
              <a:rPr sz="1650" b="1">
                <a:solidFill>
                  <a:srgbClr val="E77722"/>
                </a:solidFill>
              </a:rPr>
              <a:t>콘솔 이동 경로</a:t>
            </a:r>
          </a:p>
        </p:txBody>
      </p:sp>
      <p:sp>
        <p:nvSpPr>
          <p:cNvPr id="6" name="console-path">
            <a:extLst xmlns:a="http://schemas.openxmlformats.org/drawingml/2006/main">
              <a:ext uri="{FF2B5EF4-FFF2-40B4-BE49-F238E27FC236}">
                <a16:creationId xmlns:a16="http://schemas.microsoft.com/office/drawing/2014/main" id="{754544F9-3751-4F27-A582-FD868D1B8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90750"/>
            <a:ext cx="447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5263C"/>
                </a:solidFill>
              </a:defRPr>
            </a:pPr>
            <a:r>
              <a:rPr sz="1950" b="1">
                <a:solidFill>
                  <a:srgbClr val="15263C"/>
                </a:solidFill>
              </a:rPr>
              <a:t>CloudShell → put-metric-data·put-log-events</a:t>
            </a:r>
          </a:p>
        </p:txBody>
      </p:sp>
      <p:sp>
        <p:nvSpPr>
          <p:cNvPr id="7" name="screen-check">
            <a:extLst xmlns:a="http://schemas.openxmlformats.org/drawingml/2006/main">
              <a:ext uri="{FF2B5EF4-FFF2-40B4-BE49-F238E27FC236}">
                <a16:creationId xmlns:a16="http://schemas.microsoft.com/office/drawing/2014/main" id="{D16299EC-7C24-4374-B1BC-3C8022939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24200"/>
            <a:ext cx="4476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화면에서 확인할 것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임계값 아래 지표와 recovery 로그를 전송한다.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실습 원칙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메뉴 이름과 리소스 상태를 기준으로 찾습니다.</a:t>
            </a:r>
          </a:p>
        </p:txBody>
      </p:sp>
      <p:sp>
        <p:nvSpPr>
          <p:cNvPr id="8" name="official-links">
            <a:extLst xmlns:a="http://schemas.openxmlformats.org/drawingml/2006/main">
              <a:ext uri="{FF2B5EF4-FFF2-40B4-BE49-F238E27FC236}">
                <a16:creationId xmlns:a16="http://schemas.microsoft.com/office/drawing/2014/main" id="{D5FAF1F0-E4B3-4C51-8CD4-C68101D3D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05375"/>
            <a:ext cx="4476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EA6C0"/>
            </a:solidFill>
            <a:prstDash val="solid"/>
          </a:ln>
        </p:spPr>
        <p:txBody>
          <a:bodyPr xmlns:a="http://schemas.openxmlformats.org/drawingml/2006/main" lIns="171450" tIns="95250" rIns="171450" bIns="95250" anchor="ctr"/>
          <a:lstStyle xmlns:a="http://schemas.openxmlformats.org/drawingml/2006/main"/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6a27f1025932497f"/>
              </a:rPr>
              <a:t>AWS 콘솔 열기</a:t>
            </a:r>
          </a:p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c3b868eddeab4e43"/>
              </a:rPr>
              <a:t>AWS 공식 문서</a:t>
            </a:r>
          </a:p>
        </p:txBody>
      </p:sp>
      <p:sp>
        <p:nvSpPr>
          <p:cNvPr id="9" name="capture-note">
            <a:extLst xmlns:a="http://schemas.openxmlformats.org/drawingml/2006/main">
              <a:ext uri="{FF2B5EF4-FFF2-40B4-BE49-F238E27FC236}">
                <a16:creationId xmlns:a16="http://schemas.microsoft.com/office/drawing/2014/main" id="{C7F78140-714D-45DD-876C-A09C35FBB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88C"/>
                </a:solidFill>
              </a:defRPr>
            </a:pPr>
            <a:r>
              <a:rPr sz="1275" b="0">
                <a:solidFill>
                  <a:srgbClr val="66788C"/>
                </a:solidFill>
              </a:rPr>
              <a:t>실제 AWS 콘솔 화면 · 서울 리전 · 2026-08-24 · 계정 번호 영역 제외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965f233ab442b6"/>
          <a:stretch xmlns:a="http://schemas.openxmlformats.org/drawingml/2006/main"/>
        </p:blipFill>
        <p:spPr>
          <a:xfrm xmlns:a="http://schemas.openxmlformats.org/drawingml/2006/main">
            <a:off x="571500" y="2032992"/>
            <a:ext cx="5810250" cy="3268266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</p:spTree>
    <p:extLst>
      <p:ext uri="{BB962C8B-B14F-4D97-AF65-F5344CB8AC3E}">
        <p14:creationId xmlns:p14="http://schemas.microsoft.com/office/powerpoint/2010/main" val="18485909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BF41DF86-0B7B-4757-895A-B3F831764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77722"/>
                </a:solidFill>
              </a:defRPr>
            </a:pPr>
            <a:r>
              <a:rPr sz="1350" b="1">
                <a:solidFill>
                  <a:srgbClr val="E77722"/>
                </a:solidFill>
              </a:rPr>
              <a:t>클라우드 MLOps · 13주차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0BD18A4-3090-4758-90A1-B183EAB83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048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5263C"/>
                </a:solidFill>
              </a:defRPr>
            </a:pPr>
            <a:r>
              <a:rPr sz="2850" b="1">
                <a:solidFill>
                  <a:srgbClr val="15263C"/>
                </a:solidFill>
              </a:rPr>
              <a:t>실습 화면 16: CLI에서 정상 복귀 확인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6DF18DC4-4AAD-4567-A43F-5D05146B3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722"/>
          </a:solidFill>
          <a:ln xmlns:a="http://schemas.openxmlformats.org/drawingml/2006/main" w="0">
            <a:solidFill>
              <a:srgbClr val="E77722"/>
            </a:solidFill>
            <a:prstDash val="solid"/>
          </a:ln>
        </p:spPr>
      </p:sp>
      <p:sp>
        <p:nvSpPr>
          <p:cNvPr id="5" name="path-label">
            <a:extLst xmlns:a="http://schemas.openxmlformats.org/drawingml/2006/main">
              <a:ext uri="{FF2B5EF4-FFF2-40B4-BE49-F238E27FC236}">
                <a16:creationId xmlns:a16="http://schemas.microsoft.com/office/drawing/2014/main" id="{3C647319-E5B8-444A-AF0A-AEF91284E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097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77722"/>
                </a:solidFill>
              </a:defRPr>
            </a:pPr>
            <a:r>
              <a:rPr sz="1650" b="1">
                <a:solidFill>
                  <a:srgbClr val="E77722"/>
                </a:solidFill>
              </a:rPr>
              <a:t>콘솔 이동 경로</a:t>
            </a:r>
          </a:p>
        </p:txBody>
      </p:sp>
      <p:sp>
        <p:nvSpPr>
          <p:cNvPr id="6" name="console-path">
            <a:extLst xmlns:a="http://schemas.openxmlformats.org/drawingml/2006/main">
              <a:ext uri="{FF2B5EF4-FFF2-40B4-BE49-F238E27FC236}">
                <a16:creationId xmlns:a16="http://schemas.microsoft.com/office/drawing/2014/main" id="{754544F9-3751-4F27-A582-FD868D1B8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90750"/>
            <a:ext cx="447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5263C"/>
                </a:solidFill>
              </a:defRPr>
            </a:pPr>
            <a:r>
              <a:rPr sz="1950" b="1">
                <a:solidFill>
                  <a:srgbClr val="15263C"/>
                </a:solidFill>
              </a:rPr>
              <a:t>CloudShell → cloudwatch describe-alarms</a:t>
            </a:r>
          </a:p>
        </p:txBody>
      </p:sp>
      <p:sp>
        <p:nvSpPr>
          <p:cNvPr id="7" name="screen-check">
            <a:extLst xmlns:a="http://schemas.openxmlformats.org/drawingml/2006/main">
              <a:ext uri="{FF2B5EF4-FFF2-40B4-BE49-F238E27FC236}">
                <a16:creationId xmlns:a16="http://schemas.microsoft.com/office/drawing/2014/main" id="{D16299EC-7C24-4374-B1BC-3C8022939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24200"/>
            <a:ext cx="4476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화면에서 확인할 것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105ms가 500ms보다 작아서 상태가 OK로 바뀌었다는 이유를 읽는다.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실습 원칙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메뉴 이름과 리소스 상태를 기준으로 찾습니다.</a:t>
            </a:r>
          </a:p>
        </p:txBody>
      </p:sp>
      <p:sp>
        <p:nvSpPr>
          <p:cNvPr id="8" name="official-links">
            <a:extLst xmlns:a="http://schemas.openxmlformats.org/drawingml/2006/main">
              <a:ext uri="{FF2B5EF4-FFF2-40B4-BE49-F238E27FC236}">
                <a16:creationId xmlns:a16="http://schemas.microsoft.com/office/drawing/2014/main" id="{D5FAF1F0-E4B3-4C51-8CD4-C68101D3D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05375"/>
            <a:ext cx="4476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EA6C0"/>
            </a:solidFill>
            <a:prstDash val="solid"/>
          </a:ln>
        </p:spPr>
        <p:txBody>
          <a:bodyPr xmlns:a="http://schemas.openxmlformats.org/drawingml/2006/main" lIns="171450" tIns="95250" rIns="171450" bIns="95250" anchor="ctr"/>
          <a:lstStyle xmlns:a="http://schemas.openxmlformats.org/drawingml/2006/main"/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da98d0adee714f93"/>
              </a:rPr>
              <a:t>AWS 콘솔 열기</a:t>
            </a:r>
          </a:p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be74f9a757cd48d8"/>
              </a:rPr>
              <a:t>AWS 공식 문서</a:t>
            </a:r>
          </a:p>
        </p:txBody>
      </p:sp>
      <p:sp>
        <p:nvSpPr>
          <p:cNvPr id="9" name="capture-note">
            <a:extLst xmlns:a="http://schemas.openxmlformats.org/drawingml/2006/main">
              <a:ext uri="{FF2B5EF4-FFF2-40B4-BE49-F238E27FC236}">
                <a16:creationId xmlns:a16="http://schemas.microsoft.com/office/drawing/2014/main" id="{C7F78140-714D-45DD-876C-A09C35FBB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88C"/>
                </a:solidFill>
              </a:defRPr>
            </a:pPr>
            <a:r>
              <a:rPr sz="1275" b="0">
                <a:solidFill>
                  <a:srgbClr val="66788C"/>
                </a:solidFill>
              </a:rPr>
              <a:t>실제 AWS 콘솔 화면 · 서울 리전 · 2026-08-24 · 계정 번호 영역 제외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a54edcc54b4112"/>
          <a:stretch xmlns:a="http://schemas.openxmlformats.org/drawingml/2006/main"/>
        </p:blipFill>
        <p:spPr>
          <a:xfrm xmlns:a="http://schemas.openxmlformats.org/drawingml/2006/main">
            <a:off x="571500" y="2032992"/>
            <a:ext cx="5810250" cy="3268266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</p:spTree>
    <p:extLst>
      <p:ext uri="{BB962C8B-B14F-4D97-AF65-F5344CB8AC3E}">
        <p14:creationId xmlns:p14="http://schemas.microsoft.com/office/powerpoint/2010/main" val="18485909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BF41DF86-0B7B-4757-895A-B3F831764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77722"/>
                </a:solidFill>
              </a:defRPr>
            </a:pPr>
            <a:r>
              <a:rPr sz="1350" b="1">
                <a:solidFill>
                  <a:srgbClr val="E77722"/>
                </a:solidFill>
              </a:rPr>
              <a:t>클라우드 MLOps · 13주차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0BD18A4-3090-4758-90A1-B183EAB83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048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5263C"/>
                </a:solidFill>
              </a:defRPr>
            </a:pPr>
            <a:r>
              <a:rPr sz="2850" b="1">
                <a:solidFill>
                  <a:srgbClr val="15263C"/>
                </a:solidFill>
              </a:rPr>
              <a:t>실습 화면 17: 콘솔에서 정상 복귀 확인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6DF18DC4-4AAD-4567-A43F-5D05146B3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722"/>
          </a:solidFill>
          <a:ln xmlns:a="http://schemas.openxmlformats.org/drawingml/2006/main" w="0">
            <a:solidFill>
              <a:srgbClr val="E77722"/>
            </a:solidFill>
            <a:prstDash val="solid"/>
          </a:ln>
        </p:spPr>
      </p:sp>
      <p:sp>
        <p:nvSpPr>
          <p:cNvPr id="5" name="path-label">
            <a:extLst xmlns:a="http://schemas.openxmlformats.org/drawingml/2006/main">
              <a:ext uri="{FF2B5EF4-FFF2-40B4-BE49-F238E27FC236}">
                <a16:creationId xmlns:a16="http://schemas.microsoft.com/office/drawing/2014/main" id="{3C647319-E5B8-444A-AF0A-AEF91284E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097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77722"/>
                </a:solidFill>
              </a:defRPr>
            </a:pPr>
            <a:r>
              <a:rPr sz="1650" b="1">
                <a:solidFill>
                  <a:srgbClr val="E77722"/>
                </a:solidFill>
              </a:rPr>
              <a:t>콘솔 이동 경로</a:t>
            </a:r>
          </a:p>
        </p:txBody>
      </p:sp>
      <p:sp>
        <p:nvSpPr>
          <p:cNvPr id="6" name="console-path">
            <a:extLst xmlns:a="http://schemas.openxmlformats.org/drawingml/2006/main">
              <a:ext uri="{FF2B5EF4-FFF2-40B4-BE49-F238E27FC236}">
                <a16:creationId xmlns:a16="http://schemas.microsoft.com/office/drawing/2014/main" id="{754544F9-3751-4F27-A582-FD868D1B8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90750"/>
            <a:ext cx="447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5263C"/>
                </a:solidFill>
              </a:defRPr>
            </a:pPr>
            <a:r>
              <a:rPr sz="1950" b="1">
                <a:solidFill>
                  <a:srgbClr val="15263C"/>
                </a:solidFill>
              </a:rPr>
              <a:t>CloudWatch → Alarms → YSU-Week13-HighLatency</a:t>
            </a:r>
          </a:p>
        </p:txBody>
      </p:sp>
      <p:sp>
        <p:nvSpPr>
          <p:cNvPr id="7" name="screen-check">
            <a:extLst xmlns:a="http://schemas.openxmlformats.org/drawingml/2006/main">
              <a:ext uri="{FF2B5EF4-FFF2-40B4-BE49-F238E27FC236}">
                <a16:creationId xmlns:a16="http://schemas.microsoft.com/office/drawing/2014/main" id="{D16299EC-7C24-4374-B1BC-3C8022939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24200"/>
            <a:ext cx="4476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화면에서 확인할 것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상태 정상과 마지막 상태 업데이트 시간을 확인한다.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실습 원칙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메뉴 이름과 리소스 상태를 기준으로 찾습니다.</a:t>
            </a:r>
          </a:p>
        </p:txBody>
      </p:sp>
      <p:sp>
        <p:nvSpPr>
          <p:cNvPr id="8" name="official-links">
            <a:extLst xmlns:a="http://schemas.openxmlformats.org/drawingml/2006/main">
              <a:ext uri="{FF2B5EF4-FFF2-40B4-BE49-F238E27FC236}">
                <a16:creationId xmlns:a16="http://schemas.microsoft.com/office/drawing/2014/main" id="{D5FAF1F0-E4B3-4C51-8CD4-C68101D3D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05375"/>
            <a:ext cx="4476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EA6C0"/>
            </a:solidFill>
            <a:prstDash val="solid"/>
          </a:ln>
        </p:spPr>
        <p:txBody>
          <a:bodyPr xmlns:a="http://schemas.openxmlformats.org/drawingml/2006/main" lIns="171450" tIns="95250" rIns="171450" bIns="95250" anchor="ctr"/>
          <a:lstStyle xmlns:a="http://schemas.openxmlformats.org/drawingml/2006/main"/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745a06aea1b5414b"/>
              </a:rPr>
              <a:t>AWS 콘솔 열기</a:t>
            </a:r>
          </a:p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fd11f0edf7c54fb8"/>
              </a:rPr>
              <a:t>AWS 공식 문서</a:t>
            </a:r>
          </a:p>
        </p:txBody>
      </p:sp>
      <p:sp>
        <p:nvSpPr>
          <p:cNvPr id="9" name="capture-note">
            <a:extLst xmlns:a="http://schemas.openxmlformats.org/drawingml/2006/main">
              <a:ext uri="{FF2B5EF4-FFF2-40B4-BE49-F238E27FC236}">
                <a16:creationId xmlns:a16="http://schemas.microsoft.com/office/drawing/2014/main" id="{C7F78140-714D-45DD-876C-A09C35FBB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88C"/>
                </a:solidFill>
              </a:defRPr>
            </a:pPr>
            <a:r>
              <a:rPr sz="1275" b="0">
                <a:solidFill>
                  <a:srgbClr val="66788C"/>
                </a:solidFill>
              </a:rPr>
              <a:t>실제 AWS 콘솔 화면 · 서울 리전 · 2026-08-24 · 계정 번호 영역 제외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d51a97731f43ac"/>
          <a:stretch xmlns:a="http://schemas.openxmlformats.org/drawingml/2006/main"/>
        </p:blipFill>
        <p:spPr>
          <a:xfrm xmlns:a="http://schemas.openxmlformats.org/drawingml/2006/main">
            <a:off x="571500" y="2032992"/>
            <a:ext cx="5810250" cy="3268266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</p:spTree>
    <p:extLst>
      <p:ext uri="{BB962C8B-B14F-4D97-AF65-F5344CB8AC3E}">
        <p14:creationId xmlns:p14="http://schemas.microsoft.com/office/powerpoint/2010/main" val="18485909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BF41DF86-0B7B-4757-895A-B3F831764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77722"/>
                </a:solidFill>
              </a:defRPr>
            </a:pPr>
            <a:r>
              <a:rPr sz="1350" b="1">
                <a:solidFill>
                  <a:srgbClr val="E77722"/>
                </a:solidFill>
              </a:rPr>
              <a:t>클라우드 MLOps · 13주차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0BD18A4-3090-4758-90A1-B183EAB83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048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5263C"/>
                </a:solidFill>
              </a:defRPr>
            </a:pPr>
            <a:r>
              <a:rPr sz="2850" b="1">
                <a:solidFill>
                  <a:srgbClr val="15263C"/>
                </a:solidFill>
              </a:rPr>
              <a:t>실습 화면 18: 메트릭 데이터 포인트 확인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6DF18DC4-4AAD-4567-A43F-5D05146B3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722"/>
          </a:solidFill>
          <a:ln xmlns:a="http://schemas.openxmlformats.org/drawingml/2006/main" w="0">
            <a:solidFill>
              <a:srgbClr val="E77722"/>
            </a:solidFill>
            <a:prstDash val="solid"/>
          </a:ln>
        </p:spPr>
      </p:sp>
      <p:sp>
        <p:nvSpPr>
          <p:cNvPr id="5" name="path-label">
            <a:extLst xmlns:a="http://schemas.openxmlformats.org/drawingml/2006/main">
              <a:ext uri="{FF2B5EF4-FFF2-40B4-BE49-F238E27FC236}">
                <a16:creationId xmlns:a16="http://schemas.microsoft.com/office/drawing/2014/main" id="{3C647319-E5B8-444A-AF0A-AEF91284E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097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77722"/>
                </a:solidFill>
              </a:defRPr>
            </a:pPr>
            <a:r>
              <a:rPr sz="1650" b="1">
                <a:solidFill>
                  <a:srgbClr val="E77722"/>
                </a:solidFill>
              </a:rPr>
              <a:t>콘솔 이동 경로</a:t>
            </a:r>
          </a:p>
        </p:txBody>
      </p:sp>
      <p:sp>
        <p:nvSpPr>
          <p:cNvPr id="6" name="console-path">
            <a:extLst xmlns:a="http://schemas.openxmlformats.org/drawingml/2006/main">
              <a:ext uri="{FF2B5EF4-FFF2-40B4-BE49-F238E27FC236}">
                <a16:creationId xmlns:a16="http://schemas.microsoft.com/office/drawing/2014/main" id="{754544F9-3751-4F27-A582-FD868D1B8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90750"/>
            <a:ext cx="447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5263C"/>
                </a:solidFill>
              </a:defRPr>
            </a:pPr>
            <a:r>
              <a:rPr sz="1950" b="1">
                <a:solidFill>
                  <a:srgbClr val="15263C"/>
                </a:solidFill>
              </a:rPr>
              <a:t>CloudShell → get-metric-statistics</a:t>
            </a:r>
          </a:p>
        </p:txBody>
      </p:sp>
      <p:sp>
        <p:nvSpPr>
          <p:cNvPr id="7" name="screen-check">
            <a:extLst xmlns:a="http://schemas.openxmlformats.org/drawingml/2006/main">
              <a:ext uri="{FF2B5EF4-FFF2-40B4-BE49-F238E27FC236}">
                <a16:creationId xmlns:a16="http://schemas.microsoft.com/office/drawing/2014/main" id="{D16299EC-7C24-4374-B1BC-3C8022939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24200"/>
            <a:ext cx="4476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화면에서 확인할 것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130.5ms, 920ms, 105ms 세 데이터 포인트와 시간을 비교한다.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실습 원칙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메뉴 이름과 리소스 상태를 기준으로 찾습니다.</a:t>
            </a:r>
          </a:p>
        </p:txBody>
      </p:sp>
      <p:sp>
        <p:nvSpPr>
          <p:cNvPr id="8" name="official-links">
            <a:extLst xmlns:a="http://schemas.openxmlformats.org/drawingml/2006/main">
              <a:ext uri="{FF2B5EF4-FFF2-40B4-BE49-F238E27FC236}">
                <a16:creationId xmlns:a16="http://schemas.microsoft.com/office/drawing/2014/main" id="{D5FAF1F0-E4B3-4C51-8CD4-C68101D3D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05375"/>
            <a:ext cx="4476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EA6C0"/>
            </a:solidFill>
            <a:prstDash val="solid"/>
          </a:ln>
        </p:spPr>
        <p:txBody>
          <a:bodyPr xmlns:a="http://schemas.openxmlformats.org/drawingml/2006/main" lIns="171450" tIns="95250" rIns="171450" bIns="95250" anchor="ctr"/>
          <a:lstStyle xmlns:a="http://schemas.openxmlformats.org/drawingml/2006/main"/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83ca43b1ad6848f1"/>
              </a:rPr>
              <a:t>AWS 콘솔 열기</a:t>
            </a:r>
          </a:p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dc44ce317a1241d0"/>
              </a:rPr>
              <a:t>AWS 공식 문서</a:t>
            </a:r>
          </a:p>
        </p:txBody>
      </p:sp>
      <p:sp>
        <p:nvSpPr>
          <p:cNvPr id="9" name="capture-note">
            <a:extLst xmlns:a="http://schemas.openxmlformats.org/drawingml/2006/main">
              <a:ext uri="{FF2B5EF4-FFF2-40B4-BE49-F238E27FC236}">
                <a16:creationId xmlns:a16="http://schemas.microsoft.com/office/drawing/2014/main" id="{C7F78140-714D-45DD-876C-A09C35FBB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88C"/>
                </a:solidFill>
              </a:defRPr>
            </a:pPr>
            <a:r>
              <a:rPr sz="1275" b="0">
                <a:solidFill>
                  <a:srgbClr val="66788C"/>
                </a:solidFill>
              </a:rPr>
              <a:t>실제 AWS 콘솔 화면 · 서울 리전 · 2026-08-24 · 계정 번호 영역 제외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5dc8216c274b1f"/>
          <a:stretch xmlns:a="http://schemas.openxmlformats.org/drawingml/2006/main"/>
        </p:blipFill>
        <p:spPr>
          <a:xfrm xmlns:a="http://schemas.openxmlformats.org/drawingml/2006/main">
            <a:off x="571500" y="2032992"/>
            <a:ext cx="5810250" cy="3268266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</p:spTree>
    <p:extLst>
      <p:ext uri="{BB962C8B-B14F-4D97-AF65-F5344CB8AC3E}">
        <p14:creationId xmlns:p14="http://schemas.microsoft.com/office/powerpoint/2010/main" val="18485909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BF41DF86-0B7B-4757-895A-B3F831764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77722"/>
                </a:solidFill>
              </a:defRPr>
            </a:pPr>
            <a:r>
              <a:rPr sz="1350" b="1">
                <a:solidFill>
                  <a:srgbClr val="E77722"/>
                </a:solidFill>
              </a:rPr>
              <a:t>클라우드 MLOps · 13주차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0BD18A4-3090-4758-90A1-B183EAB83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048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5263C"/>
                </a:solidFill>
              </a:defRPr>
            </a:pPr>
            <a:r>
              <a:rPr sz="2850" b="1">
                <a:solidFill>
                  <a:srgbClr val="15263C"/>
                </a:solidFill>
              </a:rPr>
              <a:t>실습 화면 19: 임시 모니터링 리소스 삭제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6DF18DC4-4AAD-4567-A43F-5D05146B3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722"/>
          </a:solidFill>
          <a:ln xmlns:a="http://schemas.openxmlformats.org/drawingml/2006/main" w="0">
            <a:solidFill>
              <a:srgbClr val="E77722"/>
            </a:solidFill>
            <a:prstDash val="solid"/>
          </a:ln>
        </p:spPr>
      </p:sp>
      <p:sp>
        <p:nvSpPr>
          <p:cNvPr id="5" name="path-label">
            <a:extLst xmlns:a="http://schemas.openxmlformats.org/drawingml/2006/main">
              <a:ext uri="{FF2B5EF4-FFF2-40B4-BE49-F238E27FC236}">
                <a16:creationId xmlns:a16="http://schemas.microsoft.com/office/drawing/2014/main" id="{3C647319-E5B8-444A-AF0A-AEF91284E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097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77722"/>
                </a:solidFill>
              </a:defRPr>
            </a:pPr>
            <a:r>
              <a:rPr sz="1650" b="1">
                <a:solidFill>
                  <a:srgbClr val="E77722"/>
                </a:solidFill>
              </a:rPr>
              <a:t>콘솔 이동 경로</a:t>
            </a:r>
          </a:p>
        </p:txBody>
      </p:sp>
      <p:sp>
        <p:nvSpPr>
          <p:cNvPr id="6" name="console-path">
            <a:extLst xmlns:a="http://schemas.openxmlformats.org/drawingml/2006/main">
              <a:ext uri="{FF2B5EF4-FFF2-40B4-BE49-F238E27FC236}">
                <a16:creationId xmlns:a16="http://schemas.microsoft.com/office/drawing/2014/main" id="{754544F9-3751-4F27-A582-FD868D1B8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90750"/>
            <a:ext cx="447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7906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5263C"/>
                </a:solidFill>
              </a:defRPr>
            </a:pPr>
            <a:r>
              <a:rPr sz="1950" b="1">
                <a:solidFill>
                  <a:srgbClr val="15263C"/>
                </a:solidFill>
              </a:rPr>
              <a:t>CloudShell → delete-alarms·delete-dashboards·delete-log-group</a:t>
            </a:r>
          </a:p>
        </p:txBody>
      </p:sp>
      <p:sp>
        <p:nvSpPr>
          <p:cNvPr id="7" name="screen-check">
            <a:extLst xmlns:a="http://schemas.openxmlformats.org/drawingml/2006/main">
              <a:ext uri="{FF2B5EF4-FFF2-40B4-BE49-F238E27FC236}">
                <a16:creationId xmlns:a16="http://schemas.microsoft.com/office/drawing/2014/main" id="{D16299EC-7C24-4374-B1BC-3C8022939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24200"/>
            <a:ext cx="4476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화면에서 확인할 것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13주차 임시 리소스만 삭제하고 기존 운영 대시보드·경보는 보존한다.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실습 원칙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메뉴 이름과 리소스 상태를 기준으로 찾습니다.</a:t>
            </a:r>
          </a:p>
        </p:txBody>
      </p:sp>
      <p:sp>
        <p:nvSpPr>
          <p:cNvPr id="8" name="official-links">
            <a:extLst xmlns:a="http://schemas.openxmlformats.org/drawingml/2006/main">
              <a:ext uri="{FF2B5EF4-FFF2-40B4-BE49-F238E27FC236}">
                <a16:creationId xmlns:a16="http://schemas.microsoft.com/office/drawing/2014/main" id="{D5FAF1F0-E4B3-4C51-8CD4-C68101D3D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05375"/>
            <a:ext cx="4476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EA6C0"/>
            </a:solidFill>
            <a:prstDash val="solid"/>
          </a:ln>
        </p:spPr>
        <p:txBody>
          <a:bodyPr xmlns:a="http://schemas.openxmlformats.org/drawingml/2006/main" lIns="171450" tIns="95250" rIns="171450" bIns="95250" anchor="ctr"/>
          <a:lstStyle xmlns:a="http://schemas.openxmlformats.org/drawingml/2006/main"/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207a7f53dfd74c23"/>
              </a:rPr>
              <a:t>AWS 콘솔 열기</a:t>
            </a:r>
          </a:p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5c0d0437daca4199"/>
              </a:rPr>
              <a:t>AWS 공식 문서</a:t>
            </a:r>
          </a:p>
        </p:txBody>
      </p:sp>
      <p:sp>
        <p:nvSpPr>
          <p:cNvPr id="9" name="capture-note">
            <a:extLst xmlns:a="http://schemas.openxmlformats.org/drawingml/2006/main">
              <a:ext uri="{FF2B5EF4-FFF2-40B4-BE49-F238E27FC236}">
                <a16:creationId xmlns:a16="http://schemas.microsoft.com/office/drawing/2014/main" id="{C7F78140-714D-45DD-876C-A09C35FBB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88C"/>
                </a:solidFill>
              </a:defRPr>
            </a:pPr>
            <a:r>
              <a:rPr sz="1275" b="0">
                <a:solidFill>
                  <a:srgbClr val="66788C"/>
                </a:solidFill>
              </a:rPr>
              <a:t>실제 AWS 콘솔 화면 · 서울 리전 · 2026-08-24 · 계정 번호 영역 제외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eab53e3b3f44e3"/>
          <a:stretch xmlns:a="http://schemas.openxmlformats.org/drawingml/2006/main"/>
        </p:blipFill>
        <p:spPr>
          <a:xfrm xmlns:a="http://schemas.openxmlformats.org/drawingml/2006/main">
            <a:off x="571500" y="2032992"/>
            <a:ext cx="5810250" cy="3268266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</p:spTree>
    <p:extLst>
      <p:ext uri="{BB962C8B-B14F-4D97-AF65-F5344CB8AC3E}">
        <p14:creationId xmlns:p14="http://schemas.microsoft.com/office/powerpoint/2010/main" val="18485909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">
            <a:extLst xmlns:a="http://schemas.openxmlformats.org/drawingml/2006/main">
              <a:ext uri="{FF2B5EF4-FFF2-40B4-BE49-F238E27FC236}">
                <a16:creationId xmlns:a16="http://schemas.microsoft.com/office/drawing/2014/main" id="{BF41DF86-0B7B-4757-895A-B3F831764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77722"/>
                </a:solidFill>
              </a:defRPr>
            </a:pPr>
            <a:r>
              <a:rPr sz="1350" b="1">
                <a:solidFill>
                  <a:srgbClr val="E77722"/>
                </a:solidFill>
              </a:rPr>
              <a:t>클라우드 MLOps · 13주차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0BD18A4-3090-4758-90A1-B183EAB83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04850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5263C"/>
                </a:solidFill>
              </a:defRPr>
            </a:pPr>
            <a:r>
              <a:rPr sz="2850" b="1">
                <a:solidFill>
                  <a:srgbClr val="15263C"/>
                </a:solidFill>
              </a:rPr>
              <a:t>실습 화면 20: 정리 후 대시보드 목록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6DF18DC4-4AAD-4567-A43F-5D05146B3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7722"/>
          </a:solidFill>
          <a:ln xmlns:a="http://schemas.openxmlformats.org/drawingml/2006/main" w="0">
            <a:solidFill>
              <a:srgbClr val="E77722"/>
            </a:solidFill>
            <a:prstDash val="solid"/>
          </a:ln>
        </p:spPr>
      </p:sp>
      <p:sp>
        <p:nvSpPr>
          <p:cNvPr id="5" name="path-label">
            <a:extLst xmlns:a="http://schemas.openxmlformats.org/drawingml/2006/main">
              <a:ext uri="{FF2B5EF4-FFF2-40B4-BE49-F238E27FC236}">
                <a16:creationId xmlns:a16="http://schemas.microsoft.com/office/drawing/2014/main" id="{3C647319-E5B8-444A-AF0A-AEF91284E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097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E77722"/>
                </a:solidFill>
              </a:defRPr>
            </a:pPr>
            <a:r>
              <a:rPr sz="1650" b="1">
                <a:solidFill>
                  <a:srgbClr val="E77722"/>
                </a:solidFill>
              </a:rPr>
              <a:t>콘솔 이동 경로</a:t>
            </a:r>
          </a:p>
        </p:txBody>
      </p:sp>
      <p:sp>
        <p:nvSpPr>
          <p:cNvPr id="6" name="console-path">
            <a:extLst xmlns:a="http://schemas.openxmlformats.org/drawingml/2006/main">
              <a:ext uri="{FF2B5EF4-FFF2-40B4-BE49-F238E27FC236}">
                <a16:creationId xmlns:a16="http://schemas.microsoft.com/office/drawing/2014/main" id="{754544F9-3751-4F27-A582-FD868D1B8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90750"/>
            <a:ext cx="447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5263C"/>
                </a:solidFill>
              </a:defRPr>
            </a:pPr>
            <a:r>
              <a:rPr sz="1950" b="1">
                <a:solidFill>
                  <a:srgbClr val="15263C"/>
                </a:solidFill>
              </a:rPr>
              <a:t>CloudWatch → Dashboards</a:t>
            </a:r>
          </a:p>
        </p:txBody>
      </p:sp>
      <p:sp>
        <p:nvSpPr>
          <p:cNvPr id="7" name="screen-check">
            <a:extLst xmlns:a="http://schemas.openxmlformats.org/drawingml/2006/main">
              <a:ext uri="{FF2B5EF4-FFF2-40B4-BE49-F238E27FC236}">
                <a16:creationId xmlns:a16="http://schemas.microsoft.com/office/drawing/2014/main" id="{D16299EC-7C24-4374-B1BC-3C8022939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24200"/>
            <a:ext cx="4476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화면에서 확인할 것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ysu-mlops-week13은 사라지고 ysu-mlops-lab-dashboard만 남았는지 확인한다.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실습 원칙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42566F"/>
                </a:solidFill>
              </a:defRPr>
            </a:pPr>
            <a:r>
              <a:rPr sz="1500" b="0">
                <a:solidFill>
                  <a:srgbClr val="42566F"/>
                </a:solidFill>
              </a:rPr>
              <a:t>• 메뉴 이름과 리소스 상태를 기준으로 찾습니다.</a:t>
            </a:r>
          </a:p>
        </p:txBody>
      </p:sp>
      <p:sp>
        <p:nvSpPr>
          <p:cNvPr id="8" name="official-links">
            <a:extLst xmlns:a="http://schemas.openxmlformats.org/drawingml/2006/main">
              <a:ext uri="{FF2B5EF4-FFF2-40B4-BE49-F238E27FC236}">
                <a16:creationId xmlns:a16="http://schemas.microsoft.com/office/drawing/2014/main" id="{D5FAF1F0-E4B3-4C51-8CD4-C68101D3D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05375"/>
            <a:ext cx="4476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8EA6C0"/>
            </a:solidFill>
            <a:prstDash val="solid"/>
          </a:ln>
        </p:spPr>
        <p:txBody>
          <a:bodyPr xmlns:a="http://schemas.openxmlformats.org/drawingml/2006/main" lIns="171450" tIns="95250" rIns="171450" bIns="95250" anchor="ctr"/>
          <a:lstStyle xmlns:a="http://schemas.openxmlformats.org/drawingml/2006/main"/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12b80c4f5f0c4bec"/>
              </a:rPr>
              <a:t>AWS 콘솔 열기</a:t>
            </a:r>
          </a:p>
          <a:p xmlns:a="http://schemas.openxmlformats.org/drawingml/2006/main">
            <a:r>
              <a:rPr sz="1800" b="1" u="sng">
                <a:solidFill>
                  <a:srgbClr val="1D64B4"/>
                </a:solidFill>
                <a:hlinkClick xmlns:r="http://schemas.openxmlformats.org/officeDocument/2006/relationships" r:id="Rd61dc2258ef84f94"/>
              </a:rPr>
              <a:t>AWS 공식 문서</a:t>
            </a:r>
          </a:p>
        </p:txBody>
      </p:sp>
      <p:sp>
        <p:nvSpPr>
          <p:cNvPr id="9" name="capture-note">
            <a:extLst xmlns:a="http://schemas.openxmlformats.org/drawingml/2006/main">
              <a:ext uri="{FF2B5EF4-FFF2-40B4-BE49-F238E27FC236}">
                <a16:creationId xmlns:a16="http://schemas.microsoft.com/office/drawing/2014/main" id="{C7F78140-714D-45DD-876C-A09C35FBB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53125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88C"/>
                </a:solidFill>
              </a:defRPr>
            </a:pPr>
            <a:r>
              <a:rPr sz="1275" b="0">
                <a:solidFill>
                  <a:srgbClr val="66788C"/>
                </a:solidFill>
              </a:rPr>
              <a:t>실제 AWS 콘솔 화면 · 서울 리전 · 2026-08-24 · 계정 번호 영역 제외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70497d4a744d17"/>
          <a:stretch xmlns:a="http://schemas.openxmlformats.org/drawingml/2006/main"/>
        </p:blipFill>
        <p:spPr>
          <a:xfrm xmlns:a="http://schemas.openxmlformats.org/drawingml/2006/main">
            <a:off x="571500" y="2032992"/>
            <a:ext cx="5810250" cy="3268266"/>
          </a:xfrm>
          <a:prstGeom xmlns:a="http://schemas.openxmlformats.org/drawingml/2006/main" prst="roundRect">
            <a:avLst>
              <a:gd name="adj" fmla="val 2857"/>
            </a:avLst>
          </a:prstGeom>
        </p:spPr>
      </p:pic>
    </p:spTree>
    <p:extLst>
      <p:ext uri="{BB962C8B-B14F-4D97-AF65-F5344CB8AC3E}">
        <p14:creationId xmlns:p14="http://schemas.microsoft.com/office/powerpoint/2010/main" val="18485909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2026-08-24T12:19:35.5680000Z</dcterms:created>
  <dcterms:modified xsi:type="dcterms:W3CDTF">2026-08-24T12:19:35.5680000Z</dcterms:modified>
</coreProperties>
</file>